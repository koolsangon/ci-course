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73"/>
  </p:notesMasterIdLst>
  <p:sldIdLst>
    <p:sldId id="473" r:id="rId2"/>
    <p:sldId id="474" r:id="rId3"/>
    <p:sldId id="450" r:id="rId4"/>
    <p:sldId id="475" r:id="rId5"/>
    <p:sldId id="480" r:id="rId6"/>
    <p:sldId id="478" r:id="rId7"/>
    <p:sldId id="443" r:id="rId8"/>
    <p:sldId id="375" r:id="rId9"/>
    <p:sldId id="466" r:id="rId10"/>
    <p:sldId id="468" r:id="rId11"/>
    <p:sldId id="378" r:id="rId12"/>
    <p:sldId id="467" r:id="rId13"/>
    <p:sldId id="481" r:id="rId14"/>
    <p:sldId id="482" r:id="rId15"/>
    <p:sldId id="483" r:id="rId16"/>
    <p:sldId id="300" r:id="rId17"/>
    <p:sldId id="273" r:id="rId18"/>
    <p:sldId id="275" r:id="rId19"/>
    <p:sldId id="438" r:id="rId20"/>
    <p:sldId id="348" r:id="rId21"/>
    <p:sldId id="349" r:id="rId22"/>
    <p:sldId id="352" r:id="rId23"/>
    <p:sldId id="301" r:id="rId24"/>
    <p:sldId id="344" r:id="rId25"/>
    <p:sldId id="350" r:id="rId26"/>
    <p:sldId id="355" r:id="rId27"/>
    <p:sldId id="353" r:id="rId28"/>
    <p:sldId id="435" r:id="rId29"/>
    <p:sldId id="436" r:id="rId30"/>
    <p:sldId id="488" r:id="rId31"/>
    <p:sldId id="489" r:id="rId32"/>
    <p:sldId id="444" r:id="rId33"/>
    <p:sldId id="413" r:id="rId34"/>
    <p:sldId id="356" r:id="rId35"/>
    <p:sldId id="359" r:id="rId36"/>
    <p:sldId id="360" r:id="rId37"/>
    <p:sldId id="351" r:id="rId38"/>
    <p:sldId id="491" r:id="rId39"/>
    <p:sldId id="492" r:id="rId40"/>
    <p:sldId id="486" r:id="rId41"/>
    <p:sldId id="354" r:id="rId42"/>
    <p:sldId id="358" r:id="rId43"/>
    <p:sldId id="449" r:id="rId44"/>
    <p:sldId id="418" r:id="rId45"/>
    <p:sldId id="419" r:id="rId46"/>
    <p:sldId id="454" r:id="rId47"/>
    <p:sldId id="434" r:id="rId48"/>
    <p:sldId id="437" r:id="rId49"/>
    <p:sldId id="487" r:id="rId50"/>
    <p:sldId id="430" r:id="rId51"/>
    <p:sldId id="461" r:id="rId52"/>
    <p:sldId id="416" r:id="rId53"/>
    <p:sldId id="417" r:id="rId54"/>
    <p:sldId id="490" r:id="rId55"/>
    <p:sldId id="420" r:id="rId56"/>
    <p:sldId id="410" r:id="rId57"/>
    <p:sldId id="411" r:id="rId58"/>
    <p:sldId id="412" r:id="rId59"/>
    <p:sldId id="373" r:id="rId60"/>
    <p:sldId id="377" r:id="rId61"/>
    <p:sldId id="432" r:id="rId62"/>
    <p:sldId id="431" r:id="rId63"/>
    <p:sldId id="429" r:id="rId64"/>
    <p:sldId id="463" r:id="rId65"/>
    <p:sldId id="445" r:id="rId66"/>
    <p:sldId id="446" r:id="rId67"/>
    <p:sldId id="447" r:id="rId68"/>
    <p:sldId id="448" r:id="rId69"/>
    <p:sldId id="484" r:id="rId70"/>
    <p:sldId id="471" r:id="rId71"/>
    <p:sldId id="485" r:id="rId7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개념 및 추진Frame" id="{76DEB16B-FC7A-4CE7-8584-860EB55E1D5A}">
          <p14:sldIdLst>
            <p14:sldId id="473"/>
            <p14:sldId id="474"/>
            <p14:sldId id="450"/>
            <p14:sldId id="475"/>
          </p14:sldIdLst>
        </p14:section>
        <p14:section name="AX 교육체계" id="{B9217AB9-A9D6-4CE3-80C5-E8F0AD0B0749}">
          <p14:sldIdLst>
            <p14:sldId id="480"/>
            <p14:sldId id="478"/>
            <p14:sldId id="443"/>
          </p14:sldIdLst>
        </p14:section>
        <p14:section name="AX 인증" id="{4A8D7D08-4865-4085-A6A7-6D46AF5E9BE6}">
          <p14:sldIdLst>
            <p14:sldId id="375"/>
            <p14:sldId id="466"/>
            <p14:sldId id="468"/>
            <p14:sldId id="378"/>
            <p14:sldId id="467"/>
            <p14:sldId id="481"/>
            <p14:sldId id="482"/>
            <p14:sldId id="483"/>
          </p14:sldIdLst>
        </p14:section>
        <p14:section name="생성형 AI 활용" id="{128978E7-E28E-47A5-B9AE-707A3329EE2D}">
          <p14:sldIdLst>
            <p14:sldId id="300"/>
            <p14:sldId id="273"/>
            <p14:sldId id="275"/>
            <p14:sldId id="438"/>
            <p14:sldId id="348"/>
            <p14:sldId id="349"/>
            <p14:sldId id="352"/>
            <p14:sldId id="301"/>
            <p14:sldId id="344"/>
            <p14:sldId id="350"/>
            <p14:sldId id="355"/>
          </p14:sldIdLst>
        </p14:section>
        <p14:section name="데이터분석/AI 실무" id="{9C277E82-8F08-451D-9DF7-290316CBF346}">
          <p14:sldIdLst>
            <p14:sldId id="353"/>
            <p14:sldId id="435"/>
            <p14:sldId id="436"/>
            <p14:sldId id="488"/>
            <p14:sldId id="489"/>
            <p14:sldId id="444"/>
            <p14:sldId id="413"/>
            <p14:sldId id="356"/>
            <p14:sldId id="359"/>
            <p14:sldId id="360"/>
            <p14:sldId id="351"/>
            <p14:sldId id="491"/>
          </p14:sldIdLst>
        </p14:section>
        <p14:section name="AI 실무 활용" id="{B60EC4B3-9D34-4192-A9FB-702733E29AAD}">
          <p14:sldIdLst>
            <p14:sldId id="492"/>
            <p14:sldId id="486"/>
            <p14:sldId id="354"/>
            <p14:sldId id="358"/>
            <p14:sldId id="449"/>
            <p14:sldId id="418"/>
            <p14:sldId id="419"/>
            <p14:sldId id="454"/>
            <p14:sldId id="434"/>
            <p14:sldId id="437"/>
            <p14:sldId id="487"/>
            <p14:sldId id="430"/>
            <p14:sldId id="461"/>
            <p14:sldId id="416"/>
            <p14:sldId id="417"/>
            <p14:sldId id="490"/>
            <p14:sldId id="420"/>
            <p14:sldId id="410"/>
            <p14:sldId id="411"/>
            <p14:sldId id="412"/>
          </p14:sldIdLst>
        </p14:section>
        <p14:section name="AX 일반" id="{02216F2A-D6F0-40DE-8776-E4A4115D9E00}">
          <p14:sldIdLst>
            <p14:sldId id="373"/>
            <p14:sldId id="377"/>
            <p14:sldId id="432"/>
            <p14:sldId id="431"/>
            <p14:sldId id="429"/>
            <p14:sldId id="463"/>
          </p14:sldIdLst>
        </p14:section>
        <p14:section name="참고" id="{A49D5EEE-26E5-43AA-9C08-1F6EB9BAFC61}">
          <p14:sldIdLst>
            <p14:sldId id="445"/>
            <p14:sldId id="446"/>
            <p14:sldId id="447"/>
            <p14:sldId id="448"/>
            <p14:sldId id="484"/>
            <p14:sldId id="471"/>
            <p14:sldId id="4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FA6E7"/>
    <a:srgbClr val="008000"/>
    <a:srgbClr val="5B9BD5"/>
    <a:srgbClr val="0000FF"/>
    <a:srgbClr val="E9CAAB"/>
    <a:srgbClr val="DDAE7F"/>
    <a:srgbClr val="B7D2E7"/>
    <a:srgbClr val="F3F1ED"/>
    <a:srgbClr val="EEE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58" autoAdjust="0"/>
    <p:restoredTop sz="96115" autoAdjust="0"/>
  </p:normalViewPr>
  <p:slideViewPr>
    <p:cSldViewPr snapToGrid="0">
      <p:cViewPr varScale="1">
        <p:scale>
          <a:sx n="125" d="100"/>
          <a:sy n="125" d="100"/>
        </p:scale>
        <p:origin x="768" y="90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2" d="100"/>
        <a:sy n="152" d="100"/>
      </p:scale>
      <p:origin x="0" y="-58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38742-D4E3-4A81-B486-1F9216F9D2C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802FF-44C3-4855-8A7E-A5394E3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504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457516-C772-4622-997C-4381B3E5F15A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333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457516-C772-4622-997C-4381B3E5F15A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75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457516-C772-4622-997C-4381B3E5F15A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379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457516-C772-4622-997C-4381B3E5F15A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421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1) LETO : </a:t>
            </a:r>
            <a:r>
              <a:rPr lang="en-US" altLang="ko-KR" sz="1100" dirty="0">
                <a:solidFill>
                  <a:srgbClr val="C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Le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arning </a:t>
            </a:r>
            <a:r>
              <a:rPr lang="en-US" altLang="ko-KR" sz="1100" dirty="0">
                <a:solidFill>
                  <a:srgbClr val="C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To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gether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의 약자로 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Smart HRD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에서 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LETO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명으로 검색 가능하며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관련 주제에 대한 강의 컨텐츠를 별도의 수강신청없이 자율적으로 학습할 수 있는 온라인 </a:t>
            </a:r>
            <a:r>
              <a:rPr lang="ko-KR" altLang="en-US" sz="11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학습방임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sz="11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인화원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1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Qrius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자사 </a:t>
            </a:r>
            <a:r>
              <a:rPr lang="ko-KR" altLang="en-US" sz="11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디튜브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사외 무료 이러닝 강의 영상 등을 링크하여 제공함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(AX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관련 총 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500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여개 학습 컨텐츠 등록됨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endParaRPr lang="ko-KR" altLang="en-US" sz="11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457516-C772-4622-997C-4381B3E5F15A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458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80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4"/>
            <a:ext cx="9906000" cy="685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3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0"/>
          <p:cNvSpPr>
            <a:spLocks noGrp="1"/>
          </p:cNvSpPr>
          <p:nvPr>
            <p:ph type="title"/>
          </p:nvPr>
        </p:nvSpPr>
        <p:spPr bwMode="auto">
          <a:xfrm>
            <a:off x="200340" y="116540"/>
            <a:ext cx="518472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344501" y="908650"/>
            <a:ext cx="9217025" cy="5040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ko-KR" altLang="en-US" sz="1800" b="0" baseline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마스터 부제목 스타일 편집</a:t>
            </a:r>
          </a:p>
        </p:txBody>
      </p:sp>
      <p:sp>
        <p:nvSpPr>
          <p:cNvPr id="10" name="텍스트 개체 틀 1"/>
          <p:cNvSpPr>
            <a:spLocks noGrp="1"/>
          </p:cNvSpPr>
          <p:nvPr>
            <p:ph idx="17"/>
          </p:nvPr>
        </p:nvSpPr>
        <p:spPr>
          <a:xfrm>
            <a:off x="342000" y="1484730"/>
            <a:ext cx="9216000" cy="496869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  <a:lvl2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2pPr>
            <a:lvl3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3pPr>
            <a:lvl4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4pPr>
            <a:lvl5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6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302" y="6568560"/>
            <a:ext cx="1047750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직선 연결선 10"/>
          <p:cNvCxnSpPr/>
          <p:nvPr userDrawn="1"/>
        </p:nvCxnSpPr>
        <p:spPr>
          <a:xfrm>
            <a:off x="0" y="620610"/>
            <a:ext cx="990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Users\ample_10\Desktop\img_vision_maintex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901" y="125292"/>
            <a:ext cx="1010770" cy="38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19"/>
          <p:cNvSpPr txBox="1">
            <a:spLocks noChangeArrowheads="1"/>
          </p:cNvSpPr>
          <p:nvPr userDrawn="1"/>
        </p:nvSpPr>
        <p:spPr bwMode="auto">
          <a:xfrm>
            <a:off x="64946" y="6640570"/>
            <a:ext cx="1967971" cy="160310"/>
          </a:xfrm>
          <a:prstGeom prst="rect">
            <a:avLst/>
          </a:prstGeom>
          <a:noFill/>
          <a:ln>
            <a:noFill/>
          </a:ln>
        </p:spPr>
        <p:txBody>
          <a:bodyPr wrap="none" lIns="18000" tIns="10800" rIns="18000" bIns="10800" anchor="ctr" anchorCtr="1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CONFIDENTIAL ⓒ LG Display Co., Ltd. 2021</a:t>
            </a:r>
          </a:p>
        </p:txBody>
      </p:sp>
    </p:spTree>
    <p:extLst>
      <p:ext uri="{BB962C8B-B14F-4D97-AF65-F5344CB8AC3E}">
        <p14:creationId xmlns:p14="http://schemas.microsoft.com/office/powerpoint/2010/main" val="28527158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" name="직선 연결선 7">
            <a:extLst>
              <a:ext uri="{FF2B5EF4-FFF2-40B4-BE49-F238E27FC236}">
                <a16:creationId xmlns:a16="http://schemas.microsoft.com/office/drawing/2014/main" id="{20E4F6EE-77BD-4877-BE4F-6190B51EB952}"/>
              </a:ext>
            </a:extLst>
          </p:cNvPr>
          <p:cNvSpPr/>
          <p:nvPr userDrawn="1"/>
        </p:nvSpPr>
        <p:spPr>
          <a:xfrm>
            <a:off x="217592" y="6651277"/>
            <a:ext cx="947081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AF9E7F1D-92D7-4F46-ABDC-B76518D86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6734" y="146400"/>
            <a:ext cx="9491674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/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10FB24BC-96A2-4DFF-8FD5-4958B2BD1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564262"/>
            <a:ext cx="9491674" cy="3508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 </a:t>
            </a:r>
            <a:r>
              <a:rPr lang="en-US" altLang="ko-KR" dirty="0"/>
              <a:t>/ Headline</a:t>
            </a:r>
          </a:p>
        </p:txBody>
      </p:sp>
      <p:pic>
        <p:nvPicPr>
          <p:cNvPr id="8" name="Picture 2" descr="C:\Users\ample_10\Desktop\img_vision_maintex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954" y="108717"/>
            <a:ext cx="922566" cy="35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29353CF3-5155-4B2B-B0B9-C6D19659D505}"/>
              </a:ext>
            </a:extLst>
          </p:cNvPr>
          <p:cNvSpPr txBox="1"/>
          <p:nvPr userDrawn="1"/>
        </p:nvSpPr>
        <p:spPr>
          <a:xfrm>
            <a:off x="4445494" y="6702379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LG Smart_H2.0 B"/>
                <a:sym typeface="LG Smart_H2.0 B"/>
              </a:rPr>
              <a:t>CONFIDENTIAL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</p:spTree>
    <p:extLst>
      <p:ext uri="{BB962C8B-B14F-4D97-AF65-F5344CB8AC3E}">
        <p14:creationId xmlns:p14="http://schemas.microsoft.com/office/powerpoint/2010/main" val="381709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81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  <p:sldLayoutId id="2147483686" r:id="rId3"/>
    <p:sldLayoutId id="2147483687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edms.lgdisplay.com:8080/Servlet/ContentViewCmd.document?object_id=ZAE947F08B7BFC74DB94D598130EA4B9417DB3CBCA1CD431A9254F1939C3E79C2&amp;update_log=0&amp;rendition_type=0&amp;url_copy=1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25.xml"/><Relationship Id="rId18" Type="http://schemas.openxmlformats.org/officeDocument/2006/relationships/slide" Target="slide16.xml"/><Relationship Id="rId26" Type="http://schemas.openxmlformats.org/officeDocument/2006/relationships/slide" Target="slide26.xml"/><Relationship Id="rId3" Type="http://schemas.openxmlformats.org/officeDocument/2006/relationships/slide" Target="slide8.xml"/><Relationship Id="rId21" Type="http://schemas.openxmlformats.org/officeDocument/2006/relationships/slide" Target="slide37.xml"/><Relationship Id="rId7" Type="http://schemas.openxmlformats.org/officeDocument/2006/relationships/slide" Target="slide11.xml"/><Relationship Id="rId12" Type="http://schemas.openxmlformats.org/officeDocument/2006/relationships/slide" Target="slide24.xml"/><Relationship Id="rId17" Type="http://schemas.openxmlformats.org/officeDocument/2006/relationships/slide" Target="slide19.xml"/><Relationship Id="rId25" Type="http://schemas.openxmlformats.org/officeDocument/2006/relationships/slide" Target="slide22.xml"/><Relationship Id="rId2" Type="http://schemas.openxmlformats.org/officeDocument/2006/relationships/notesSlide" Target="../notesSlides/notesSlide4.xml"/><Relationship Id="rId16" Type="http://schemas.openxmlformats.org/officeDocument/2006/relationships/slide" Target="slide18.xml"/><Relationship Id="rId20" Type="http://schemas.openxmlformats.org/officeDocument/2006/relationships/slide" Target="slide34.xml"/><Relationship Id="rId29" Type="http://schemas.openxmlformats.org/officeDocument/2006/relationships/slide" Target="slide29.xml"/><Relationship Id="rId1" Type="http://schemas.openxmlformats.org/officeDocument/2006/relationships/slideLayout" Target="../slideLayouts/slideLayout3.xml"/><Relationship Id="rId6" Type="http://schemas.openxmlformats.org/officeDocument/2006/relationships/slide" Target="slide9.xml"/><Relationship Id="rId11" Type="http://schemas.openxmlformats.org/officeDocument/2006/relationships/slide" Target="slide23.xml"/><Relationship Id="rId24" Type="http://schemas.openxmlformats.org/officeDocument/2006/relationships/slide" Target="slide27.xml"/><Relationship Id="rId32" Type="http://schemas.openxmlformats.org/officeDocument/2006/relationships/slide" Target="slide30.xml"/><Relationship Id="rId5" Type="http://schemas.openxmlformats.org/officeDocument/2006/relationships/slide" Target="slide14.xml"/><Relationship Id="rId15" Type="http://schemas.openxmlformats.org/officeDocument/2006/relationships/slide" Target="slide17.xml"/><Relationship Id="rId23" Type="http://schemas.openxmlformats.org/officeDocument/2006/relationships/slide" Target="slide36.xml"/><Relationship Id="rId28" Type="http://schemas.openxmlformats.org/officeDocument/2006/relationships/slide" Target="slide28.xml"/><Relationship Id="rId10" Type="http://schemas.openxmlformats.org/officeDocument/2006/relationships/slide" Target="slide15.xml"/><Relationship Id="rId19" Type="http://schemas.openxmlformats.org/officeDocument/2006/relationships/slide" Target="slide21.xml"/><Relationship Id="rId31" Type="http://schemas.openxmlformats.org/officeDocument/2006/relationships/slide" Target="slide31.xml"/><Relationship Id="rId4" Type="http://schemas.openxmlformats.org/officeDocument/2006/relationships/slide" Target="slide10.xml"/><Relationship Id="rId9" Type="http://schemas.openxmlformats.org/officeDocument/2006/relationships/slide" Target="slide13.xml"/><Relationship Id="rId14" Type="http://schemas.openxmlformats.org/officeDocument/2006/relationships/slide" Target="slide20.xml"/><Relationship Id="rId22" Type="http://schemas.openxmlformats.org/officeDocument/2006/relationships/slide" Target="slide35.xml"/><Relationship Id="rId27" Type="http://schemas.openxmlformats.org/officeDocument/2006/relationships/slide" Target="slide32.xml"/><Relationship Id="rId30" Type="http://schemas.openxmlformats.org/officeDocument/2006/relationships/slide" Target="slide3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5.xml"/><Relationship Id="rId18" Type="http://schemas.openxmlformats.org/officeDocument/2006/relationships/slide" Target="slide62.xml"/><Relationship Id="rId26" Type="http://schemas.openxmlformats.org/officeDocument/2006/relationships/slide" Target="slide39.xml"/><Relationship Id="rId3" Type="http://schemas.openxmlformats.org/officeDocument/2006/relationships/slide" Target="slide44.xml"/><Relationship Id="rId21" Type="http://schemas.openxmlformats.org/officeDocument/2006/relationships/slide" Target="slide42.xml"/><Relationship Id="rId7" Type="http://schemas.openxmlformats.org/officeDocument/2006/relationships/slide" Target="slide43.xml"/><Relationship Id="rId12" Type="http://schemas.openxmlformats.org/officeDocument/2006/relationships/slide" Target="slide51.xml"/><Relationship Id="rId17" Type="http://schemas.openxmlformats.org/officeDocument/2006/relationships/slide" Target="slide63.xml"/><Relationship Id="rId25" Type="http://schemas.openxmlformats.org/officeDocument/2006/relationships/slide" Target="slide54.xml"/><Relationship Id="rId2" Type="http://schemas.openxmlformats.org/officeDocument/2006/relationships/notesSlide" Target="../notesSlides/notesSlide5.xml"/><Relationship Id="rId16" Type="http://schemas.openxmlformats.org/officeDocument/2006/relationships/slide" Target="slide60.xml"/><Relationship Id="rId20" Type="http://schemas.openxmlformats.org/officeDocument/2006/relationships/slide" Target="slide4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8.xml"/><Relationship Id="rId11" Type="http://schemas.openxmlformats.org/officeDocument/2006/relationships/slide" Target="slide50.xml"/><Relationship Id="rId24" Type="http://schemas.openxmlformats.org/officeDocument/2006/relationships/slide" Target="slide49.xml"/><Relationship Id="rId5" Type="http://schemas.openxmlformats.org/officeDocument/2006/relationships/slide" Target="slide52.xml"/><Relationship Id="rId15" Type="http://schemas.openxmlformats.org/officeDocument/2006/relationships/slide" Target="slide59.xml"/><Relationship Id="rId23" Type="http://schemas.openxmlformats.org/officeDocument/2006/relationships/slide" Target="slide53.xml"/><Relationship Id="rId10" Type="http://schemas.openxmlformats.org/officeDocument/2006/relationships/slide" Target="slide58.xml"/><Relationship Id="rId19" Type="http://schemas.openxmlformats.org/officeDocument/2006/relationships/slide" Target="slide61.xml"/><Relationship Id="rId4" Type="http://schemas.openxmlformats.org/officeDocument/2006/relationships/slide" Target="slide45.xml"/><Relationship Id="rId9" Type="http://schemas.openxmlformats.org/officeDocument/2006/relationships/slide" Target="slide57.xml"/><Relationship Id="rId14" Type="http://schemas.openxmlformats.org/officeDocument/2006/relationships/slide" Target="slide56.xml"/><Relationship Id="rId22" Type="http://schemas.openxmlformats.org/officeDocument/2006/relationships/slide" Target="slide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\\nclouddnas.lgdisplay.com\userdata\behappy\00.&#51204;&#47928;&#44368;&#50977;&#54016;\05.DX&#44368;&#50977;\&#50629;&#47924;%20&#51064;&#49688;&#51064;&#44228;%20(22&#45380;~)\&#51064;&#54868;&#50896;%20Qrius%20LETO&#44396;&#49457;\&#50976;&#52392;3.%20&#49324;&#50808;%20MOOC%20&#47924;&#47308;%20&#51060;&#47084;&#45789;%20&#49464;&#48512;&#45236;&#50857;_LETO_240304.xlsx" TargetMode="External"/><Relationship Id="rId2" Type="http://schemas.openxmlformats.org/officeDocument/2006/relationships/hyperlink" Target="https://e-koreatech.step.or.kr/lgdisplay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file:///\\nclouddnas.lgdisplay.com\userdata\behappy\00.&#51204;&#47928;&#44368;&#50977;&#54016;\11.&#49324;&#50808;&#50948;&#53441;%20&#44368;&#50977;\&#50808;&#48512;&#51060;&#47084;&#45789;%20&#51648;&#50896;%20(&#54620;&#44397;&#44592;&#49696;&#44368;&#50977;&#45824;&#54617;&#44368;)\&#50976;&#52392;2.%20&#54620;&#44397;&#44592;&#49696;&#44368;&#50977;&#45824;&#54617;_DX%20&#44284;&#51221;%20&#49464;&#48512;&#45236;&#50857;%20(220&#44060;)_v0.2.xlsx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9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0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0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1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e-koreatech.step.or.kr/lgdisplay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kmooc.or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slide" Target="slide65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mooc.kr/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slide" Target="slide6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mooc.kr/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slide" Target="slide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5" Type="http://schemas.openxmlformats.org/officeDocument/2006/relationships/hyperlink" Target="https://e-koreatech.step.or.kr/lgdisplay/" TargetMode="Externa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slide" Target="slide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5" Type="http://schemas.openxmlformats.org/officeDocument/2006/relationships/hyperlink" Target="https://e-koreatech.step.or.kr/lgdisplay/" TargetMode="External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lets.lgdisplay.com:8086/portal/main/listUserMain.do?&amp;targetUserId=behappy&amp;rightFrameUrl=/support/profile/getProfile.do?targetUserId=behapp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koreatech.step.or.kr/lgdisplay/" TargetMode="Externa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3" Type="http://schemas.openxmlformats.org/officeDocument/2006/relationships/image" Target="../media/image24.wmf"/><Relationship Id="rId7" Type="http://schemas.openxmlformats.org/officeDocument/2006/relationships/slide" Target="slide32.xml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4.xml"/><Relationship Id="rId6" Type="http://schemas.openxmlformats.org/officeDocument/2006/relationships/slide" Target="slide67.xml"/><Relationship Id="rId5" Type="http://schemas.openxmlformats.org/officeDocument/2006/relationships/slide" Target="slide66.xml"/><Relationship Id="rId4" Type="http://schemas.openxmlformats.org/officeDocument/2006/relationships/image" Target="../media/image25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" Target="slide65.xml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slide" Target="slide6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slide" Target="slide65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제목 4"/>
          <p:cNvSpPr txBox="1">
            <a:spLocks/>
          </p:cNvSpPr>
          <p:nvPr/>
        </p:nvSpPr>
        <p:spPr bwMode="auto">
          <a:xfrm>
            <a:off x="57150" y="104583"/>
            <a:ext cx="28726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2000" b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2pPr>
            <a:lvl3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3pPr>
            <a:lvl4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4pPr>
            <a:lvl5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9pPr>
          </a:lstStyle>
          <a:p>
            <a:pPr>
              <a:defRPr/>
            </a:pPr>
            <a:r>
              <a:rPr lang="en-US" altLang="ko-KR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AX</a:t>
            </a:r>
            <a:r>
              <a:rPr lang="ko-KR" altLang="en-US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와 </a:t>
            </a:r>
            <a:r>
              <a:rPr lang="en-US" altLang="ko-KR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DX </a:t>
            </a:r>
            <a:r>
              <a:rPr lang="ko-KR" altLang="en-US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개념 재정립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08980" y="6651578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1/4</a:t>
            </a:r>
            <a:endParaRPr kumimoji="1" lang="ko-KR" altLang="en-US" sz="100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88D007-D5F7-A60E-4EB1-CB81669D7B0C}"/>
              </a:ext>
            </a:extLst>
          </p:cNvPr>
          <p:cNvSpPr txBox="1"/>
          <p:nvPr/>
        </p:nvSpPr>
        <p:spPr>
          <a:xfrm>
            <a:off x="7300463" y="377655"/>
            <a:ext cx="1388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hangingPunct="0"/>
            <a:r>
              <a:rPr lang="ko-KR" altLang="en-US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출처 </a:t>
            </a:r>
            <a:r>
              <a:rPr lang="en-US" altLang="ko-KR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㈜ </a:t>
            </a:r>
            <a:r>
              <a:rPr lang="en-US" altLang="ko-KR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LG</a:t>
            </a:r>
            <a:r>
              <a:rPr lang="ko-KR" altLang="en-US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CDO </a:t>
            </a:r>
            <a:r>
              <a:rPr lang="ko-KR" altLang="en-US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협의회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43EB22C-FD77-C947-1D12-41C95BA35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78" y="886344"/>
            <a:ext cx="8876545" cy="547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59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제목 4">
            <a:extLst>
              <a:ext uri="{FF2B5EF4-FFF2-40B4-BE49-F238E27FC236}">
                <a16:creationId xmlns:a16="http://schemas.microsoft.com/office/drawing/2014/main" id="{0F533852-DCAB-0845-B6F4-8D87438CD262}"/>
              </a:ext>
            </a:extLst>
          </p:cNvPr>
          <p:cNvSpPr txBox="1">
            <a:spLocks/>
          </p:cNvSpPr>
          <p:nvPr/>
        </p:nvSpPr>
        <p:spPr bwMode="auto">
          <a:xfrm>
            <a:off x="57150" y="104583"/>
            <a:ext cx="28726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2000" b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2pPr>
            <a:lvl3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3pPr>
            <a:lvl4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4pPr>
            <a:lvl5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9pPr>
          </a:lstStyle>
          <a:p>
            <a:pPr>
              <a:defRPr/>
            </a:pPr>
            <a:r>
              <a:rPr lang="en-US" altLang="ko-KR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[</a:t>
            </a:r>
            <a:r>
              <a:rPr lang="ko-KR" altLang="en-US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참고</a:t>
            </a:r>
            <a:r>
              <a:rPr lang="en-US" altLang="ko-KR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] LG</a:t>
            </a:r>
            <a:r>
              <a:rPr lang="ko-KR" altLang="en-US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그룹 </a:t>
            </a:r>
            <a:r>
              <a:rPr lang="en-US" altLang="ko-KR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AX </a:t>
            </a:r>
            <a:r>
              <a:rPr lang="ko-KR" altLang="en-US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추진 지향점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8082DF9-A3E0-DE0A-9D3B-177446F8874B}"/>
              </a:ext>
            </a:extLst>
          </p:cNvPr>
          <p:cNvSpPr txBox="1"/>
          <p:nvPr/>
        </p:nvSpPr>
        <p:spPr>
          <a:xfrm>
            <a:off x="7300463" y="377655"/>
            <a:ext cx="1388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hangingPunct="0"/>
            <a:r>
              <a:rPr lang="ko-KR" altLang="en-US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출처 </a:t>
            </a:r>
            <a:r>
              <a:rPr lang="en-US" altLang="ko-KR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㈜ </a:t>
            </a:r>
            <a:r>
              <a:rPr lang="en-US" altLang="ko-KR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LG</a:t>
            </a:r>
            <a:r>
              <a:rPr lang="ko-KR" altLang="en-US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CDO </a:t>
            </a:r>
            <a:r>
              <a:rPr lang="ko-KR" altLang="en-US" sz="1000" spc="-100" dirty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협의회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E19DA52-E766-651D-94CB-B472FB9773CD}"/>
              </a:ext>
            </a:extLst>
          </p:cNvPr>
          <p:cNvSpPr txBox="1"/>
          <p:nvPr/>
        </p:nvSpPr>
        <p:spPr>
          <a:xfrm>
            <a:off x="4808980" y="6651578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2/4</a:t>
            </a:r>
            <a:endParaRPr kumimoji="1" lang="ko-KR" altLang="en-US" sz="100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0F2328C6-CA00-591D-197D-DD90A46A0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66" y="820914"/>
            <a:ext cx="9384533" cy="54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78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제목 4"/>
          <p:cNvSpPr txBox="1">
            <a:spLocks/>
          </p:cNvSpPr>
          <p:nvPr/>
        </p:nvSpPr>
        <p:spPr bwMode="auto">
          <a:xfrm>
            <a:off x="57149" y="95252"/>
            <a:ext cx="368707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2000" b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2pPr>
            <a:lvl3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3pPr>
            <a:lvl4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4pPr>
            <a:lvl5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9pPr>
          </a:lstStyle>
          <a:p>
            <a:pPr>
              <a:defRPr/>
            </a:pPr>
            <a:r>
              <a:rPr lang="en-US" altLang="ko-KR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[</a:t>
            </a:r>
            <a:r>
              <a:rPr lang="ko-KR" altLang="en-US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참고</a:t>
            </a:r>
            <a:r>
              <a:rPr lang="en-US" altLang="ko-KR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] Digital Transformation (DX) </a:t>
            </a:r>
            <a:r>
              <a:rPr lang="ko-KR" altLang="en-US" kern="0" spc="-15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개념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08980" y="6651578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3/4</a:t>
            </a:r>
            <a:endParaRPr kumimoji="1" lang="ko-KR" altLang="en-US" sz="100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6" name="TextBox 6"/>
          <p:cNvSpPr txBox="1">
            <a:spLocks noChangeArrowheads="1"/>
          </p:cNvSpPr>
          <p:nvPr/>
        </p:nvSpPr>
        <p:spPr bwMode="auto">
          <a:xfrm>
            <a:off x="1172580" y="1071970"/>
            <a:ext cx="352839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외부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5184576" y="2043207"/>
            <a:ext cx="430492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1) </a:t>
            </a: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변화된 기업환경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에 대한 이해를 바탕으로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2) </a:t>
            </a: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디지털 역량을 적극 활용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하여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3) </a:t>
            </a: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기존의 사업방식과 체질을 획기적으로 개선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함으로써</a:t>
            </a: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909666" y="2021435"/>
            <a:ext cx="404333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새로운 비즈니스 모델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제품 및 서비스를 창출하기 위해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디지털 역량을 활용함으로써 고객 및 시장의 파괴적인 변화에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적응하거나 이를 추진하는 지속적인 프로세스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848544" y="1683167"/>
            <a:ext cx="1620180" cy="304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IDC*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848544" y="2835295"/>
            <a:ext cx="1620180" cy="304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IBM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848544" y="3818726"/>
            <a:ext cx="1620180" cy="304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A.T. Kearney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909666" y="3128834"/>
            <a:ext cx="404333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기업이 디지털과 물리적인 요소를 통합하여 비즈니스 모델을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변화시키고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새로운 산업에 새로운 방향을 정립하는 전략</a:t>
            </a:r>
          </a:p>
        </p:txBody>
      </p:sp>
      <p:sp>
        <p:nvSpPr>
          <p:cNvPr id="114" name="직사각형 113"/>
          <p:cNvSpPr/>
          <p:nvPr/>
        </p:nvSpPr>
        <p:spPr>
          <a:xfrm>
            <a:off x="909666" y="4177742"/>
            <a:ext cx="392443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모바일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클라우드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빅데이터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인공지능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사물인터넷 등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디지털 신기술로 촉발되는 경영환경상의 변화 동인에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선제적으로 대응함으로써 현재 비즈니스의 경쟁력을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획기적으로 높이거나 새로운 비즈니스 창출을 추구하는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기업활동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909666" y="1971199"/>
            <a:ext cx="1080000" cy="3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909666" y="3115787"/>
            <a:ext cx="1080000" cy="3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909666" y="4135222"/>
            <a:ext cx="1080000" cy="3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18" name="TextBox 6"/>
          <p:cNvSpPr txBox="1">
            <a:spLocks noChangeArrowheads="1"/>
          </p:cNvSpPr>
          <p:nvPr/>
        </p:nvSpPr>
        <p:spPr bwMode="auto">
          <a:xfrm>
            <a:off x="5220580" y="1071099"/>
            <a:ext cx="352839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sng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LG</a:t>
            </a:r>
            <a:r>
              <a:rPr kumimoji="1" lang="ko-KR" alt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그룹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380492" y="6096851"/>
            <a:ext cx="612068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* IDC (International Data Corporation) : IT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및 통신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컨수머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테크놀로지 부문 세계 최고의 시장 분석 및 컨설팅 기관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4797052" y="4945593"/>
            <a:ext cx="45124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“</a:t>
            </a:r>
            <a:r>
              <a:rPr kumimoji="0" lang="ko-KR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사업의 경쟁력을 높이고</a:t>
            </a:r>
          </a:p>
          <a:p>
            <a:pPr marL="0" marR="0" lvl="0" indent="0" algn="ctr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궁극적으로 고객가치를 극대화하려는 기업활동</a:t>
            </a: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”</a:t>
            </a:r>
            <a:endParaRPr kumimoji="0" lang="ko-KR" altLang="en-US" sz="1600" b="1" i="1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5493060" y="1792050"/>
            <a:ext cx="2340260" cy="299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고객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기술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산업의 변화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5493060" y="2476755"/>
            <a:ext cx="2880320" cy="299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데이터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인공지능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사업모델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5472608" y="3663387"/>
            <a:ext cx="338437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고객을 이해하고 소통하는 방식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우리의 일하는 방식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제품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서비스의 가치를 혁신하는 방식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(Business Model)</a:t>
            </a:r>
          </a:p>
        </p:txBody>
      </p:sp>
      <p:sp>
        <p:nvSpPr>
          <p:cNvPr id="127" name="아래쪽 화살표 126"/>
          <p:cNvSpPr/>
          <p:nvPr/>
        </p:nvSpPr>
        <p:spPr>
          <a:xfrm>
            <a:off x="5910994" y="4383467"/>
            <a:ext cx="2210358" cy="28135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012668" y="4672370"/>
            <a:ext cx="2880320" cy="299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현재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미래 사업</a:t>
            </a:r>
          </a:p>
        </p:txBody>
      </p:sp>
      <p:cxnSp>
        <p:nvCxnSpPr>
          <p:cNvPr id="129" name="직선 연결선 128"/>
          <p:cNvCxnSpPr/>
          <p:nvPr/>
        </p:nvCxnSpPr>
        <p:spPr>
          <a:xfrm>
            <a:off x="380492" y="6060847"/>
            <a:ext cx="169218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89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제목 4"/>
          <p:cNvSpPr txBox="1">
            <a:spLocks/>
          </p:cNvSpPr>
          <p:nvPr/>
        </p:nvSpPr>
        <p:spPr bwMode="auto">
          <a:xfrm>
            <a:off x="57150" y="104583"/>
            <a:ext cx="240613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2000" b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2pPr>
            <a:lvl3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3pPr>
            <a:lvl4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4pPr>
            <a:lvl5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9pPr>
          </a:lstStyle>
          <a:p>
            <a:pPr>
              <a:defRPr/>
            </a:pPr>
            <a:r>
              <a:rPr kumimoji="1" lang="ko-KR" altLang="en-US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 </a:t>
            </a:r>
            <a:r>
              <a:rPr kumimoji="1" lang="en-US" altLang="ko-KR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kumimoji="1" lang="ko-KR" altLang="en-US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수행 역할  정의</a:t>
            </a:r>
            <a:endParaRPr lang="ko-KR" altLang="en-US" kern="0" spc="-15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808980" y="6651578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4/4</a:t>
            </a:r>
            <a:endParaRPr kumimoji="1" lang="ko-KR" altLang="en-US" sz="100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E45F8-2663-3A37-8860-E3D29B67D5C3}"/>
              </a:ext>
            </a:extLst>
          </p:cNvPr>
          <p:cNvSpPr txBox="1"/>
          <p:nvPr/>
        </p:nvSpPr>
        <p:spPr>
          <a:xfrm>
            <a:off x="383381" y="756354"/>
            <a:ext cx="932021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50" b="1"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r>
              <a:rPr lang="ko-KR" altLang="en-US" dirty="0"/>
              <a:t>디지털</a:t>
            </a:r>
            <a:r>
              <a:rPr lang="en-US" altLang="ko-KR" dirty="0"/>
              <a:t>·</a:t>
            </a:r>
            <a:r>
              <a:rPr lang="ko-KR" altLang="en-US" dirty="0"/>
              <a:t>데이터 자산 위에서 </a:t>
            </a:r>
            <a:r>
              <a:rPr lang="en-US" altLang="ko-KR" dirty="0"/>
              <a:t>AI(Generative/Agentic AI)</a:t>
            </a:r>
            <a:r>
              <a:rPr lang="ko-KR" altLang="en-US" dirty="0"/>
              <a:t>를 업무 전반에 적용하여</a:t>
            </a:r>
            <a:r>
              <a:rPr lang="en-US" altLang="ko-KR" dirty="0"/>
              <a:t>, </a:t>
            </a:r>
            <a:r>
              <a:rPr lang="ko-KR" altLang="en-US" dirty="0"/>
              <a:t>업무 효율화</a:t>
            </a:r>
            <a:r>
              <a:rPr lang="en-US" altLang="ko-KR" dirty="0"/>
              <a:t>/</a:t>
            </a:r>
            <a:r>
              <a:rPr lang="ko-KR" altLang="en-US" dirty="0"/>
              <a:t>자동화</a:t>
            </a:r>
            <a:r>
              <a:rPr lang="en-US" altLang="ko-KR" dirty="0"/>
              <a:t>·</a:t>
            </a:r>
            <a:r>
              <a:rPr lang="ko-KR" altLang="en-US" dirty="0"/>
              <a:t>의사결정 고도화</a:t>
            </a:r>
            <a:r>
              <a:rPr lang="en-US" altLang="ko-KR" dirty="0"/>
              <a:t>·</a:t>
            </a:r>
            <a:r>
              <a:rPr lang="ko-KR" altLang="en-US" dirty="0"/>
              <a:t>자율 실행을 구현함으로써 실질적인 업무 혁신과 비즈니스 가치를 창출하는 </a:t>
            </a:r>
            <a:r>
              <a:rPr lang="en-US" altLang="ko-KR" dirty="0"/>
              <a:t>‘</a:t>
            </a:r>
            <a:r>
              <a:rPr lang="ko-KR" altLang="en-US" dirty="0"/>
              <a:t>전사적인 </a:t>
            </a:r>
            <a:r>
              <a:rPr lang="en-US" altLang="ko-KR" dirty="0"/>
              <a:t>AX </a:t>
            </a:r>
            <a:r>
              <a:rPr lang="ko-KR" altLang="en-US" dirty="0"/>
              <a:t>추진</a:t>
            </a:r>
            <a:r>
              <a:rPr lang="en-US" altLang="ko-KR" dirty="0"/>
              <a:t>’</a:t>
            </a:r>
            <a:r>
              <a:rPr lang="ko-KR" altLang="en-US" dirty="0"/>
              <a:t>을 위해</a:t>
            </a:r>
            <a:r>
              <a:rPr lang="en-US" altLang="ko-KR" dirty="0"/>
              <a:t>,</a:t>
            </a:r>
            <a:r>
              <a:rPr lang="ko-KR" altLang="en-US" dirty="0"/>
              <a:t> 조직 내 </a:t>
            </a:r>
            <a:r>
              <a:rPr lang="en-US" altLang="ko-KR" dirty="0"/>
              <a:t>‘AX </a:t>
            </a:r>
            <a:r>
              <a:rPr lang="ko-KR" altLang="en-US" dirty="0"/>
              <a:t>수행 역할</a:t>
            </a:r>
            <a:r>
              <a:rPr lang="en-US" altLang="ko-KR" dirty="0"/>
              <a:t>’</a:t>
            </a:r>
            <a:r>
              <a:rPr lang="ko-KR" altLang="en-US" dirty="0"/>
              <a:t>을 정의하여</a:t>
            </a:r>
            <a:br>
              <a:rPr lang="en-US" altLang="ko-KR" dirty="0"/>
            </a:br>
            <a:r>
              <a:rPr lang="ko-KR" altLang="en-US" dirty="0"/>
              <a:t>개인별 직무에 적합한 </a:t>
            </a:r>
            <a:r>
              <a:rPr lang="en-US" altLang="ko-KR" dirty="0"/>
              <a:t>AX </a:t>
            </a:r>
            <a:r>
              <a:rPr lang="ko-KR" altLang="en-US" dirty="0"/>
              <a:t>수행역할과 육성 필요역량을 확인하여 전사 </a:t>
            </a:r>
            <a:r>
              <a:rPr lang="en-US" altLang="ko-KR" dirty="0"/>
              <a:t>AX </a:t>
            </a:r>
            <a:r>
              <a:rPr lang="ko-KR" altLang="en-US" dirty="0"/>
              <a:t>추진에 적극 참여함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2325358" y="188041"/>
            <a:ext cx="627746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defRPr/>
            </a:pP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 개인별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수행 역할에 따라 필요역량이 무엇인지 확인하기 위한 참고용 자료이며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 공식자료는 아님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kumimoji="0" lang="ko-KR" altLang="en-US" sz="1000" b="0" i="0" u="none" strike="noStrike" kern="1200" cap="none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47BF27-EC51-CE7F-818B-049C6FFD9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65" y="1691906"/>
            <a:ext cx="9001538" cy="4048029"/>
          </a:xfrm>
          <a:prstGeom prst="rect">
            <a:avLst/>
          </a:prstGeom>
        </p:spPr>
      </p:pic>
      <p:sp>
        <p:nvSpPr>
          <p:cNvPr id="4" name="실행 단추: 앞으로 또는 다음 59">
            <a:hlinkClick r:id="rId4" highlightClick="1"/>
            <a:extLst>
              <a:ext uri="{FF2B5EF4-FFF2-40B4-BE49-F238E27FC236}">
                <a16:creationId xmlns:a16="http://schemas.microsoft.com/office/drawing/2014/main" id="{64E69DB7-4DFA-CCE0-8ACE-7141A568307A}"/>
              </a:ext>
            </a:extLst>
          </p:cNvPr>
          <p:cNvSpPr/>
          <p:nvPr/>
        </p:nvSpPr>
        <p:spPr>
          <a:xfrm>
            <a:off x="8658949" y="1775365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65A3AD-3FF1-1ECB-FAEF-84BB88BC6EC8}"/>
              </a:ext>
            </a:extLst>
          </p:cNvPr>
          <p:cNvSpPr/>
          <p:nvPr/>
        </p:nvSpPr>
        <p:spPr>
          <a:xfrm>
            <a:off x="8714689" y="1682575"/>
            <a:ext cx="1259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defRPr/>
            </a:pP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일반 구성원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필요역량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defTabSz="914400" latinLnBrk="1">
              <a:defRPr/>
            </a:pPr>
            <a:r>
              <a:rPr kumimoji="0" lang="ko-KR" altLang="en-US" sz="800" b="0" i="0" u="none" strike="noStrike" kern="1200" cap="none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상세 가이드</a:t>
            </a:r>
          </a:p>
        </p:txBody>
      </p:sp>
    </p:spTree>
    <p:extLst>
      <p:ext uri="{BB962C8B-B14F-4D97-AF65-F5344CB8AC3E}">
        <p14:creationId xmlns:p14="http://schemas.microsoft.com/office/powerpoint/2010/main" val="755347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제목 4"/>
          <p:cNvSpPr txBox="1">
            <a:spLocks/>
          </p:cNvSpPr>
          <p:nvPr/>
        </p:nvSpPr>
        <p:spPr bwMode="auto">
          <a:xfrm>
            <a:off x="57150" y="95252"/>
            <a:ext cx="442779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2000" b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2pPr>
            <a:lvl3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3pPr>
            <a:lvl4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4pPr>
            <a:lvl5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9pPr>
          </a:lstStyle>
          <a:p>
            <a:pPr>
              <a:defRPr/>
            </a:pPr>
            <a:r>
              <a:rPr lang="en-US" altLang="ko-KR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’25</a:t>
            </a:r>
            <a:r>
              <a:rPr lang="ko-KR" altLang="en-US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년 </a:t>
            </a:r>
            <a:r>
              <a:rPr lang="en-US" altLang="ko-KR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AX </a:t>
            </a:r>
            <a:r>
              <a:rPr lang="ko-KR" altLang="en-US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교육 체계 </a:t>
            </a:r>
            <a:r>
              <a:rPr lang="en-US" altLang="ko-KR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(1/2)</a:t>
            </a:r>
            <a:r>
              <a:rPr lang="ko-KR" altLang="en-US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 </a:t>
            </a:r>
          </a:p>
        </p:txBody>
      </p:sp>
      <p:sp>
        <p:nvSpPr>
          <p:cNvPr id="142" name="모서리가 둥근 직사각형 141">
            <a:hlinkClick r:id="" action="ppaction://noaction"/>
          </p:cNvPr>
          <p:cNvSpPr/>
          <p:nvPr/>
        </p:nvSpPr>
        <p:spPr>
          <a:xfrm>
            <a:off x="5724489" y="335933"/>
            <a:ext cx="792110" cy="204110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’26</a:t>
            </a:r>
            <a:r>
              <a:rPr kumimoji="1" lang="ko-KR" altLang="en-US" sz="100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년 신규</a:t>
            </a:r>
          </a:p>
        </p:txBody>
      </p:sp>
      <p:sp>
        <p:nvSpPr>
          <p:cNvPr id="143" name="모서리가 둥근 직사각형 142">
            <a:hlinkClick r:id="" action="ppaction://noaction"/>
          </p:cNvPr>
          <p:cNvSpPr/>
          <p:nvPr/>
        </p:nvSpPr>
        <p:spPr>
          <a:xfrm>
            <a:off x="4860400" y="335933"/>
            <a:ext cx="792110" cy="204110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*</a:t>
            </a: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1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선발 과정</a:t>
            </a:r>
          </a:p>
        </p:txBody>
      </p:sp>
      <p:sp>
        <p:nvSpPr>
          <p:cNvPr id="144" name="모서리가 둥근 직사각형 143">
            <a:hlinkClick r:id="" action="ppaction://noaction"/>
          </p:cNvPr>
          <p:cNvSpPr/>
          <p:nvPr/>
        </p:nvSpPr>
        <p:spPr>
          <a:xfrm>
            <a:off x="6571605" y="335933"/>
            <a:ext cx="1416059" cy="1984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한국기술교육대학 이러닝</a:t>
            </a:r>
            <a:endParaRPr kumimoji="1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grpSp>
        <p:nvGrpSpPr>
          <p:cNvPr id="89" name="그룹 57"/>
          <p:cNvGrpSpPr>
            <a:grpSpLocks/>
          </p:cNvGrpSpPr>
          <p:nvPr/>
        </p:nvGrpSpPr>
        <p:grpSpPr bwMode="auto">
          <a:xfrm>
            <a:off x="7616417" y="722009"/>
            <a:ext cx="2076917" cy="284297"/>
            <a:chOff x="1505168" y="909860"/>
            <a:chExt cx="1432191" cy="287622"/>
          </a:xfrm>
        </p:grpSpPr>
        <p:sp>
          <p:nvSpPr>
            <p:cNvPr id="90" name="모서리가 둥근 직사각형 89"/>
            <p:cNvSpPr/>
            <p:nvPr/>
          </p:nvSpPr>
          <p:spPr>
            <a:xfrm>
              <a:off x="1505168" y="914628"/>
              <a:ext cx="1432191" cy="282854"/>
            </a:xfrm>
            <a:prstGeom prst="roundRect">
              <a:avLst>
                <a:gd name="adj" fmla="val 12954"/>
              </a:avLst>
            </a:prstGeom>
            <a:solidFill>
              <a:srgbClr val="231F20">
                <a:lumMod val="65000"/>
                <a:lumOff val="3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91" name="직사각형 59"/>
            <p:cNvSpPr>
              <a:spLocks noChangeArrowheads="1"/>
            </p:cNvSpPr>
            <p:nvPr/>
          </p:nvSpPr>
          <p:spPr bwMode="auto">
            <a:xfrm>
              <a:off x="1902249" y="909860"/>
              <a:ext cx="638032" cy="280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고급</a:t>
              </a:r>
              <a:r>
                <a:rPr kumimoji="0" lang="en-US" altLang="ko-KR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/</a:t>
              </a:r>
              <a:r>
                <a:rPr kumimoji="0" lang="ko-KR" altLang="en-US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전문가</a:t>
              </a:r>
            </a:p>
          </p:txBody>
        </p:sp>
      </p:grpSp>
      <p:sp>
        <p:nvSpPr>
          <p:cNvPr id="92" name="모서리가 둥근 직사각형 91"/>
          <p:cNvSpPr/>
          <p:nvPr/>
        </p:nvSpPr>
        <p:spPr bwMode="auto">
          <a:xfrm>
            <a:off x="165219" y="1061862"/>
            <a:ext cx="794907" cy="1326776"/>
          </a:xfrm>
          <a:prstGeom prst="roundRect">
            <a:avLst>
              <a:gd name="adj" fmla="val 12954"/>
            </a:avLst>
          </a:prstGeom>
          <a:solidFill>
            <a:srgbClr val="1F497D">
              <a:lumMod val="60000"/>
              <a:lumOff val="40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kumimoji="0"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</a:t>
            </a:r>
          </a:p>
        </p:txBody>
      </p:sp>
      <p:sp>
        <p:nvSpPr>
          <p:cNvPr id="95" name="Rectangle 40"/>
          <p:cNvSpPr>
            <a:spLocks noChangeArrowheads="1"/>
          </p:cNvSpPr>
          <p:nvPr/>
        </p:nvSpPr>
        <p:spPr bwMode="auto">
          <a:xfrm>
            <a:off x="1032133" y="1061863"/>
            <a:ext cx="8661201" cy="1326775"/>
          </a:xfrm>
          <a:prstGeom prst="rect">
            <a:avLst/>
          </a:prstGeom>
          <a:solidFill>
            <a:srgbClr val="FFFFFF">
              <a:lumMod val="85000"/>
              <a:alpha val="41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50" b="1" kern="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pSp>
        <p:nvGrpSpPr>
          <p:cNvPr id="78" name="그룹 57"/>
          <p:cNvGrpSpPr>
            <a:grpSpLocks/>
          </p:cNvGrpSpPr>
          <p:nvPr/>
        </p:nvGrpSpPr>
        <p:grpSpPr bwMode="auto">
          <a:xfrm>
            <a:off x="1032133" y="739023"/>
            <a:ext cx="3198516" cy="284297"/>
            <a:chOff x="1505168" y="909860"/>
            <a:chExt cx="1432191" cy="287622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1505168" y="914628"/>
              <a:ext cx="1432191" cy="282854"/>
            </a:xfrm>
            <a:prstGeom prst="roundRect">
              <a:avLst>
                <a:gd name="adj" fmla="val 12954"/>
              </a:avLst>
            </a:prstGeom>
            <a:solidFill>
              <a:srgbClr val="231F20">
                <a:lumMod val="65000"/>
                <a:lumOff val="3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81" name="직사각형 59"/>
            <p:cNvSpPr>
              <a:spLocks noChangeArrowheads="1"/>
            </p:cNvSpPr>
            <p:nvPr/>
          </p:nvSpPr>
          <p:spPr bwMode="auto">
            <a:xfrm>
              <a:off x="2116758" y="909860"/>
              <a:ext cx="209016" cy="280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초급</a:t>
              </a:r>
            </a:p>
          </p:txBody>
        </p:sp>
      </p:grpSp>
      <p:grpSp>
        <p:nvGrpSpPr>
          <p:cNvPr id="161" name="그룹 57"/>
          <p:cNvGrpSpPr>
            <a:grpSpLocks/>
          </p:cNvGrpSpPr>
          <p:nvPr/>
        </p:nvGrpSpPr>
        <p:grpSpPr bwMode="auto">
          <a:xfrm>
            <a:off x="4301412" y="731948"/>
            <a:ext cx="3244242" cy="284297"/>
            <a:chOff x="1505168" y="909860"/>
            <a:chExt cx="1432191" cy="287622"/>
          </a:xfrm>
        </p:grpSpPr>
        <p:sp>
          <p:nvSpPr>
            <p:cNvPr id="162" name="모서리가 둥근 직사각형 161"/>
            <p:cNvSpPr/>
            <p:nvPr/>
          </p:nvSpPr>
          <p:spPr>
            <a:xfrm>
              <a:off x="1505168" y="914628"/>
              <a:ext cx="1432191" cy="282854"/>
            </a:xfrm>
            <a:prstGeom prst="roundRect">
              <a:avLst>
                <a:gd name="adj" fmla="val 12954"/>
              </a:avLst>
            </a:prstGeom>
            <a:solidFill>
              <a:srgbClr val="231F20">
                <a:lumMod val="65000"/>
                <a:lumOff val="3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164" name="직사각형 59"/>
            <p:cNvSpPr>
              <a:spLocks noChangeArrowheads="1"/>
            </p:cNvSpPr>
            <p:nvPr/>
          </p:nvSpPr>
          <p:spPr bwMode="auto">
            <a:xfrm>
              <a:off x="2118229" y="909860"/>
              <a:ext cx="206069" cy="280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중급</a:t>
              </a:r>
            </a:p>
          </p:txBody>
        </p:sp>
      </p:grpSp>
      <p:sp>
        <p:nvSpPr>
          <p:cNvPr id="87" name="모서리가 둥근 직사각형 86">
            <a:hlinkClick r:id="" action="ppaction://noaction"/>
          </p:cNvPr>
          <p:cNvSpPr/>
          <p:nvPr/>
        </p:nvSpPr>
        <p:spPr>
          <a:xfrm>
            <a:off x="8058845" y="335933"/>
            <a:ext cx="676941" cy="1984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LETO</a:t>
            </a:r>
            <a:endParaRPr kumimoji="1" lang="en-US" altLang="ko-KR" sz="100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7722" y="728843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800" spc="-1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과정명</a:t>
            </a:r>
            <a: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프로파일</a:t>
            </a:r>
            <a:b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링크 연결됨</a:t>
            </a:r>
            <a: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800" spc="-15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38389" y="174568"/>
            <a:ext cx="1579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700">
                <a:solidFill>
                  <a:srgbClr val="006600"/>
                </a:solidFill>
              </a:defRPr>
            </a:lvl1pPr>
          </a:lstStyle>
          <a:p>
            <a:r>
              <a:rPr lang="en-US" altLang="ko-KR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&gt;</a:t>
            </a:r>
            <a:r>
              <a:rPr lang="ko-KR" altLang="en-US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김대욱 </a:t>
            </a:r>
            <a:r>
              <a:rPr lang="en-US" altLang="ko-KR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Blog</a:t>
            </a:r>
            <a:r>
              <a:rPr lang="ko-KR" altLang="en-US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상시 확인 가능</a:t>
            </a:r>
          </a:p>
        </p:txBody>
      </p:sp>
      <p:sp>
        <p:nvSpPr>
          <p:cNvPr id="7" name="모서리가 둥근 직사각형 76">
            <a:hlinkClick r:id="rId3" action="ppaction://hlinksldjump"/>
            <a:extLst>
              <a:ext uri="{FF2B5EF4-FFF2-40B4-BE49-F238E27FC236}">
                <a16:creationId xmlns:a16="http://schemas.microsoft.com/office/drawing/2014/main" id="{43E9F1AA-58B0-D90E-0981-AF0C65A79A30}"/>
              </a:ext>
            </a:extLst>
          </p:cNvPr>
          <p:cNvSpPr/>
          <p:nvPr/>
        </p:nvSpPr>
        <p:spPr>
          <a:xfrm>
            <a:off x="1156782" y="1168327"/>
            <a:ext cx="2967350" cy="219366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AX Level 1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기초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10" name="모서리가 둥근 직사각형 82">
            <a:hlinkClick r:id="rId4" action="ppaction://hlinksldjump"/>
            <a:extLst>
              <a:ext uri="{FF2B5EF4-FFF2-40B4-BE49-F238E27FC236}">
                <a16:creationId xmlns:a16="http://schemas.microsoft.com/office/drawing/2014/main" id="{3A387AF8-458C-AA13-EB66-C6B75DFB413B}"/>
              </a:ext>
            </a:extLst>
          </p:cNvPr>
          <p:cNvSpPr/>
          <p:nvPr/>
        </p:nvSpPr>
        <p:spPr>
          <a:xfrm>
            <a:off x="4364487" y="1168326"/>
            <a:ext cx="3072009" cy="225053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(6σ Tool)</a:t>
            </a:r>
            <a:endParaRPr lang="ko-KR" altLang="en-US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6" name="모서리가 둥근 직사각형 82">
            <a:hlinkClick r:id="rId5" action="ppaction://hlinksldjump"/>
            <a:extLst>
              <a:ext uri="{FF2B5EF4-FFF2-40B4-BE49-F238E27FC236}">
                <a16:creationId xmlns:a16="http://schemas.microsoft.com/office/drawing/2014/main" id="{5B941208-F09F-AB05-52EC-A1A15CF009B4}"/>
              </a:ext>
            </a:extLst>
          </p:cNvPr>
          <p:cNvSpPr/>
          <p:nvPr/>
        </p:nvSpPr>
        <p:spPr>
          <a:xfrm>
            <a:off x="7669765" y="1168329"/>
            <a:ext cx="1950098" cy="2250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vert="horz" lIns="0" tIns="0" rIns="0" bIns="0" rtlCol="0" anchor="ctr"/>
          <a:lstStyle/>
          <a:p>
            <a:pPr algn="ctr" defTabSz="914400"/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AX Level 3 </a:t>
            </a:r>
            <a:r>
              <a:rPr lang="ko-KR" altLang="en-US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심화</a:t>
            </a:r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000" kern="0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8" name="모서리가 둥근 직사각형 76">
            <a:hlinkClick r:id="rId6" action="ppaction://hlinksldjump"/>
            <a:extLst>
              <a:ext uri="{FF2B5EF4-FFF2-40B4-BE49-F238E27FC236}">
                <a16:creationId xmlns:a16="http://schemas.microsoft.com/office/drawing/2014/main" id="{CF32F3DB-105A-D9A9-0EE1-929D5A16A17B}"/>
              </a:ext>
            </a:extLst>
          </p:cNvPr>
          <p:cNvSpPr/>
          <p:nvPr/>
        </p:nvSpPr>
        <p:spPr>
          <a:xfrm>
            <a:off x="1169221" y="1446706"/>
            <a:ext cx="2967350" cy="219366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AX Level 1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문제해결방법론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9" name="모서리가 둥근 직사각형 82">
            <a:hlinkClick r:id="rId7" action="ppaction://hlinksldjump"/>
            <a:extLst>
              <a:ext uri="{FF2B5EF4-FFF2-40B4-BE49-F238E27FC236}">
                <a16:creationId xmlns:a16="http://schemas.microsoft.com/office/drawing/2014/main" id="{95103A46-934B-67D7-09E3-2234F467F7CB}"/>
              </a:ext>
            </a:extLst>
          </p:cNvPr>
          <p:cNvSpPr/>
          <p:nvPr/>
        </p:nvSpPr>
        <p:spPr>
          <a:xfrm>
            <a:off x="4364487" y="1442017"/>
            <a:ext cx="3072009" cy="225053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AX Level 2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입문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0" name="모서리가 둥근 직사각형 82">
            <a:hlinkClick r:id="rId8" action="ppaction://hlinksldjump"/>
            <a:extLst>
              <a:ext uri="{FF2B5EF4-FFF2-40B4-BE49-F238E27FC236}">
                <a16:creationId xmlns:a16="http://schemas.microsoft.com/office/drawing/2014/main" id="{77EDE4EA-67E5-6F47-90BD-E0C26C2F0341}"/>
              </a:ext>
            </a:extLst>
          </p:cNvPr>
          <p:cNvSpPr/>
          <p:nvPr/>
        </p:nvSpPr>
        <p:spPr>
          <a:xfrm>
            <a:off x="4364487" y="1725047"/>
            <a:ext cx="3072009" cy="225053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“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엔지니어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1" name="모서리가 둥근 직사각형 82">
            <a:hlinkClick r:id="rId9" action="ppaction://hlinksldjump"/>
            <a:extLst>
              <a:ext uri="{FF2B5EF4-FFF2-40B4-BE49-F238E27FC236}">
                <a16:creationId xmlns:a16="http://schemas.microsoft.com/office/drawing/2014/main" id="{D7DBBBAF-F4A8-D9D5-8F6C-EDF947ED49AA}"/>
              </a:ext>
            </a:extLst>
          </p:cNvPr>
          <p:cNvSpPr/>
          <p:nvPr/>
        </p:nvSpPr>
        <p:spPr>
          <a:xfrm>
            <a:off x="4364487" y="2008081"/>
            <a:ext cx="3072009" cy="225053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“</a:t>
            </a:r>
            <a:r>
              <a:rPr lang="ko-KR" altLang="en-US" sz="1000" kern="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비엔지니어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2" name="모서리가 둥근 직사각형 82">
            <a:hlinkClick r:id="rId10" action="ppaction://hlinksldjump"/>
            <a:extLst>
              <a:ext uri="{FF2B5EF4-FFF2-40B4-BE49-F238E27FC236}">
                <a16:creationId xmlns:a16="http://schemas.microsoft.com/office/drawing/2014/main" id="{B39CA125-E76C-D765-1146-AB313AD805B2}"/>
              </a:ext>
            </a:extLst>
          </p:cNvPr>
          <p:cNvSpPr/>
          <p:nvPr/>
        </p:nvSpPr>
        <p:spPr>
          <a:xfrm>
            <a:off x="7672875" y="1442028"/>
            <a:ext cx="1950098" cy="2250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vert="horz" lIns="0" tIns="0" rIns="0" bIns="0" rtlCol="0" anchor="ctr"/>
          <a:lstStyle/>
          <a:p>
            <a:pPr algn="ctr" defTabSz="914400"/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AX Level 3 </a:t>
            </a:r>
            <a:r>
              <a:rPr lang="ko-KR" altLang="en-US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문제해결</a:t>
            </a:r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심화</a:t>
            </a:r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000" kern="0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3" name="모서리가 둥근 직사각형 91">
            <a:extLst>
              <a:ext uri="{FF2B5EF4-FFF2-40B4-BE49-F238E27FC236}">
                <a16:creationId xmlns:a16="http://schemas.microsoft.com/office/drawing/2014/main" id="{1ACECFC7-7DF7-FDE6-BE63-0302530CF83B}"/>
              </a:ext>
            </a:extLst>
          </p:cNvPr>
          <p:cNvSpPr/>
          <p:nvPr/>
        </p:nvSpPr>
        <p:spPr bwMode="auto">
          <a:xfrm>
            <a:off x="168327" y="2492554"/>
            <a:ext cx="794907" cy="2210073"/>
          </a:xfrm>
          <a:prstGeom prst="roundRect">
            <a:avLst>
              <a:gd name="adj" fmla="val 12954"/>
            </a:avLst>
          </a:prstGeom>
          <a:solidFill>
            <a:srgbClr val="1F497D">
              <a:lumMod val="60000"/>
              <a:lumOff val="40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</a:t>
            </a:r>
            <a:endParaRPr kumimoji="0" lang="en-US" altLang="ko-KR" sz="1200" b="1" kern="0" dirty="0">
              <a:solidFill>
                <a:srgbClr val="FFFFFF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kumimoji="0" lang="ko-KR" altLang="en-US" sz="1200" b="1" kern="0" dirty="0">
              <a:solidFill>
                <a:srgbClr val="FFFFFF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Rectangle 40">
            <a:extLst>
              <a:ext uri="{FF2B5EF4-FFF2-40B4-BE49-F238E27FC236}">
                <a16:creationId xmlns:a16="http://schemas.microsoft.com/office/drawing/2014/main" id="{BF166464-C6BD-E76B-5AFB-FA53B70B5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241" y="2492556"/>
            <a:ext cx="8661201" cy="2210073"/>
          </a:xfrm>
          <a:prstGeom prst="rect">
            <a:avLst/>
          </a:prstGeom>
          <a:solidFill>
            <a:srgbClr val="FFFFFF">
              <a:lumMod val="85000"/>
              <a:alpha val="41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50" b="1" kern="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모서리가 둥근 직사각형 151">
            <a:hlinkClick r:id="rId11" action="ppaction://hlinksldjump"/>
            <a:extLst>
              <a:ext uri="{FF2B5EF4-FFF2-40B4-BE49-F238E27FC236}">
                <a16:creationId xmlns:a16="http://schemas.microsoft.com/office/drawing/2014/main" id="{2A252EFB-8880-5274-15DE-678B6106811C}"/>
              </a:ext>
            </a:extLst>
          </p:cNvPr>
          <p:cNvSpPr/>
          <p:nvPr/>
        </p:nvSpPr>
        <p:spPr>
          <a:xfrm>
            <a:off x="4368828" y="2870106"/>
            <a:ext cx="3067667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ChatGPT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개발 활용 초급</a:t>
            </a:r>
            <a:endParaRPr kumimoji="1"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0" name="모서리가 둥근 직사각형 152">
            <a:hlinkClick r:id="rId12" action="ppaction://hlinksldjump"/>
            <a:extLst>
              <a:ext uri="{FF2B5EF4-FFF2-40B4-BE49-F238E27FC236}">
                <a16:creationId xmlns:a16="http://schemas.microsoft.com/office/drawing/2014/main" id="{201AA3ED-13B5-CE9E-10A9-8B666112AD0C}"/>
              </a:ext>
            </a:extLst>
          </p:cNvPr>
          <p:cNvSpPr/>
          <p:nvPr/>
        </p:nvSpPr>
        <p:spPr>
          <a:xfrm>
            <a:off x="4368828" y="3145388"/>
            <a:ext cx="3067667" cy="2289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ChatGPT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와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TRIZ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활용한 문제해결 및 혁신제품 콘셉트</a:t>
            </a:r>
            <a:endParaRPr kumimoji="1"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모서리가 둥근 직사각형 153">
            <a:hlinkClick r:id="rId13" action="ppaction://hlinksldjump"/>
            <a:extLst>
              <a:ext uri="{FF2B5EF4-FFF2-40B4-BE49-F238E27FC236}">
                <a16:creationId xmlns:a16="http://schemas.microsoft.com/office/drawing/2014/main" id="{73BFF4EE-9824-7359-7421-C966C52D0D8C}"/>
              </a:ext>
            </a:extLst>
          </p:cNvPr>
          <p:cNvSpPr/>
          <p:nvPr/>
        </p:nvSpPr>
        <p:spPr>
          <a:xfrm>
            <a:off x="1169221" y="4331148"/>
            <a:ext cx="6304598" cy="257996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Coreman Basic 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구독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4" name="모서리가 둥근 직사각형 80">
            <a:hlinkClick r:id="rId14" action="ppaction://hlinksldjump"/>
            <a:extLst>
              <a:ext uri="{FF2B5EF4-FFF2-40B4-BE49-F238E27FC236}">
                <a16:creationId xmlns:a16="http://schemas.microsoft.com/office/drawing/2014/main" id="{E6763FE0-7D47-521E-A5CE-C1755BE40717}"/>
              </a:ext>
            </a:extLst>
          </p:cNvPr>
          <p:cNvSpPr/>
          <p:nvPr/>
        </p:nvSpPr>
        <p:spPr>
          <a:xfrm>
            <a:off x="1169222" y="3722105"/>
            <a:ext cx="2967350" cy="229270"/>
          </a:xfrm>
          <a:prstGeom prst="roundRect">
            <a:avLst>
              <a:gd name="adj" fmla="val 15461"/>
            </a:avLst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ChatEXAONE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이해 및 활용</a:t>
            </a:r>
            <a:endParaRPr kumimoji="1" lang="en-US" altLang="ko-KR" sz="1000" kern="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모서리가 둥근 직사각형 112">
            <a:hlinkClick r:id="rId15" action="ppaction://hlinksldjump"/>
            <a:extLst>
              <a:ext uri="{FF2B5EF4-FFF2-40B4-BE49-F238E27FC236}">
                <a16:creationId xmlns:a16="http://schemas.microsoft.com/office/drawing/2014/main" id="{66E937AF-4F13-E3FA-96CF-34E98690486E}"/>
              </a:ext>
            </a:extLst>
          </p:cNvPr>
          <p:cNvSpPr/>
          <p:nvPr/>
        </p:nvSpPr>
        <p:spPr>
          <a:xfrm>
            <a:off x="1156782" y="2873757"/>
            <a:ext cx="2979789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다양한 생성형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서비스 활용 기초</a:t>
            </a:r>
          </a:p>
        </p:txBody>
      </p:sp>
      <p:sp>
        <p:nvSpPr>
          <p:cNvPr id="26" name="모서리가 둥근 직사각형 120">
            <a:hlinkClick r:id="rId16" action="ppaction://hlinksldjump"/>
            <a:extLst>
              <a:ext uri="{FF2B5EF4-FFF2-40B4-BE49-F238E27FC236}">
                <a16:creationId xmlns:a16="http://schemas.microsoft.com/office/drawing/2014/main" id="{74E68733-1F0C-CAE3-EF6C-1557C32BC582}"/>
              </a:ext>
            </a:extLst>
          </p:cNvPr>
          <p:cNvSpPr/>
          <p:nvPr/>
        </p:nvSpPr>
        <p:spPr>
          <a:xfrm>
            <a:off x="1156782" y="3156540"/>
            <a:ext cx="2979789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사무직의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kumimoji="1" lang="ko-KR" altLang="en-US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리터러시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향상하기</a:t>
            </a:r>
          </a:p>
        </p:txBody>
      </p:sp>
      <p:sp>
        <p:nvSpPr>
          <p:cNvPr id="27" name="모서리가 둥근 직사각형 125">
            <a:hlinkClick r:id="rId17" action="ppaction://hlinksldjump"/>
            <a:extLst>
              <a:ext uri="{FF2B5EF4-FFF2-40B4-BE49-F238E27FC236}">
                <a16:creationId xmlns:a16="http://schemas.microsoft.com/office/drawing/2014/main" id="{53B12792-CDD8-60C0-DB24-7ECE23D5688B}"/>
              </a:ext>
            </a:extLst>
          </p:cNvPr>
          <p:cNvSpPr/>
          <p:nvPr/>
        </p:nvSpPr>
        <p:spPr>
          <a:xfrm>
            <a:off x="1156782" y="3439323"/>
            <a:ext cx="2979789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마케팅 </a:t>
            </a:r>
            <a:r>
              <a:rPr kumimoji="1" lang="ko-KR" altLang="en-US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직군의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kumimoji="1" lang="ko-KR" altLang="en-US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리터러시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향상하기</a:t>
            </a:r>
          </a:p>
        </p:txBody>
      </p:sp>
      <p:sp>
        <p:nvSpPr>
          <p:cNvPr id="28" name="모서리가 둥근 직사각형 101">
            <a:hlinkClick r:id="rId18" action="ppaction://hlinksldjump"/>
            <a:extLst>
              <a:ext uri="{FF2B5EF4-FFF2-40B4-BE49-F238E27FC236}">
                <a16:creationId xmlns:a16="http://schemas.microsoft.com/office/drawing/2014/main" id="{AD6C72B5-8CF6-0B11-A3CA-908E5FB0C14A}"/>
              </a:ext>
            </a:extLst>
          </p:cNvPr>
          <p:cNvSpPr/>
          <p:nvPr/>
        </p:nvSpPr>
        <p:spPr>
          <a:xfrm>
            <a:off x="1156782" y="2590974"/>
            <a:ext cx="2979789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AI </a:t>
            </a:r>
            <a:r>
              <a:rPr kumimoji="1" lang="ko-KR" altLang="en-US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리터러시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기초</a:t>
            </a:r>
            <a:endParaRPr kumimoji="1"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모서리가 둥근 직사각형 153">
            <a:hlinkClick r:id="rId19" action="ppaction://hlinksldjump"/>
            <a:extLst>
              <a:ext uri="{FF2B5EF4-FFF2-40B4-BE49-F238E27FC236}">
                <a16:creationId xmlns:a16="http://schemas.microsoft.com/office/drawing/2014/main" id="{3E935412-1662-6E52-27EA-FCC937CB36EE}"/>
              </a:ext>
            </a:extLst>
          </p:cNvPr>
          <p:cNvSpPr/>
          <p:nvPr/>
        </p:nvSpPr>
        <p:spPr>
          <a:xfrm>
            <a:off x="1169221" y="4007686"/>
            <a:ext cx="2967350" cy="257996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완전정복 시리즈 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9" name="모서리가 둥근 직사각형 91">
            <a:extLst>
              <a:ext uri="{FF2B5EF4-FFF2-40B4-BE49-F238E27FC236}">
                <a16:creationId xmlns:a16="http://schemas.microsoft.com/office/drawing/2014/main" id="{F39E5A2F-2CC1-85CD-FB55-647FDD38A631}"/>
              </a:ext>
            </a:extLst>
          </p:cNvPr>
          <p:cNvSpPr/>
          <p:nvPr/>
        </p:nvSpPr>
        <p:spPr bwMode="auto">
          <a:xfrm>
            <a:off x="177852" y="4797605"/>
            <a:ext cx="794907" cy="1773128"/>
          </a:xfrm>
          <a:prstGeom prst="roundRect">
            <a:avLst>
              <a:gd name="adj" fmla="val 12954"/>
            </a:avLst>
          </a:prstGeom>
          <a:solidFill>
            <a:srgbClr val="1F497D">
              <a:lumMod val="60000"/>
              <a:lumOff val="40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kumimoji="0" lang="en-US" altLang="ko-KR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 </a:t>
            </a:r>
            <a:r>
              <a:rPr kumimoji="0"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kumimoji="0" lang="en-US" altLang="ko-KR" sz="1200" b="1" kern="0" dirty="0">
              <a:solidFill>
                <a:srgbClr val="FFFFFF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계속</a:t>
            </a:r>
            <a:r>
              <a:rPr lang="en-US" altLang="ko-KR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kumimoji="0" lang="en-US" altLang="ko-KR" sz="1200" b="1" kern="0" dirty="0">
              <a:solidFill>
                <a:srgbClr val="FFFFFF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2E787142-7919-DC73-D132-253C18671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766" y="4797607"/>
            <a:ext cx="8661201" cy="1773126"/>
          </a:xfrm>
          <a:prstGeom prst="rect">
            <a:avLst/>
          </a:prstGeom>
          <a:solidFill>
            <a:srgbClr val="FFFFFF">
              <a:lumMod val="85000"/>
              <a:alpha val="41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50" b="1" kern="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1" name="모서리가 둥근 직사각형 151">
            <a:hlinkClick r:id="rId20" action="ppaction://hlinksldjump"/>
            <a:extLst>
              <a:ext uri="{FF2B5EF4-FFF2-40B4-BE49-F238E27FC236}">
                <a16:creationId xmlns:a16="http://schemas.microsoft.com/office/drawing/2014/main" id="{DA87C08E-D148-A501-5A78-0DE8BB978A2D}"/>
              </a:ext>
            </a:extLst>
          </p:cNvPr>
          <p:cNvSpPr/>
          <p:nvPr/>
        </p:nvSpPr>
        <p:spPr>
          <a:xfrm>
            <a:off x="4378353" y="5177787"/>
            <a:ext cx="3067667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Python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으로 배우는 </a:t>
            </a:r>
            <a:r>
              <a:rPr kumimoji="1" lang="ko-KR" altLang="en-US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머신러닝과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데이터 분석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(2024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42" name="모서리가 둥근 직사각형 152">
            <a:hlinkClick r:id="rId21" action="ppaction://hlinksldjump"/>
            <a:extLst>
              <a:ext uri="{FF2B5EF4-FFF2-40B4-BE49-F238E27FC236}">
                <a16:creationId xmlns:a16="http://schemas.microsoft.com/office/drawing/2014/main" id="{ABC9812A-91D1-0CB0-74EE-A2E8D76A9AC1}"/>
              </a:ext>
            </a:extLst>
          </p:cNvPr>
          <p:cNvSpPr/>
          <p:nvPr/>
        </p:nvSpPr>
        <p:spPr>
          <a:xfrm>
            <a:off x="4378353" y="6048767"/>
            <a:ext cx="3067667" cy="2289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Matplotlib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Seaborn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을 활용한 빅데이터 시각화 실무</a:t>
            </a:r>
            <a:endParaRPr kumimoji="1"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모서리가 둥근 직사각형 112">
            <a:hlinkClick r:id="rId22" action="ppaction://hlinksldjump"/>
            <a:extLst>
              <a:ext uri="{FF2B5EF4-FFF2-40B4-BE49-F238E27FC236}">
                <a16:creationId xmlns:a16="http://schemas.microsoft.com/office/drawing/2014/main" id="{866C46A1-558A-B59B-B5E2-B42C3F8E4157}"/>
              </a:ext>
            </a:extLst>
          </p:cNvPr>
          <p:cNvSpPr/>
          <p:nvPr/>
        </p:nvSpPr>
        <p:spPr>
          <a:xfrm>
            <a:off x="4378354" y="5468113"/>
            <a:ext cx="3067666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en-US" altLang="ko-KR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Numpy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활용한 데이터처리 및 연산</a:t>
            </a:r>
          </a:p>
        </p:txBody>
      </p:sp>
      <p:sp>
        <p:nvSpPr>
          <p:cNvPr id="46" name="모서리가 둥근 직사각형 120">
            <a:hlinkClick r:id="rId23" action="ppaction://hlinksldjump"/>
            <a:extLst>
              <a:ext uri="{FF2B5EF4-FFF2-40B4-BE49-F238E27FC236}">
                <a16:creationId xmlns:a16="http://schemas.microsoft.com/office/drawing/2014/main" id="{0CC6B420-41BE-F82A-B88A-8F96200FD124}"/>
              </a:ext>
            </a:extLst>
          </p:cNvPr>
          <p:cNvSpPr/>
          <p:nvPr/>
        </p:nvSpPr>
        <p:spPr>
          <a:xfrm>
            <a:off x="4378354" y="5758439"/>
            <a:ext cx="3067666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Pandas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활용한 데이터처리 및 연산 </a:t>
            </a:r>
          </a:p>
        </p:txBody>
      </p:sp>
      <p:sp>
        <p:nvSpPr>
          <p:cNvPr id="48" name="모서리가 둥근 직사각형 101">
            <a:hlinkClick r:id="rId24" action="ppaction://hlinksldjump"/>
            <a:extLst>
              <a:ext uri="{FF2B5EF4-FFF2-40B4-BE49-F238E27FC236}">
                <a16:creationId xmlns:a16="http://schemas.microsoft.com/office/drawing/2014/main" id="{39612ECE-DEA9-AB68-A71C-12FC0AC4D15F}"/>
              </a:ext>
            </a:extLst>
          </p:cNvPr>
          <p:cNvSpPr/>
          <p:nvPr/>
        </p:nvSpPr>
        <p:spPr>
          <a:xfrm>
            <a:off x="1166307" y="4886692"/>
            <a:ext cx="2979789" cy="2335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프로그래밍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(2024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" name="모서리가 둥근 직사각형 152">
            <a:hlinkClick r:id="rId25" action="ppaction://hlinksldjump"/>
            <a:extLst>
              <a:ext uri="{FF2B5EF4-FFF2-40B4-BE49-F238E27FC236}">
                <a16:creationId xmlns:a16="http://schemas.microsoft.com/office/drawing/2014/main" id="{F68C1B9B-ECFC-4F5B-5D38-B09AAB709C3D}"/>
              </a:ext>
            </a:extLst>
          </p:cNvPr>
          <p:cNvSpPr/>
          <p:nvPr/>
        </p:nvSpPr>
        <p:spPr>
          <a:xfrm>
            <a:off x="4371937" y="2591015"/>
            <a:ext cx="3067667" cy="228994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kumimoji="1"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kumimoji="1"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업무 활용 기초</a:t>
            </a:r>
            <a:endParaRPr kumimoji="1" lang="en-US" altLang="ko-KR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모서리가 둥근 직사각형 152">
            <a:hlinkClick r:id="rId26" action="ppaction://hlinksldjump"/>
            <a:extLst>
              <a:ext uri="{FF2B5EF4-FFF2-40B4-BE49-F238E27FC236}">
                <a16:creationId xmlns:a16="http://schemas.microsoft.com/office/drawing/2014/main" id="{C979F81A-07D8-B02A-9396-447639555620}"/>
              </a:ext>
            </a:extLst>
          </p:cNvPr>
          <p:cNvSpPr/>
          <p:nvPr/>
        </p:nvSpPr>
        <p:spPr>
          <a:xfrm>
            <a:off x="4375046" y="3432310"/>
            <a:ext cx="3067667" cy="228994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비개발자를 위한 </a:t>
            </a:r>
            <a:r>
              <a:rPr kumimoji="1" lang="ko-KR" altLang="en-US" sz="1000" i="1" kern="0" dirty="0" err="1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업무자동화 실무</a:t>
            </a:r>
            <a:endParaRPr kumimoji="1" lang="en-US" altLang="ko-KR" sz="1000" i="1" kern="0" dirty="0">
              <a:solidFill>
                <a:srgbClr val="0070C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6C023-64D8-034D-C167-5AD7C28CBD4C}"/>
              </a:ext>
            </a:extLst>
          </p:cNvPr>
          <p:cNvSpPr txBox="1"/>
          <p:nvPr/>
        </p:nvSpPr>
        <p:spPr>
          <a:xfrm>
            <a:off x="1166109" y="6326183"/>
            <a:ext cx="2550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[K-MOOC]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빅데이터의 세계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원리와 응용 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 무료 이러닝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000" spc="-150" dirty="0">
              <a:solidFill>
                <a:srgbClr val="008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실행 단추: 앞으로 또는 다음 59">
            <a:hlinkClick r:id="rId27" action="ppaction://hlinksldjump" highlightClick="1"/>
            <a:extLst>
              <a:ext uri="{FF2B5EF4-FFF2-40B4-BE49-F238E27FC236}">
                <a16:creationId xmlns:a16="http://schemas.microsoft.com/office/drawing/2014/main" id="{4BAC5E50-1996-E7BB-0FB7-05A806781DF2}"/>
              </a:ext>
            </a:extLst>
          </p:cNvPr>
          <p:cNvSpPr/>
          <p:nvPr/>
        </p:nvSpPr>
        <p:spPr>
          <a:xfrm>
            <a:off x="3685736" y="6396370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" name="모서리가 둥근 직사각형 100">
            <a:hlinkClick r:id="rId28" action="ppaction://hlinksldjump"/>
            <a:extLst>
              <a:ext uri="{FF2B5EF4-FFF2-40B4-BE49-F238E27FC236}">
                <a16:creationId xmlns:a16="http://schemas.microsoft.com/office/drawing/2014/main" id="{7D63365A-10FB-960D-0A81-A703B110A2D4}"/>
              </a:ext>
            </a:extLst>
          </p:cNvPr>
          <p:cNvSpPr/>
          <p:nvPr/>
        </p:nvSpPr>
        <p:spPr>
          <a:xfrm>
            <a:off x="1160954" y="5183791"/>
            <a:ext cx="2985142" cy="2118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C++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 스킬 기본</a:t>
            </a:r>
            <a:endParaRPr kumimoji="1"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모서리가 둥근 직사각형 100">
            <a:hlinkClick r:id="rId29" action="ppaction://hlinksldjump"/>
            <a:extLst>
              <a:ext uri="{FF2B5EF4-FFF2-40B4-BE49-F238E27FC236}">
                <a16:creationId xmlns:a16="http://schemas.microsoft.com/office/drawing/2014/main" id="{1953B89D-4DA9-60AF-9F7B-54BD9E4A99F3}"/>
              </a:ext>
            </a:extLst>
          </p:cNvPr>
          <p:cNvSpPr/>
          <p:nvPr/>
        </p:nvSpPr>
        <p:spPr>
          <a:xfrm>
            <a:off x="1162600" y="5459191"/>
            <a:ext cx="2983495" cy="2238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MATLAB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 스킬 기본</a:t>
            </a:r>
            <a:endParaRPr kumimoji="1"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2" name="모서리가 둥근 직사각형 76">
            <a:hlinkClick r:id="rId30" action="ppaction://hlinksldjump"/>
            <a:extLst>
              <a:ext uri="{FF2B5EF4-FFF2-40B4-BE49-F238E27FC236}">
                <a16:creationId xmlns:a16="http://schemas.microsoft.com/office/drawing/2014/main" id="{C37E2118-EB95-4EA1-AE2F-2DDFAD2D0C6A}"/>
              </a:ext>
            </a:extLst>
          </p:cNvPr>
          <p:cNvSpPr/>
          <p:nvPr/>
        </p:nvSpPr>
        <p:spPr>
          <a:xfrm>
            <a:off x="4364486" y="4898359"/>
            <a:ext cx="3067665" cy="210595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(V) Python PJT</a:t>
            </a:r>
            <a:endParaRPr lang="ko-KR" altLang="en-US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A6987A-10FA-701D-5A9F-AE8A5ABBE1A3}"/>
              </a:ext>
            </a:extLst>
          </p:cNvPr>
          <p:cNvSpPr txBox="1"/>
          <p:nvPr/>
        </p:nvSpPr>
        <p:spPr>
          <a:xfrm>
            <a:off x="256797" y="2122093"/>
            <a:ext cx="5405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dirty="0"/>
              <a:t>* </a:t>
            </a:r>
            <a:r>
              <a:rPr lang="ko-KR" altLang="en-US" dirty="0"/>
              <a:t>총</a:t>
            </a:r>
            <a:r>
              <a:rPr lang="en-US" altLang="ko-KR" dirty="0"/>
              <a:t> 8</a:t>
            </a:r>
            <a:r>
              <a:rPr lang="ko-KR" altLang="en-US" dirty="0"/>
              <a:t>개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AD6DC1-2081-7BED-5620-FA4E165C21E5}"/>
              </a:ext>
            </a:extLst>
          </p:cNvPr>
          <p:cNvSpPr txBox="1"/>
          <p:nvPr/>
        </p:nvSpPr>
        <p:spPr>
          <a:xfrm>
            <a:off x="259904" y="4448525"/>
            <a:ext cx="593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dirty="0"/>
              <a:t>* </a:t>
            </a:r>
            <a:r>
              <a:rPr lang="ko-KR" altLang="en-US" dirty="0"/>
              <a:t>총</a:t>
            </a:r>
            <a:r>
              <a:rPr lang="en-US" altLang="ko-KR" dirty="0"/>
              <a:t> 11</a:t>
            </a:r>
            <a:r>
              <a:rPr lang="ko-KR" altLang="en-US" dirty="0"/>
              <a:t>개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29B590-77E3-EBDC-1C56-4873157A1FFA}"/>
              </a:ext>
            </a:extLst>
          </p:cNvPr>
          <p:cNvSpPr txBox="1"/>
          <p:nvPr/>
        </p:nvSpPr>
        <p:spPr>
          <a:xfrm>
            <a:off x="263011" y="6345750"/>
            <a:ext cx="593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dirty="0"/>
              <a:t>* </a:t>
            </a:r>
            <a:r>
              <a:rPr lang="ko-KR" altLang="en-US" dirty="0"/>
              <a:t>총</a:t>
            </a:r>
            <a:r>
              <a:rPr lang="en-US" altLang="ko-KR" dirty="0"/>
              <a:t> 10</a:t>
            </a:r>
            <a:r>
              <a:rPr lang="ko-KR" altLang="en-US" dirty="0"/>
              <a:t>개</a:t>
            </a:r>
          </a:p>
        </p:txBody>
      </p:sp>
      <p:sp>
        <p:nvSpPr>
          <p:cNvPr id="66" name="모서리가 둥근 직사각형 101">
            <a:hlinkClick r:id="rId31" action="ppaction://hlinksldjump"/>
            <a:extLst>
              <a:ext uri="{FF2B5EF4-FFF2-40B4-BE49-F238E27FC236}">
                <a16:creationId xmlns:a16="http://schemas.microsoft.com/office/drawing/2014/main" id="{EA65B155-CC57-7F3A-8935-3C9C4BDA005C}"/>
              </a:ext>
            </a:extLst>
          </p:cNvPr>
          <p:cNvSpPr/>
          <p:nvPr/>
        </p:nvSpPr>
        <p:spPr>
          <a:xfrm>
            <a:off x="1166307" y="6043691"/>
            <a:ext cx="2979789" cy="2335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R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비즈니스 분석 기초</a:t>
            </a:r>
            <a:endParaRPr kumimoji="1"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모서리가 둥근 직사각형 101">
            <a:hlinkClick r:id="rId32" action="ppaction://hlinksldjump"/>
            <a:extLst>
              <a:ext uri="{FF2B5EF4-FFF2-40B4-BE49-F238E27FC236}">
                <a16:creationId xmlns:a16="http://schemas.microsoft.com/office/drawing/2014/main" id="{D981C248-CB83-5CC0-065B-906C8B72DAAA}"/>
              </a:ext>
            </a:extLst>
          </p:cNvPr>
          <p:cNvSpPr/>
          <p:nvPr/>
        </p:nvSpPr>
        <p:spPr>
          <a:xfrm>
            <a:off x="1160083" y="5746590"/>
            <a:ext cx="2979789" cy="2335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정형 데이터 분석의 모든 것</a:t>
            </a:r>
            <a:endParaRPr kumimoji="1"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5EEBB2-426A-083C-C176-11F14EC57542}"/>
              </a:ext>
            </a:extLst>
          </p:cNvPr>
          <p:cNvSpPr txBox="1"/>
          <p:nvPr/>
        </p:nvSpPr>
        <p:spPr>
          <a:xfrm>
            <a:off x="4808980" y="6651578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1/2</a:t>
            </a:r>
            <a:endParaRPr kumimoji="1" lang="ko-KR" altLang="en-US" sz="100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7642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40">
            <a:extLst>
              <a:ext uri="{FF2B5EF4-FFF2-40B4-BE49-F238E27FC236}">
                <a16:creationId xmlns:a16="http://schemas.microsoft.com/office/drawing/2014/main" id="{AD80EC2A-E3FC-C87C-7008-484D6EA8C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921" y="4916866"/>
            <a:ext cx="8661201" cy="1469855"/>
          </a:xfrm>
          <a:prstGeom prst="rect">
            <a:avLst/>
          </a:prstGeom>
          <a:solidFill>
            <a:srgbClr val="FFFFFF">
              <a:lumMod val="85000"/>
              <a:alpha val="41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50" b="1" kern="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7" name="제목 4"/>
          <p:cNvSpPr txBox="1">
            <a:spLocks/>
          </p:cNvSpPr>
          <p:nvPr/>
        </p:nvSpPr>
        <p:spPr bwMode="auto">
          <a:xfrm>
            <a:off x="57150" y="95252"/>
            <a:ext cx="442779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2000" b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2pPr>
            <a:lvl3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3pPr>
            <a:lvl4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4pPr>
            <a:lvl5pPr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bg1"/>
                </a:solidFill>
                <a:latin typeface="굴림" pitchFamily="50" charset="-127"/>
                <a:ea typeface="굴림" pitchFamily="50" charset="-127"/>
                <a:cs typeface="Arial" charset="0"/>
              </a:defRPr>
            </a:lvl9pPr>
          </a:lstStyle>
          <a:p>
            <a:pPr>
              <a:defRPr/>
            </a:pPr>
            <a:r>
              <a:rPr lang="en-US" altLang="ko-KR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’26</a:t>
            </a:r>
            <a:r>
              <a:rPr lang="ko-KR" altLang="en-US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년 </a:t>
            </a:r>
            <a:r>
              <a:rPr lang="en-US" altLang="ko-KR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AX </a:t>
            </a:r>
            <a:r>
              <a:rPr lang="ko-KR" altLang="en-US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교육 체계 </a:t>
            </a:r>
            <a:r>
              <a:rPr lang="en-US" altLang="ko-KR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(2/2)</a:t>
            </a:r>
            <a:r>
              <a:rPr lang="ko-KR" altLang="en-US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08980" y="6651578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2/2</a:t>
            </a:r>
            <a:endParaRPr kumimoji="1" lang="ko-KR" altLang="en-US" sz="100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42" name="모서리가 둥근 직사각형 141">
            <a:hlinkClick r:id="" action="ppaction://noaction"/>
          </p:cNvPr>
          <p:cNvSpPr/>
          <p:nvPr/>
        </p:nvSpPr>
        <p:spPr>
          <a:xfrm>
            <a:off x="5724489" y="335933"/>
            <a:ext cx="792110" cy="204110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’26</a:t>
            </a:r>
            <a:r>
              <a:rPr kumimoji="1" lang="ko-KR" altLang="en-US" sz="100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년 신규</a:t>
            </a:r>
          </a:p>
        </p:txBody>
      </p:sp>
      <p:sp>
        <p:nvSpPr>
          <p:cNvPr id="143" name="모서리가 둥근 직사각형 142">
            <a:hlinkClick r:id="" action="ppaction://noaction"/>
          </p:cNvPr>
          <p:cNvSpPr/>
          <p:nvPr/>
        </p:nvSpPr>
        <p:spPr>
          <a:xfrm>
            <a:off x="4860400" y="335933"/>
            <a:ext cx="792110" cy="204110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*</a:t>
            </a: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1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선발 과정</a:t>
            </a:r>
          </a:p>
        </p:txBody>
      </p:sp>
      <p:sp>
        <p:nvSpPr>
          <p:cNvPr id="144" name="모서리가 둥근 직사각형 143">
            <a:hlinkClick r:id="" action="ppaction://noaction"/>
          </p:cNvPr>
          <p:cNvSpPr/>
          <p:nvPr/>
        </p:nvSpPr>
        <p:spPr>
          <a:xfrm>
            <a:off x="6571605" y="335933"/>
            <a:ext cx="1416059" cy="1984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한국기술교육대학 이러닝</a:t>
            </a:r>
            <a:endParaRPr kumimoji="1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92" name="모서리가 둥근 직사각형 91"/>
          <p:cNvSpPr/>
          <p:nvPr/>
        </p:nvSpPr>
        <p:spPr bwMode="auto">
          <a:xfrm>
            <a:off x="165219" y="1061862"/>
            <a:ext cx="794907" cy="3752734"/>
          </a:xfrm>
          <a:prstGeom prst="roundRect">
            <a:avLst>
              <a:gd name="adj" fmla="val 12954"/>
            </a:avLst>
          </a:prstGeom>
          <a:solidFill>
            <a:srgbClr val="1F497D">
              <a:lumMod val="60000"/>
              <a:lumOff val="40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kumimoji="0"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kumimoji="0" lang="en-US" altLang="ko-KR" sz="1200" b="1" kern="0" dirty="0">
              <a:solidFill>
                <a:srgbClr val="FFFFFF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kumimoji="0" lang="ko-KR" altLang="en-US" sz="1200" b="1" kern="0" dirty="0">
              <a:solidFill>
                <a:srgbClr val="FFFFFF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5" name="Rectangle 40"/>
          <p:cNvSpPr>
            <a:spLocks noChangeArrowheads="1"/>
          </p:cNvSpPr>
          <p:nvPr/>
        </p:nvSpPr>
        <p:spPr bwMode="auto">
          <a:xfrm>
            <a:off x="1032133" y="1061863"/>
            <a:ext cx="8661201" cy="3752733"/>
          </a:xfrm>
          <a:prstGeom prst="rect">
            <a:avLst/>
          </a:prstGeom>
          <a:solidFill>
            <a:srgbClr val="FFFFFF">
              <a:lumMod val="85000"/>
              <a:alpha val="41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50" b="1" kern="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7" name="모서리가 둥근 직사각형 86">
            <a:hlinkClick r:id="" action="ppaction://noaction"/>
          </p:cNvPr>
          <p:cNvSpPr/>
          <p:nvPr/>
        </p:nvSpPr>
        <p:spPr>
          <a:xfrm>
            <a:off x="8058845" y="335933"/>
            <a:ext cx="676941" cy="1984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LETO</a:t>
            </a:r>
            <a:endParaRPr kumimoji="1" lang="en-US" altLang="ko-KR" sz="100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78" name="모서리가 둥근 직사각형 177">
            <a:hlinkClick r:id="rId3" action="ppaction://hlinksldjump"/>
          </p:cNvPr>
          <p:cNvSpPr/>
          <p:nvPr/>
        </p:nvSpPr>
        <p:spPr>
          <a:xfrm>
            <a:off x="4432013" y="1937768"/>
            <a:ext cx="3043685" cy="243535"/>
          </a:xfrm>
          <a:prstGeom prst="roundRect">
            <a:avLst>
              <a:gd name="adj" fmla="val 13075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(V)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Machine L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earning </a:t>
            </a:r>
            <a:r>
              <a:rPr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기본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79" name="모서리가 둥근 직사각형 178">
            <a:hlinkClick r:id="rId4" action="ppaction://hlinksldjump"/>
          </p:cNvPr>
          <p:cNvSpPr/>
          <p:nvPr/>
        </p:nvSpPr>
        <p:spPr>
          <a:xfrm>
            <a:off x="4424567" y="2512818"/>
            <a:ext cx="3051131" cy="240842"/>
          </a:xfrm>
          <a:prstGeom prst="roundRect">
            <a:avLst>
              <a:gd name="adj" fmla="val 10701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(V) </a:t>
            </a: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Deep </a:t>
            </a: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Learning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기본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80" name="모서리가 둥근 직사각형 179">
            <a:hlinkClick r:id="rId5" action="ppaction://hlinksldjump"/>
          </p:cNvPr>
          <p:cNvSpPr/>
          <p:nvPr/>
        </p:nvSpPr>
        <p:spPr>
          <a:xfrm>
            <a:off x="1122011" y="4252567"/>
            <a:ext cx="3108638" cy="246221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0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(V)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영상처리 기본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722" y="728843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800" spc="-1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과정명</a:t>
            </a:r>
            <a: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프로파일</a:t>
            </a:r>
            <a:b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링크 연결됨</a:t>
            </a:r>
            <a:r>
              <a:rPr lang="en-US" altLang="ko-KR" sz="8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800" spc="-15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38389" y="174568"/>
            <a:ext cx="1579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700">
                <a:solidFill>
                  <a:srgbClr val="006600"/>
                </a:solidFill>
              </a:defRPr>
            </a:lvl1pPr>
          </a:lstStyle>
          <a:p>
            <a:r>
              <a:rPr lang="en-US" altLang="ko-KR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&gt;</a:t>
            </a:r>
            <a:r>
              <a:rPr lang="ko-KR" altLang="en-US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김대욱 </a:t>
            </a:r>
            <a:r>
              <a:rPr lang="en-US" altLang="ko-KR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Blog</a:t>
            </a:r>
            <a:r>
              <a:rPr lang="ko-KR" altLang="en-US" sz="8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상시 확인 가능</a:t>
            </a:r>
          </a:p>
        </p:txBody>
      </p:sp>
      <p:sp>
        <p:nvSpPr>
          <p:cNvPr id="13" name="모서리가 둥근 직사각형 198">
            <a:hlinkClick r:id="rId6" action="ppaction://hlinksldjump"/>
            <a:extLst>
              <a:ext uri="{FF2B5EF4-FFF2-40B4-BE49-F238E27FC236}">
                <a16:creationId xmlns:a16="http://schemas.microsoft.com/office/drawing/2014/main" id="{A9E34D0C-9DC0-8ED0-65F3-FE9966C54FD5}"/>
              </a:ext>
            </a:extLst>
          </p:cNvPr>
          <p:cNvSpPr/>
          <p:nvPr/>
        </p:nvSpPr>
        <p:spPr>
          <a:xfrm>
            <a:off x="4424567" y="3084509"/>
            <a:ext cx="3051131" cy="240842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i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(e) AX Coreman Advanced</a:t>
            </a:r>
            <a:endParaRPr lang="ko-KR" altLang="en-US" sz="700" i="1" kern="0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모서리가 둥근 직사각형 102">
            <a:hlinkClick r:id="rId7" action="ppaction://hlinksldjump"/>
            <a:extLst>
              <a:ext uri="{FF2B5EF4-FFF2-40B4-BE49-F238E27FC236}">
                <a16:creationId xmlns:a16="http://schemas.microsoft.com/office/drawing/2014/main" id="{879595D3-9B1D-A7C8-8695-5B4DE3EEF5D7}"/>
              </a:ext>
            </a:extLst>
          </p:cNvPr>
          <p:cNvSpPr/>
          <p:nvPr/>
        </p:nvSpPr>
        <p:spPr>
          <a:xfrm>
            <a:off x="4424567" y="2226757"/>
            <a:ext cx="3051131" cy="227988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수학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통계 기반 </a:t>
            </a:r>
            <a:r>
              <a:rPr lang="ko-KR" altLang="en-US" sz="1000" kern="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알고리즘 이해</a:t>
            </a:r>
            <a:endParaRPr lang="en-US" altLang="ko-KR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7" name="모서리가 둥근 직사각형 105">
            <a:hlinkClick r:id="rId8" action="ppaction://hlinksldjump"/>
            <a:extLst>
              <a:ext uri="{FF2B5EF4-FFF2-40B4-BE49-F238E27FC236}">
                <a16:creationId xmlns:a16="http://schemas.microsoft.com/office/drawing/2014/main" id="{085F295E-EF7C-8EE7-1543-FD3237893D07}"/>
              </a:ext>
            </a:extLst>
          </p:cNvPr>
          <p:cNvSpPr/>
          <p:nvPr/>
        </p:nvSpPr>
        <p:spPr>
          <a:xfrm>
            <a:off x="4417535" y="2804924"/>
            <a:ext cx="3058163" cy="227988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인공신경망 </a:t>
            </a:r>
            <a:r>
              <a:rPr lang="ko-KR" altLang="en-US" sz="1000" kern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기반 머신러닝</a:t>
            </a:r>
            <a:endParaRPr lang="en-US" altLang="ko-KR" sz="1000" kern="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pSp>
        <p:nvGrpSpPr>
          <p:cNvPr id="7" name="그룹 57">
            <a:extLst>
              <a:ext uri="{FF2B5EF4-FFF2-40B4-BE49-F238E27FC236}">
                <a16:creationId xmlns:a16="http://schemas.microsoft.com/office/drawing/2014/main" id="{CE7E6A85-7AE4-813D-02AE-AF41C70A1CDF}"/>
              </a:ext>
            </a:extLst>
          </p:cNvPr>
          <p:cNvGrpSpPr>
            <a:grpSpLocks/>
          </p:cNvGrpSpPr>
          <p:nvPr/>
        </p:nvGrpSpPr>
        <p:grpSpPr bwMode="auto">
          <a:xfrm>
            <a:off x="7616417" y="722009"/>
            <a:ext cx="2076917" cy="284297"/>
            <a:chOff x="1505168" y="909860"/>
            <a:chExt cx="1432191" cy="287622"/>
          </a:xfrm>
        </p:grpSpPr>
        <p:sp>
          <p:nvSpPr>
            <p:cNvPr id="10" name="모서리가 둥근 직사각형 89">
              <a:extLst>
                <a:ext uri="{FF2B5EF4-FFF2-40B4-BE49-F238E27FC236}">
                  <a16:creationId xmlns:a16="http://schemas.microsoft.com/office/drawing/2014/main" id="{8384035F-51B6-A7A4-4F1B-39E74755AEF8}"/>
                </a:ext>
              </a:extLst>
            </p:cNvPr>
            <p:cNvSpPr/>
            <p:nvPr/>
          </p:nvSpPr>
          <p:spPr>
            <a:xfrm>
              <a:off x="1505168" y="914628"/>
              <a:ext cx="1432191" cy="282854"/>
            </a:xfrm>
            <a:prstGeom prst="roundRect">
              <a:avLst>
                <a:gd name="adj" fmla="val 12954"/>
              </a:avLst>
            </a:prstGeom>
            <a:solidFill>
              <a:srgbClr val="231F20">
                <a:lumMod val="65000"/>
                <a:lumOff val="3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16" name="직사각형 59">
              <a:extLst>
                <a:ext uri="{FF2B5EF4-FFF2-40B4-BE49-F238E27FC236}">
                  <a16:creationId xmlns:a16="http://schemas.microsoft.com/office/drawing/2014/main" id="{C08E664C-A0C0-3590-4730-26F762EFE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249" y="909860"/>
              <a:ext cx="638032" cy="280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고급</a:t>
              </a:r>
              <a:r>
                <a:rPr kumimoji="0" lang="en-US" altLang="ko-KR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/</a:t>
              </a:r>
              <a:r>
                <a:rPr kumimoji="0" lang="ko-KR" altLang="en-US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전문가</a:t>
              </a:r>
            </a:p>
          </p:txBody>
        </p:sp>
      </p:grpSp>
      <p:grpSp>
        <p:nvGrpSpPr>
          <p:cNvPr id="18" name="그룹 57">
            <a:extLst>
              <a:ext uri="{FF2B5EF4-FFF2-40B4-BE49-F238E27FC236}">
                <a16:creationId xmlns:a16="http://schemas.microsoft.com/office/drawing/2014/main" id="{760B9D99-8C3B-0627-4F58-4B0366BBCCA2}"/>
              </a:ext>
            </a:extLst>
          </p:cNvPr>
          <p:cNvGrpSpPr>
            <a:grpSpLocks/>
          </p:cNvGrpSpPr>
          <p:nvPr/>
        </p:nvGrpSpPr>
        <p:grpSpPr bwMode="auto">
          <a:xfrm>
            <a:off x="1032133" y="739023"/>
            <a:ext cx="3198516" cy="284297"/>
            <a:chOff x="1505168" y="909860"/>
            <a:chExt cx="1432191" cy="287622"/>
          </a:xfrm>
        </p:grpSpPr>
        <p:sp>
          <p:nvSpPr>
            <p:cNvPr id="19" name="모서리가 둥근 직사각형 79">
              <a:extLst>
                <a:ext uri="{FF2B5EF4-FFF2-40B4-BE49-F238E27FC236}">
                  <a16:creationId xmlns:a16="http://schemas.microsoft.com/office/drawing/2014/main" id="{CA0010CA-45CE-24A1-AACD-AF4F2C1B9446}"/>
                </a:ext>
              </a:extLst>
            </p:cNvPr>
            <p:cNvSpPr/>
            <p:nvPr/>
          </p:nvSpPr>
          <p:spPr>
            <a:xfrm>
              <a:off x="1505168" y="914628"/>
              <a:ext cx="1432191" cy="282854"/>
            </a:xfrm>
            <a:prstGeom prst="roundRect">
              <a:avLst>
                <a:gd name="adj" fmla="val 12954"/>
              </a:avLst>
            </a:prstGeom>
            <a:solidFill>
              <a:srgbClr val="231F20">
                <a:lumMod val="65000"/>
                <a:lumOff val="3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0" name="직사각형 59">
              <a:extLst>
                <a:ext uri="{FF2B5EF4-FFF2-40B4-BE49-F238E27FC236}">
                  <a16:creationId xmlns:a16="http://schemas.microsoft.com/office/drawing/2014/main" id="{49C6D2CE-EDDB-650B-DABD-F7F825000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758" y="909860"/>
              <a:ext cx="209016" cy="280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초급</a:t>
              </a:r>
            </a:p>
          </p:txBody>
        </p:sp>
      </p:grpSp>
      <p:grpSp>
        <p:nvGrpSpPr>
          <p:cNvPr id="21" name="그룹 57">
            <a:extLst>
              <a:ext uri="{FF2B5EF4-FFF2-40B4-BE49-F238E27FC236}">
                <a16:creationId xmlns:a16="http://schemas.microsoft.com/office/drawing/2014/main" id="{3895CFF9-3C75-106F-A97A-03C06C043997}"/>
              </a:ext>
            </a:extLst>
          </p:cNvPr>
          <p:cNvGrpSpPr>
            <a:grpSpLocks/>
          </p:cNvGrpSpPr>
          <p:nvPr/>
        </p:nvGrpSpPr>
        <p:grpSpPr bwMode="auto">
          <a:xfrm>
            <a:off x="4301412" y="731948"/>
            <a:ext cx="3244242" cy="284297"/>
            <a:chOff x="1505168" y="909860"/>
            <a:chExt cx="1432191" cy="287622"/>
          </a:xfrm>
        </p:grpSpPr>
        <p:sp>
          <p:nvSpPr>
            <p:cNvPr id="22" name="모서리가 둥근 직사각형 161">
              <a:extLst>
                <a:ext uri="{FF2B5EF4-FFF2-40B4-BE49-F238E27FC236}">
                  <a16:creationId xmlns:a16="http://schemas.microsoft.com/office/drawing/2014/main" id="{205FC51A-B36B-91E3-7EDE-BC4D3F635259}"/>
                </a:ext>
              </a:extLst>
            </p:cNvPr>
            <p:cNvSpPr/>
            <p:nvPr/>
          </p:nvSpPr>
          <p:spPr>
            <a:xfrm>
              <a:off x="1505168" y="914628"/>
              <a:ext cx="1432191" cy="282854"/>
            </a:xfrm>
            <a:prstGeom prst="roundRect">
              <a:avLst>
                <a:gd name="adj" fmla="val 12954"/>
              </a:avLst>
            </a:prstGeom>
            <a:solidFill>
              <a:srgbClr val="231F20">
                <a:lumMod val="65000"/>
                <a:lumOff val="3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3" name="직사각형 59">
              <a:extLst>
                <a:ext uri="{FF2B5EF4-FFF2-40B4-BE49-F238E27FC236}">
                  <a16:creationId xmlns:a16="http://schemas.microsoft.com/office/drawing/2014/main" id="{61802BB5-0117-198D-091E-4DF92F2D6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229" y="909860"/>
              <a:ext cx="206069" cy="280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2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중급</a:t>
              </a:r>
            </a:p>
          </p:txBody>
        </p:sp>
      </p:grpSp>
      <p:sp>
        <p:nvSpPr>
          <p:cNvPr id="24" name="모서리가 둥근 직사각형 76">
            <a:hlinkClick r:id="rId9" action="ppaction://hlinksldjump"/>
            <a:extLst>
              <a:ext uri="{FF2B5EF4-FFF2-40B4-BE49-F238E27FC236}">
                <a16:creationId xmlns:a16="http://schemas.microsoft.com/office/drawing/2014/main" id="{20DADE3D-5D3B-1CBB-75C3-EA3355359659}"/>
              </a:ext>
            </a:extLst>
          </p:cNvPr>
          <p:cNvSpPr/>
          <p:nvPr/>
        </p:nvSpPr>
        <p:spPr>
          <a:xfrm>
            <a:off x="7702871" y="1721140"/>
            <a:ext cx="1814350" cy="243536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* (AI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) AI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석사</a:t>
            </a:r>
          </a:p>
        </p:txBody>
      </p:sp>
      <p:sp>
        <p:nvSpPr>
          <p:cNvPr id="25" name="모서리가 둥근 직사각형 78">
            <a:hlinkClick r:id="rId10" action="ppaction://hlinksldjump"/>
            <a:extLst>
              <a:ext uri="{FF2B5EF4-FFF2-40B4-BE49-F238E27FC236}">
                <a16:creationId xmlns:a16="http://schemas.microsoft.com/office/drawing/2014/main" id="{36306AB1-9030-1E27-B186-30456C3BE7C6}"/>
              </a:ext>
            </a:extLst>
          </p:cNvPr>
          <p:cNvSpPr/>
          <p:nvPr/>
        </p:nvSpPr>
        <p:spPr>
          <a:xfrm>
            <a:off x="7703466" y="2020822"/>
            <a:ext cx="1813728" cy="269994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(AI </a:t>
            </a:r>
            <a:r>
              <a:rPr lang="ko-KR" altLang="en-US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r>
              <a:rPr lang="en-US" altLang="ko-KR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AI </a:t>
            </a:r>
            <a:r>
              <a:rPr lang="ko-KR" altLang="en-US" sz="10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박사</a:t>
            </a:r>
          </a:p>
        </p:txBody>
      </p:sp>
      <p:sp>
        <p:nvSpPr>
          <p:cNvPr id="26" name="모서리가 둥근 직사각형 99">
            <a:hlinkClick r:id="rId11" action="ppaction://hlinksldjump"/>
            <a:extLst>
              <a:ext uri="{FF2B5EF4-FFF2-40B4-BE49-F238E27FC236}">
                <a16:creationId xmlns:a16="http://schemas.microsoft.com/office/drawing/2014/main" id="{4121C315-641E-EBC5-69EA-9532820DE3B4}"/>
              </a:ext>
            </a:extLst>
          </p:cNvPr>
          <p:cNvSpPr/>
          <p:nvPr/>
        </p:nvSpPr>
        <p:spPr>
          <a:xfrm>
            <a:off x="4417535" y="3657542"/>
            <a:ext cx="3058164" cy="240842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(AI 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AI Project Design Course</a:t>
            </a:r>
          </a:p>
        </p:txBody>
      </p:sp>
      <p:sp>
        <p:nvSpPr>
          <p:cNvPr id="27" name="모서리가 둥근 직사각형 105">
            <a:hlinkClick r:id="rId12" action="ppaction://hlinksldjump"/>
            <a:extLst>
              <a:ext uri="{FF2B5EF4-FFF2-40B4-BE49-F238E27FC236}">
                <a16:creationId xmlns:a16="http://schemas.microsoft.com/office/drawing/2014/main" id="{8193BC69-CD66-0D3C-EDFF-C4D5D7F8895F}"/>
              </a:ext>
            </a:extLst>
          </p:cNvPr>
          <p:cNvSpPr/>
          <p:nvPr/>
        </p:nvSpPr>
        <p:spPr>
          <a:xfrm>
            <a:off x="5958584" y="3952998"/>
            <a:ext cx="3065611" cy="252547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(V) </a:t>
            </a:r>
            <a:r>
              <a:rPr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 </a:t>
            </a: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Project Challenge</a:t>
            </a:r>
          </a:p>
        </p:txBody>
      </p:sp>
      <p:sp>
        <p:nvSpPr>
          <p:cNvPr id="28" name="모서리가 둥근 직사각형 68">
            <a:hlinkClick r:id="rId13" action="ppaction://hlinksldjump"/>
            <a:extLst>
              <a:ext uri="{FF2B5EF4-FFF2-40B4-BE49-F238E27FC236}">
                <a16:creationId xmlns:a16="http://schemas.microsoft.com/office/drawing/2014/main" id="{8E86B750-9792-1A37-D3AC-E2DF61FD1CED}"/>
              </a:ext>
            </a:extLst>
          </p:cNvPr>
          <p:cNvSpPr/>
          <p:nvPr/>
        </p:nvSpPr>
        <p:spPr>
          <a:xfrm>
            <a:off x="7698245" y="1098413"/>
            <a:ext cx="1813729" cy="241774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(V) AI Project Challenge</a:t>
            </a:r>
          </a:p>
        </p:txBody>
      </p:sp>
      <p:sp>
        <p:nvSpPr>
          <p:cNvPr id="30" name="모서리가 둥근 직사각형 75">
            <a:hlinkClick r:id="rId14" action="ppaction://hlinksldjump"/>
            <a:extLst>
              <a:ext uri="{FF2B5EF4-FFF2-40B4-BE49-F238E27FC236}">
                <a16:creationId xmlns:a16="http://schemas.microsoft.com/office/drawing/2014/main" id="{FB97420B-B1A5-DDAE-7167-D55EACBC9329}"/>
              </a:ext>
            </a:extLst>
          </p:cNvPr>
          <p:cNvSpPr/>
          <p:nvPr/>
        </p:nvSpPr>
        <p:spPr>
          <a:xfrm>
            <a:off x="7702871" y="1396332"/>
            <a:ext cx="1818214" cy="268663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vert="horz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* (AI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) AI Expert Course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모서리가 둥근 직사각형 53">
            <a:hlinkClick r:id="rId15" action="ppaction://hlinksldjump"/>
          </p:cNvPr>
          <p:cNvSpPr/>
          <p:nvPr/>
        </p:nvSpPr>
        <p:spPr>
          <a:xfrm>
            <a:off x="1146994" y="5007295"/>
            <a:ext cx="3083653" cy="244360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MAS Spotfire </a:t>
            </a:r>
            <a:r>
              <a:rPr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 과정</a:t>
            </a:r>
            <a:endParaRPr lang="en-US" altLang="ko-KR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모서리가 둥근 직사각형 68">
            <a:hlinkClick r:id="rId16" action="ppaction://hlinksldjump"/>
          </p:cNvPr>
          <p:cNvSpPr/>
          <p:nvPr/>
        </p:nvSpPr>
        <p:spPr>
          <a:xfrm>
            <a:off x="4417535" y="5023666"/>
            <a:ext cx="3043685" cy="227988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(V) MAS Core Member </a:t>
            </a:r>
            <a:r>
              <a:rPr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양성 과정</a:t>
            </a:r>
          </a:p>
        </p:txBody>
      </p:sp>
      <p:sp>
        <p:nvSpPr>
          <p:cNvPr id="31" name="모서리가 둥근 직사각형 80">
            <a:hlinkClick r:id="rId17" action="ppaction://hlinksldjump"/>
          </p:cNvPr>
          <p:cNvSpPr/>
          <p:nvPr/>
        </p:nvSpPr>
        <p:spPr>
          <a:xfrm>
            <a:off x="1149289" y="5904991"/>
            <a:ext cx="6326409" cy="404403"/>
          </a:xfrm>
          <a:prstGeom prst="roundRect">
            <a:avLst>
              <a:gd name="adj" fmla="val 7322"/>
            </a:avLst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온라인 상시 자율학습을 위한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주제별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 (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총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11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b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kumimoji="1" lang="en-US" altLang="ko-KR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LG AX </a:t>
            </a:r>
            <a:r>
              <a:rPr kumimoji="1" lang="ko-KR" altLang="en-US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개념</a:t>
            </a:r>
            <a:r>
              <a:rPr kumimoji="1" lang="en-US" altLang="ko-KR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kumimoji="1" lang="ko-KR" altLang="en-US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 분석</a:t>
            </a:r>
            <a:r>
              <a:rPr kumimoji="1" lang="en-US" altLang="ko-KR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kumimoji="1" lang="ko-KR" altLang="en-US" sz="900" kern="0" dirty="0" err="1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kumimoji="1" lang="en-US" altLang="ko-KR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kumimoji="1" lang="ko-KR" altLang="en-US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</a:t>
            </a:r>
            <a:r>
              <a:rPr kumimoji="1" lang="en-US" altLang="ko-KR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kumimoji="1" lang="ko-KR" altLang="en-US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코딩</a:t>
            </a:r>
            <a:r>
              <a:rPr kumimoji="1" lang="en-US" altLang="ko-KR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kumimoji="1" lang="ko-KR" altLang="en-US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</a:t>
            </a:r>
            <a:r>
              <a:rPr kumimoji="1" lang="en-US" altLang="ko-KR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 </a:t>
            </a:r>
            <a:r>
              <a:rPr kumimoji="1" lang="ko-KR" altLang="en-US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등</a:t>
            </a:r>
            <a:r>
              <a:rPr kumimoji="1" lang="en-US" altLang="ko-KR" sz="900" kern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I</a:t>
            </a:r>
            <a:endParaRPr kumimoji="1" lang="en-US" altLang="ko-KR" sz="1000" kern="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6" name="모서리가 둥근 직사각형 85">
            <a:hlinkClick r:id="rId18" action="ppaction://hlinksldjump"/>
          </p:cNvPr>
          <p:cNvSpPr/>
          <p:nvPr/>
        </p:nvSpPr>
        <p:spPr>
          <a:xfrm>
            <a:off x="1146514" y="5594762"/>
            <a:ext cx="3084133" cy="246221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업무자동화를 위한 </a:t>
            </a: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RPA </a:t>
            </a:r>
            <a:r>
              <a:rPr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 </a:t>
            </a: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Skill-Up</a:t>
            </a:r>
            <a:endParaRPr lang="ko-KR" altLang="en-US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모서리가 둥근 직사각형 86">
            <a:hlinkClick r:id="rId19" action="ppaction://hlinksldjump"/>
          </p:cNvPr>
          <p:cNvSpPr/>
          <p:nvPr/>
        </p:nvSpPr>
        <p:spPr>
          <a:xfrm>
            <a:off x="1146515" y="5304930"/>
            <a:ext cx="3084133" cy="232937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개발 엔지니어 </a:t>
            </a: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 </a:t>
            </a:r>
            <a:r>
              <a:rPr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 </a:t>
            </a:r>
            <a:r>
              <a:rPr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Skill-Up</a:t>
            </a:r>
            <a:endParaRPr lang="ko-KR" altLang="en-US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모서리가 둥근 직사각형 125">
            <a:hlinkClick r:id="rId20" action="ppaction://hlinksldjump"/>
            <a:extLst>
              <a:ext uri="{FF2B5EF4-FFF2-40B4-BE49-F238E27FC236}">
                <a16:creationId xmlns:a16="http://schemas.microsoft.com/office/drawing/2014/main" id="{27F809C8-02A0-659C-BE0D-9C1E7FCC5A8C}"/>
              </a:ext>
            </a:extLst>
          </p:cNvPr>
          <p:cNvSpPr/>
          <p:nvPr/>
        </p:nvSpPr>
        <p:spPr>
          <a:xfrm>
            <a:off x="4424567" y="1385562"/>
            <a:ext cx="3051132" cy="2275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수학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선형대수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확률통계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kumimoji="1" lang="ko-KR" altLang="en-US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1" name="모서리가 둥근 직사각형 125">
            <a:hlinkClick r:id="rId21" action="ppaction://hlinksldjump"/>
            <a:extLst>
              <a:ext uri="{FF2B5EF4-FFF2-40B4-BE49-F238E27FC236}">
                <a16:creationId xmlns:a16="http://schemas.microsoft.com/office/drawing/2014/main" id="{87F98502-FA78-A06D-D367-AE8349E86239}"/>
              </a:ext>
            </a:extLst>
          </p:cNvPr>
          <p:cNvSpPr/>
          <p:nvPr/>
        </p:nvSpPr>
        <p:spPr>
          <a:xfrm>
            <a:off x="4432014" y="1664678"/>
            <a:ext cx="3051132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이산수학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(2023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kumimoji="1" lang="ko-KR" altLang="en-US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모서리가 둥근 직사각형 125">
            <a:hlinkClick r:id="rId22" action="ppaction://hlinksldjump"/>
            <a:extLst>
              <a:ext uri="{FF2B5EF4-FFF2-40B4-BE49-F238E27FC236}">
                <a16:creationId xmlns:a16="http://schemas.microsoft.com/office/drawing/2014/main" id="{6C3FEC0C-5068-46C1-1AF8-C959F99BDFB0}"/>
              </a:ext>
            </a:extLst>
          </p:cNvPr>
          <p:cNvSpPr/>
          <p:nvPr/>
        </p:nvSpPr>
        <p:spPr>
          <a:xfrm>
            <a:off x="4427676" y="1106446"/>
            <a:ext cx="3051132" cy="2275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수학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미분학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kumimoji="1" lang="ko-KR" altLang="en-US" sz="10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모서리가 둥근 직사각형 80">
            <a:hlinkClick r:id="rId23" action="ppaction://hlinksldjump"/>
            <a:extLst>
              <a:ext uri="{FF2B5EF4-FFF2-40B4-BE49-F238E27FC236}">
                <a16:creationId xmlns:a16="http://schemas.microsoft.com/office/drawing/2014/main" id="{7C2EC2EB-A6C0-2039-2AD3-E2F625C26C97}"/>
              </a:ext>
            </a:extLst>
          </p:cNvPr>
          <p:cNvSpPr/>
          <p:nvPr/>
        </p:nvSpPr>
        <p:spPr>
          <a:xfrm>
            <a:off x="4432013" y="4263916"/>
            <a:ext cx="3043685" cy="229270"/>
          </a:xfrm>
          <a:prstGeom prst="roundRect">
            <a:avLst>
              <a:gd name="adj" fmla="val 15461"/>
            </a:avLst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실무 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(Python, </a:t>
            </a:r>
            <a:r>
              <a:rPr kumimoji="1" lang="en-US" altLang="ko-KR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Matlab</a:t>
            </a: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C++)</a:t>
            </a:r>
            <a:endParaRPr kumimoji="1" lang="en-US" altLang="ko-KR" sz="1000" kern="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모서리가 둥근 직사각형 91">
            <a:extLst>
              <a:ext uri="{FF2B5EF4-FFF2-40B4-BE49-F238E27FC236}">
                <a16:creationId xmlns:a16="http://schemas.microsoft.com/office/drawing/2014/main" id="{D4B3CFB7-D2BB-A330-3466-C3B041D5074B}"/>
              </a:ext>
            </a:extLst>
          </p:cNvPr>
          <p:cNvSpPr/>
          <p:nvPr/>
        </p:nvSpPr>
        <p:spPr bwMode="auto">
          <a:xfrm>
            <a:off x="168326" y="4916866"/>
            <a:ext cx="794907" cy="1469855"/>
          </a:xfrm>
          <a:prstGeom prst="roundRect">
            <a:avLst>
              <a:gd name="adj" fmla="val 12954"/>
            </a:avLst>
          </a:prstGeom>
          <a:solidFill>
            <a:srgbClr val="1F497D">
              <a:lumMod val="60000"/>
              <a:lumOff val="40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kumimoji="0" lang="ko-KR" altLang="en-US" sz="1200" b="1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일반</a:t>
            </a:r>
          </a:p>
        </p:txBody>
      </p:sp>
      <p:sp>
        <p:nvSpPr>
          <p:cNvPr id="37" name="모서리가 둥근 직사각형 152">
            <a:hlinkClick r:id="rId24" action="ppaction://hlinksldjump"/>
            <a:extLst>
              <a:ext uri="{FF2B5EF4-FFF2-40B4-BE49-F238E27FC236}">
                <a16:creationId xmlns:a16="http://schemas.microsoft.com/office/drawing/2014/main" id="{7DF8039D-B38F-6B75-56B8-008D6D611224}"/>
              </a:ext>
            </a:extLst>
          </p:cNvPr>
          <p:cNvSpPr/>
          <p:nvPr/>
        </p:nvSpPr>
        <p:spPr>
          <a:xfrm>
            <a:off x="4427676" y="3376948"/>
            <a:ext cx="3043324" cy="227988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kumimoji="1" lang="ko-KR" altLang="en-US" sz="1000" i="1" kern="0" dirty="0" err="1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실무 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Master 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kumimoji="1" lang="ko-KR" altLang="en-US" sz="1000" i="1" kern="0" dirty="0" err="1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</a:t>
            </a:r>
            <a:r>
              <a:rPr kumimoji="1" lang="ko-KR" altLang="en-US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</a:t>
            </a:r>
            <a:r>
              <a:rPr kumimoji="1" lang="en-US" altLang="ko-KR" sz="1000" i="1" kern="0" dirty="0">
                <a:solidFill>
                  <a:srgbClr val="0070C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D3D8F5-BFE0-8767-0B51-560B24207CE9}"/>
              </a:ext>
            </a:extLst>
          </p:cNvPr>
          <p:cNvSpPr txBox="1"/>
          <p:nvPr/>
        </p:nvSpPr>
        <p:spPr>
          <a:xfrm>
            <a:off x="259904" y="4579154"/>
            <a:ext cx="593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dirty="0"/>
              <a:t>* </a:t>
            </a:r>
            <a:r>
              <a:rPr lang="ko-KR" altLang="en-US" dirty="0"/>
              <a:t>총</a:t>
            </a:r>
            <a:r>
              <a:rPr lang="en-US" altLang="ko-KR" dirty="0"/>
              <a:t> 18</a:t>
            </a:r>
            <a:r>
              <a:rPr lang="ko-KR" altLang="en-US" dirty="0"/>
              <a:t>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82A2C7-9CF2-0DC4-6B55-1E6592778D6F}"/>
              </a:ext>
            </a:extLst>
          </p:cNvPr>
          <p:cNvSpPr txBox="1"/>
          <p:nvPr/>
        </p:nvSpPr>
        <p:spPr>
          <a:xfrm>
            <a:off x="300333" y="6103156"/>
            <a:ext cx="5405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dirty="0"/>
              <a:t>* </a:t>
            </a:r>
            <a:r>
              <a:rPr lang="ko-KR" altLang="en-US" dirty="0"/>
              <a:t>총</a:t>
            </a:r>
            <a:r>
              <a:rPr lang="en-US" altLang="ko-KR" dirty="0"/>
              <a:t> 5</a:t>
            </a:r>
            <a:r>
              <a:rPr lang="ko-KR" altLang="en-US" dirty="0"/>
              <a:t>개</a:t>
            </a:r>
          </a:p>
        </p:txBody>
      </p:sp>
      <p:sp>
        <p:nvSpPr>
          <p:cNvPr id="42" name="모서리가 둥근 직사각형 125">
            <a:hlinkClick r:id="rId25" action="ppaction://hlinksldjump"/>
            <a:extLst>
              <a:ext uri="{FF2B5EF4-FFF2-40B4-BE49-F238E27FC236}">
                <a16:creationId xmlns:a16="http://schemas.microsoft.com/office/drawing/2014/main" id="{0E4D3CAB-9744-C475-600C-2EF1182FF432}"/>
              </a:ext>
            </a:extLst>
          </p:cNvPr>
          <p:cNvSpPr/>
          <p:nvPr/>
        </p:nvSpPr>
        <p:spPr>
          <a:xfrm>
            <a:off x="4435121" y="4541614"/>
            <a:ext cx="3051132" cy="221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kumimoji="1" lang="ko-KR" altLang="en-US" sz="10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시각딥러닝을</a:t>
            </a:r>
            <a:r>
              <a:rPr kumimoji="1" lang="ko-KR" altLang="en-US" sz="10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이용한 영상처리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44D998-A9D1-FEF5-4852-66DF0BD0DD11}"/>
              </a:ext>
            </a:extLst>
          </p:cNvPr>
          <p:cNvSpPr txBox="1"/>
          <p:nvPr/>
        </p:nvSpPr>
        <p:spPr>
          <a:xfrm>
            <a:off x="1166109" y="1143368"/>
            <a:ext cx="2541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[K-MOOC]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빅데이터를 위한 확률과 통계 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 무료 이러닝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000" spc="-150" dirty="0">
              <a:solidFill>
                <a:srgbClr val="008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실행 단추: 앞으로 또는 다음 59">
            <a:hlinkClick r:id="rId26" action="ppaction://hlinksldjump" highlightClick="1"/>
            <a:extLst>
              <a:ext uri="{FF2B5EF4-FFF2-40B4-BE49-F238E27FC236}">
                <a16:creationId xmlns:a16="http://schemas.microsoft.com/office/drawing/2014/main" id="{963ECEC1-5390-65DE-0CDC-95A390843DC2}"/>
              </a:ext>
            </a:extLst>
          </p:cNvPr>
          <p:cNvSpPr/>
          <p:nvPr/>
        </p:nvSpPr>
        <p:spPr>
          <a:xfrm>
            <a:off x="3685741" y="1213555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038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00000"/>
              </a:lnSpc>
              <a:spcAft>
                <a:spcPct val="0"/>
              </a:spcAft>
            </a:pPr>
            <a:r>
              <a:rPr kumimoji="1" lang="en-US" altLang="ko-KR" sz="2000" b="1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[</a:t>
            </a:r>
            <a:r>
              <a:rPr kumimoji="1" lang="ko-KR" altLang="en-US" sz="2000" b="1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참고</a:t>
            </a:r>
            <a:r>
              <a:rPr kumimoji="1" lang="en-US" altLang="ko-KR" sz="2000" b="1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] AX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전문인력 육성 활동 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Flow(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안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kumimoji="1" lang="en-US" altLang="ko-KR" sz="2000" b="1" kern="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/>
              </a:rPr>
              <a:t> </a:t>
            </a:r>
            <a:endParaRPr kumimoji="1" lang="ko-KR" altLang="en-US" sz="2000" b="1" kern="0" dirty="0">
              <a:solidFill>
                <a:srgbClr val="231F20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16916" y="1225263"/>
            <a:ext cx="1775778" cy="2023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83362" y="1225263"/>
            <a:ext cx="3666931" cy="2023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850294" y="1225263"/>
            <a:ext cx="2480078" cy="2023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고급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8332237" y="1225263"/>
            <a:ext cx="1076294" cy="2023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전문가</a:t>
            </a:r>
          </a:p>
        </p:txBody>
      </p:sp>
      <p:sp>
        <p:nvSpPr>
          <p:cNvPr id="10" name="모서리가 둥근 직사각형 9">
            <a:hlinkClick r:id="" action="ppaction://noaction"/>
          </p:cNvPr>
          <p:cNvSpPr/>
          <p:nvPr/>
        </p:nvSpPr>
        <p:spPr>
          <a:xfrm>
            <a:off x="1758311" y="2003687"/>
            <a:ext cx="936000" cy="3299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알고리즘</a:t>
            </a:r>
            <a:endParaRPr lang="en-US" altLang="ko-KR" sz="95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School</a:t>
            </a:r>
          </a:p>
        </p:txBody>
      </p:sp>
      <p:sp>
        <p:nvSpPr>
          <p:cNvPr id="11" name="모서리가 둥근 직사각형 10">
            <a:hlinkClick r:id="" action="ppaction://noaction"/>
          </p:cNvPr>
          <p:cNvSpPr/>
          <p:nvPr/>
        </p:nvSpPr>
        <p:spPr>
          <a:xfrm>
            <a:off x="8409488" y="2003687"/>
            <a:ext cx="936000" cy="329952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LG AI </a:t>
            </a:r>
            <a:r>
              <a:rPr lang="ko-KR" altLang="en-US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endParaRPr lang="en-US" altLang="ko-KR" sz="950" b="1" kern="0" dirty="0">
              <a:solidFill>
                <a:prstClr val="white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defTabSz="914400">
              <a:defRPr/>
            </a:pPr>
            <a:r>
              <a:rPr lang="ko-KR" altLang="en-US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석사</a:t>
            </a:r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박사</a:t>
            </a:r>
            <a:endParaRPr lang="en-US" altLang="ko-KR" sz="950" b="1" kern="0" dirty="0">
              <a:solidFill>
                <a:prstClr val="white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모서리가 둥근 직사각형 11">
            <a:hlinkClick r:id="" action="ppaction://noaction"/>
          </p:cNvPr>
          <p:cNvSpPr/>
          <p:nvPr/>
        </p:nvSpPr>
        <p:spPr>
          <a:xfrm>
            <a:off x="519028" y="2722370"/>
            <a:ext cx="873177" cy="3312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/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 </a:t>
            </a: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</a:t>
            </a:r>
            <a:endParaRPr lang="en-US" altLang="ko-KR" sz="95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defTabSz="914400"/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스킬  기본</a:t>
            </a:r>
            <a:endParaRPr lang="en-US" altLang="ko-KR" sz="95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3" name="모서리가 둥근 직사각형 12">
            <a:hlinkClick r:id="" action="ppaction://noaction"/>
          </p:cNvPr>
          <p:cNvSpPr/>
          <p:nvPr/>
        </p:nvSpPr>
        <p:spPr>
          <a:xfrm>
            <a:off x="3116848" y="3279429"/>
            <a:ext cx="936000" cy="329952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950" b="1" kern="0" dirty="0">
              <a:solidFill>
                <a:prstClr val="white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</a:p>
        </p:txBody>
      </p:sp>
      <p:sp>
        <p:nvSpPr>
          <p:cNvPr id="14" name="모서리가 둥근 직사각형 13">
            <a:hlinkClick r:id="" action="ppaction://noaction"/>
          </p:cNvPr>
          <p:cNvSpPr/>
          <p:nvPr/>
        </p:nvSpPr>
        <p:spPr>
          <a:xfrm>
            <a:off x="1758311" y="3895259"/>
            <a:ext cx="936000" cy="329952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950" b="1" kern="0" dirty="0">
              <a:solidFill>
                <a:prstClr val="white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e-learning</a:t>
            </a:r>
          </a:p>
        </p:txBody>
      </p:sp>
      <p:sp>
        <p:nvSpPr>
          <p:cNvPr id="15" name="모서리가 둥근 직사각형 14">
            <a:hlinkClick r:id="" action="ppaction://noaction"/>
          </p:cNvPr>
          <p:cNvSpPr/>
          <p:nvPr/>
        </p:nvSpPr>
        <p:spPr>
          <a:xfrm>
            <a:off x="2482935" y="1807621"/>
            <a:ext cx="222321" cy="240067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3w</a:t>
            </a:r>
          </a:p>
        </p:txBody>
      </p:sp>
      <p:sp>
        <p:nvSpPr>
          <p:cNvPr id="16" name="모서리가 둥근 직사각형 15">
            <a:hlinkClick r:id="" action="ppaction://noaction"/>
          </p:cNvPr>
          <p:cNvSpPr/>
          <p:nvPr/>
        </p:nvSpPr>
        <p:spPr>
          <a:xfrm>
            <a:off x="8836436" y="1783695"/>
            <a:ext cx="548380" cy="24218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36w / 1.5y</a:t>
            </a:r>
          </a:p>
        </p:txBody>
      </p:sp>
      <p:cxnSp>
        <p:nvCxnSpPr>
          <p:cNvPr id="17" name="꺾인 연결선 16"/>
          <p:cNvCxnSpPr>
            <a:stCxn id="12" idx="3"/>
            <a:endCxn id="10" idx="1"/>
          </p:cNvCxnSpPr>
          <p:nvPr/>
        </p:nvCxnSpPr>
        <p:spPr>
          <a:xfrm flipV="1">
            <a:off x="1392205" y="2168663"/>
            <a:ext cx="366106" cy="71930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꺾인 연결선 18"/>
          <p:cNvCxnSpPr>
            <a:stCxn id="49" idx="3"/>
            <a:endCxn id="11" idx="1"/>
          </p:cNvCxnSpPr>
          <p:nvPr/>
        </p:nvCxnSpPr>
        <p:spPr>
          <a:xfrm flipV="1">
            <a:off x="7993468" y="2168663"/>
            <a:ext cx="416020" cy="61667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꺾인 연결선 19"/>
          <p:cNvCxnSpPr>
            <a:stCxn id="38" idx="3"/>
          </p:cNvCxnSpPr>
          <p:nvPr/>
        </p:nvCxnSpPr>
        <p:spPr>
          <a:xfrm>
            <a:off x="7466965" y="2177042"/>
            <a:ext cx="280139" cy="453769"/>
          </a:xfrm>
          <a:prstGeom prst="bentConnector2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모서리가 둥근 직사각형 20">
            <a:hlinkClick r:id="" action="ppaction://noaction"/>
          </p:cNvPr>
          <p:cNvSpPr/>
          <p:nvPr/>
        </p:nvSpPr>
        <p:spPr>
          <a:xfrm>
            <a:off x="6190652" y="6395796"/>
            <a:ext cx="522476" cy="190135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914400">
              <a:defRPr/>
            </a:pP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 교육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2" name="모서리가 둥근 직사각형 21">
            <a:hlinkClick r:id="" action="ppaction://noaction"/>
          </p:cNvPr>
          <p:cNvSpPr/>
          <p:nvPr/>
        </p:nvSpPr>
        <p:spPr>
          <a:xfrm>
            <a:off x="8165432" y="6395796"/>
            <a:ext cx="519507" cy="190135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914400">
              <a:defRPr/>
            </a:pP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 교육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3" name="모서리가 둥근 직사각형 22">
            <a:hlinkClick r:id="" action="ppaction://noaction"/>
          </p:cNvPr>
          <p:cNvSpPr/>
          <p:nvPr/>
        </p:nvSpPr>
        <p:spPr>
          <a:xfrm>
            <a:off x="8963925" y="6395796"/>
            <a:ext cx="741603" cy="190135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914400">
              <a:defRPr/>
            </a:pP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일을 통한 육성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모서리가 둥근 직사각형 23">
            <a:hlinkClick r:id="" action="ppaction://noaction"/>
          </p:cNvPr>
          <p:cNvSpPr/>
          <p:nvPr/>
        </p:nvSpPr>
        <p:spPr>
          <a:xfrm>
            <a:off x="7023908" y="6397314"/>
            <a:ext cx="888685" cy="187098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914400"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LG AI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 교육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모서리가 둥근 직사각형 24">
            <a:hlinkClick r:id="" action="ppaction://noaction"/>
          </p:cNvPr>
          <p:cNvSpPr/>
          <p:nvPr/>
        </p:nvSpPr>
        <p:spPr>
          <a:xfrm>
            <a:off x="5169024" y="6389689"/>
            <a:ext cx="262739" cy="202349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ko-KR" altLang="en-US" sz="10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★</a:t>
            </a:r>
            <a:r>
              <a:rPr lang="en-US" altLang="ko-KR" sz="10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</a:p>
        </p:txBody>
      </p:sp>
      <p:sp>
        <p:nvSpPr>
          <p:cNvPr id="26" name="모서리가 둥근 직사각형 25">
            <a:hlinkClick r:id="" action="ppaction://noaction"/>
          </p:cNvPr>
          <p:cNvSpPr/>
          <p:nvPr/>
        </p:nvSpPr>
        <p:spPr>
          <a:xfrm>
            <a:off x="5389080" y="6408281"/>
            <a:ext cx="531642" cy="16516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914400">
              <a:defRPr/>
            </a:pP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신규 개발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모서리가 둥근 직사각형 26">
            <a:hlinkClick r:id="" action="ppaction://noaction"/>
          </p:cNvPr>
          <p:cNvSpPr/>
          <p:nvPr/>
        </p:nvSpPr>
        <p:spPr>
          <a:xfrm>
            <a:off x="6006832" y="6418863"/>
            <a:ext cx="142255" cy="14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endParaRPr lang="en-US" altLang="ko-KR" sz="9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모서리가 둥근 직사각형 27">
            <a:hlinkClick r:id="" action="ppaction://noaction"/>
          </p:cNvPr>
          <p:cNvSpPr/>
          <p:nvPr/>
        </p:nvSpPr>
        <p:spPr>
          <a:xfrm>
            <a:off x="7977336" y="6418863"/>
            <a:ext cx="142255" cy="144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endParaRPr lang="en-US" altLang="ko-KR" sz="9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모서리가 둥근 직사각형 28">
            <a:hlinkClick r:id="" action="ppaction://noaction"/>
          </p:cNvPr>
          <p:cNvSpPr/>
          <p:nvPr/>
        </p:nvSpPr>
        <p:spPr>
          <a:xfrm>
            <a:off x="8776913" y="6418863"/>
            <a:ext cx="142255" cy="144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endParaRPr lang="en-US" altLang="ko-KR" sz="9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0" name="모서리가 둥근 직사각형 29">
            <a:hlinkClick r:id="" action="ppaction://noaction"/>
          </p:cNvPr>
          <p:cNvSpPr/>
          <p:nvPr/>
        </p:nvSpPr>
        <p:spPr>
          <a:xfrm>
            <a:off x="6834352" y="6418863"/>
            <a:ext cx="142255" cy="144000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endParaRPr lang="en-US" altLang="ko-KR" sz="900" b="1" kern="0" dirty="0">
              <a:solidFill>
                <a:prstClr val="white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모서리가 둥근 직사각형 32">
            <a:hlinkClick r:id="" action="ppaction://noaction"/>
          </p:cNvPr>
          <p:cNvSpPr/>
          <p:nvPr/>
        </p:nvSpPr>
        <p:spPr>
          <a:xfrm>
            <a:off x="3116848" y="2003687"/>
            <a:ext cx="936000" cy="329912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/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Advanced</a:t>
            </a:r>
          </a:p>
          <a:p>
            <a:pPr algn="ctr" defTabSz="914400"/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Course</a:t>
            </a:r>
          </a:p>
        </p:txBody>
      </p:sp>
      <p:sp>
        <p:nvSpPr>
          <p:cNvPr id="34" name="모서리가 둥근 직사각형 33">
            <a:hlinkClick r:id="" action="ppaction://noaction"/>
          </p:cNvPr>
          <p:cNvSpPr/>
          <p:nvPr/>
        </p:nvSpPr>
        <p:spPr>
          <a:xfrm>
            <a:off x="3834306" y="1806562"/>
            <a:ext cx="254598" cy="24218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5d</a:t>
            </a:r>
          </a:p>
        </p:txBody>
      </p:sp>
      <p:cxnSp>
        <p:nvCxnSpPr>
          <p:cNvPr id="35" name="꺾인 연결선 34"/>
          <p:cNvCxnSpPr>
            <a:cxnSpLocks/>
            <a:stCxn id="33" idx="3"/>
            <a:endCxn id="37" idx="1"/>
          </p:cNvCxnSpPr>
          <p:nvPr/>
        </p:nvCxnSpPr>
        <p:spPr>
          <a:xfrm>
            <a:off x="4052848" y="2168643"/>
            <a:ext cx="252184" cy="126435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모서리가 둥근 직사각형 35">
            <a:hlinkClick r:id="" action="ppaction://noaction"/>
          </p:cNvPr>
          <p:cNvSpPr/>
          <p:nvPr/>
        </p:nvSpPr>
        <p:spPr>
          <a:xfrm>
            <a:off x="8404748" y="3279429"/>
            <a:ext cx="936000" cy="329952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AX/AI </a:t>
            </a: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석</a:t>
            </a: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박사</a:t>
            </a:r>
            <a:endParaRPr lang="en-US" altLang="ko-KR" sz="95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defTabSz="914400">
              <a:defRPr/>
            </a:pP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학위 파견</a:t>
            </a:r>
            <a:endParaRPr lang="en-US" altLang="ko-KR" sz="95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모서리가 둥근 직사각형 36">
            <a:hlinkClick r:id="" action="ppaction://noaction"/>
          </p:cNvPr>
          <p:cNvSpPr/>
          <p:nvPr/>
        </p:nvSpPr>
        <p:spPr>
          <a:xfrm>
            <a:off x="4305032" y="3268025"/>
            <a:ext cx="936000" cy="3299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/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Coreman </a:t>
            </a:r>
          </a:p>
          <a:p>
            <a:pPr algn="ctr" defTabSz="914400"/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Advanced</a:t>
            </a:r>
          </a:p>
        </p:txBody>
      </p:sp>
      <p:sp>
        <p:nvSpPr>
          <p:cNvPr id="38" name="모서리가 둥근 직사각형 37">
            <a:hlinkClick r:id="" action="ppaction://noaction"/>
          </p:cNvPr>
          <p:cNvSpPr/>
          <p:nvPr/>
        </p:nvSpPr>
        <p:spPr>
          <a:xfrm>
            <a:off x="6530965" y="2003647"/>
            <a:ext cx="936000" cy="346790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/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Expert </a:t>
            </a:r>
          </a:p>
          <a:p>
            <a:pPr algn="ctr" defTabSz="914400"/>
            <a:r>
              <a:rPr lang="en-US" altLang="ko-KR" sz="950" b="1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Course</a:t>
            </a:r>
          </a:p>
        </p:txBody>
      </p:sp>
      <p:grpSp>
        <p:nvGrpSpPr>
          <p:cNvPr id="39" name="그룹 38"/>
          <p:cNvGrpSpPr/>
          <p:nvPr/>
        </p:nvGrpSpPr>
        <p:grpSpPr>
          <a:xfrm>
            <a:off x="416916" y="974272"/>
            <a:ext cx="5373892" cy="176400"/>
            <a:chOff x="1568248" y="682195"/>
            <a:chExt cx="4671407" cy="167089"/>
          </a:xfrm>
        </p:grpSpPr>
        <p:cxnSp>
          <p:nvCxnSpPr>
            <p:cNvPr id="40" name="직선 연결선 39"/>
            <p:cNvCxnSpPr/>
            <p:nvPr/>
          </p:nvCxnSpPr>
          <p:spPr>
            <a:xfrm>
              <a:off x="1568248" y="765739"/>
              <a:ext cx="4671407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1" name="직선 연결선 40"/>
            <p:cNvCxnSpPr/>
            <p:nvPr/>
          </p:nvCxnSpPr>
          <p:spPr>
            <a:xfrm>
              <a:off x="1568248" y="682195"/>
              <a:ext cx="0" cy="16708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2" name="직선 연결선 41"/>
            <p:cNvCxnSpPr/>
            <p:nvPr/>
          </p:nvCxnSpPr>
          <p:spPr>
            <a:xfrm>
              <a:off x="6239373" y="682195"/>
              <a:ext cx="0" cy="16708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43" name="TextBox 42"/>
          <p:cNvSpPr txBox="1"/>
          <p:nvPr/>
        </p:nvSpPr>
        <p:spPr>
          <a:xfrm>
            <a:off x="2361053" y="824216"/>
            <a:ext cx="1548181" cy="25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 spc="-3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 defTabSz="914400">
              <a:lnSpc>
                <a:spcPct val="110000"/>
              </a:lnSpc>
              <a:buSzPct val="70000"/>
              <a:defRPr/>
            </a:pPr>
            <a:r>
              <a:rPr lang="en-US" altLang="ko-KR" sz="105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AX</a:t>
            </a:r>
            <a:r>
              <a:rPr lang="ko-KR" altLang="en-US" sz="105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과제 활용 및 참여 인력</a:t>
            </a:r>
            <a:endParaRPr lang="en-US" altLang="ko-KR" sz="1050" kern="0" dirty="0">
              <a:solidFill>
                <a:srgbClr val="006600"/>
              </a:solidFill>
              <a:effectLst>
                <a:glow rad="38100">
                  <a:prstClr val="white">
                    <a:alpha val="92000"/>
                  </a:prstClr>
                </a:glow>
              </a:effectLst>
              <a:latin typeface="Arial Narrow" panose="020B0606020202030204" pitchFamily="34" charset="0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5889104" y="974387"/>
            <a:ext cx="3528000" cy="176171"/>
            <a:chOff x="1568248" y="682195"/>
            <a:chExt cx="4671407" cy="167089"/>
          </a:xfrm>
        </p:grpSpPr>
        <p:cxnSp>
          <p:nvCxnSpPr>
            <p:cNvPr id="45" name="직선 연결선 44"/>
            <p:cNvCxnSpPr/>
            <p:nvPr/>
          </p:nvCxnSpPr>
          <p:spPr>
            <a:xfrm>
              <a:off x="1568248" y="765739"/>
              <a:ext cx="4671407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6" name="직선 연결선 45"/>
            <p:cNvCxnSpPr/>
            <p:nvPr/>
          </p:nvCxnSpPr>
          <p:spPr>
            <a:xfrm>
              <a:off x="1568248" y="682195"/>
              <a:ext cx="0" cy="16708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7" name="직선 연결선 46"/>
            <p:cNvCxnSpPr/>
            <p:nvPr/>
          </p:nvCxnSpPr>
          <p:spPr>
            <a:xfrm>
              <a:off x="6239373" y="682195"/>
              <a:ext cx="0" cy="16708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48" name="TextBox 47"/>
          <p:cNvSpPr txBox="1"/>
          <p:nvPr/>
        </p:nvSpPr>
        <p:spPr>
          <a:xfrm>
            <a:off x="7257256" y="824216"/>
            <a:ext cx="889026" cy="25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 spc="-3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/>
            </a:pPr>
            <a:r>
              <a:rPr lang="en-US" altLang="ko-KR" sz="105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AX</a:t>
            </a:r>
            <a:r>
              <a:rPr kumimoji="0" lang="ko-KR" altLang="en-US" sz="1050" b="0" i="0" u="none" strike="noStrike" kern="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 전문 인력</a:t>
            </a:r>
            <a:endParaRPr kumimoji="0" lang="en-US" altLang="ko-KR" sz="1050" b="0" i="0" u="none" strike="noStrike" kern="0" cap="none" spc="-30" normalizeH="0" baseline="0" noProof="0" dirty="0">
              <a:ln>
                <a:noFill/>
              </a:ln>
              <a:solidFill>
                <a:srgbClr val="006600"/>
              </a:solidFill>
              <a:effectLst>
                <a:glow rad="38100">
                  <a:prstClr val="white">
                    <a:alpha val="92000"/>
                  </a:prstClr>
                </a:glow>
              </a:effectLst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49" name="모서리가 둥근 직사각형 48">
            <a:hlinkClick r:id="" action="ppaction://noaction"/>
          </p:cNvPr>
          <p:cNvSpPr/>
          <p:nvPr/>
        </p:nvSpPr>
        <p:spPr>
          <a:xfrm>
            <a:off x="7255655" y="2619741"/>
            <a:ext cx="737813" cy="331200"/>
          </a:xfrm>
          <a:prstGeom prst="roundRect">
            <a:avLst>
              <a:gd name="adj" fmla="val 5328"/>
            </a:avLst>
          </a:prstGeom>
          <a:solidFill>
            <a:srgbClr val="4F81BD">
              <a:lumMod val="20000"/>
              <a:lumOff val="80000"/>
            </a:srgb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AX/AI PJT</a:t>
            </a:r>
          </a:p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Leading</a:t>
            </a:r>
          </a:p>
        </p:txBody>
      </p:sp>
      <p:sp>
        <p:nvSpPr>
          <p:cNvPr id="50" name="모서리가 둥근 직사각형 49">
            <a:hlinkClick r:id="" action="ppaction://noaction"/>
          </p:cNvPr>
          <p:cNvSpPr/>
          <p:nvPr/>
        </p:nvSpPr>
        <p:spPr>
          <a:xfrm>
            <a:off x="5500962" y="2619741"/>
            <a:ext cx="737813" cy="331200"/>
          </a:xfrm>
          <a:prstGeom prst="roundRect">
            <a:avLst>
              <a:gd name="adj" fmla="val 9648"/>
            </a:avLst>
          </a:prstGeom>
          <a:solidFill>
            <a:srgbClr val="4F81BD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9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AX/AI PJT</a:t>
            </a:r>
          </a:p>
          <a:p>
            <a:pPr algn="ctr" defTabSz="914400">
              <a:defRPr/>
            </a:pPr>
            <a:r>
              <a:rPr lang="ko-KR" altLang="en-US" sz="9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수행</a:t>
            </a:r>
            <a:endParaRPr lang="en-US" altLang="ko-KR" sz="9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2" name="꺾인 연결선 51"/>
          <p:cNvCxnSpPr>
            <a:stCxn id="13" idx="3"/>
            <a:endCxn id="37" idx="1"/>
          </p:cNvCxnSpPr>
          <p:nvPr/>
        </p:nvCxnSpPr>
        <p:spPr>
          <a:xfrm flipV="1">
            <a:off x="4052848" y="3433001"/>
            <a:ext cx="252184" cy="1140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꺾인 연결선 52"/>
          <p:cNvCxnSpPr>
            <a:stCxn id="50" idx="3"/>
            <a:endCxn id="38" idx="1"/>
          </p:cNvCxnSpPr>
          <p:nvPr/>
        </p:nvCxnSpPr>
        <p:spPr>
          <a:xfrm flipV="1">
            <a:off x="6238775" y="2177042"/>
            <a:ext cx="292190" cy="60829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꺾인 연결선 53"/>
          <p:cNvCxnSpPr>
            <a:stCxn id="49" idx="3"/>
            <a:endCxn id="36" idx="1"/>
          </p:cNvCxnSpPr>
          <p:nvPr/>
        </p:nvCxnSpPr>
        <p:spPr>
          <a:xfrm>
            <a:off x="7993468" y="2785341"/>
            <a:ext cx="411280" cy="65906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꺾인 연결선 54"/>
          <p:cNvCxnSpPr>
            <a:stCxn id="12" idx="3"/>
            <a:endCxn id="14" idx="1"/>
          </p:cNvCxnSpPr>
          <p:nvPr/>
        </p:nvCxnSpPr>
        <p:spPr>
          <a:xfrm>
            <a:off x="1392205" y="2887970"/>
            <a:ext cx="366106" cy="117226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직사각형 57"/>
          <p:cNvSpPr/>
          <p:nvPr/>
        </p:nvSpPr>
        <p:spPr>
          <a:xfrm>
            <a:off x="392998" y="3027624"/>
            <a:ext cx="11909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자사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인화원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컨텐츠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로 업무 뚝딱 이러닝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5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과정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 64hr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기초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1,2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실습으로 배우는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en-US" altLang="ko-KR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Numpy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/Pandas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1652603" y="2312726"/>
            <a:ext cx="12910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 PJT</a:t>
            </a: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기본  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실무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(Python)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Machine Learning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기본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Deep Learning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기본 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160912" y="2298570"/>
            <a:ext cx="13108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시계열 데이터 처리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시계열 분류모델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PJT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1" name="모서리가 둥근 직사각형 60">
            <a:hlinkClick r:id="" action="ppaction://noaction"/>
          </p:cNvPr>
          <p:cNvSpPr/>
          <p:nvPr/>
        </p:nvSpPr>
        <p:spPr>
          <a:xfrm>
            <a:off x="2662781" y="3808591"/>
            <a:ext cx="234736" cy="240067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6M</a:t>
            </a:r>
          </a:p>
        </p:txBody>
      </p:sp>
      <p:sp>
        <p:nvSpPr>
          <p:cNvPr id="62" name="모서리가 둥근 직사각형 61">
            <a:hlinkClick r:id="" action="ppaction://noaction"/>
          </p:cNvPr>
          <p:cNvSpPr/>
          <p:nvPr/>
        </p:nvSpPr>
        <p:spPr>
          <a:xfrm>
            <a:off x="3866583" y="3090411"/>
            <a:ext cx="222321" cy="240067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7w</a:t>
            </a:r>
          </a:p>
        </p:txBody>
      </p:sp>
      <p:sp>
        <p:nvSpPr>
          <p:cNvPr id="63" name="모서리가 둥근 직사각형 62">
            <a:hlinkClick r:id="" action="ppaction://noaction"/>
          </p:cNvPr>
          <p:cNvSpPr/>
          <p:nvPr/>
        </p:nvSpPr>
        <p:spPr>
          <a:xfrm>
            <a:off x="1165118" y="2539115"/>
            <a:ext cx="234736" cy="240067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1M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1625057" y="4199178"/>
            <a:ext cx="1277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로 업무 뚝딱 시리즈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18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과정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 234hr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3040125" y="3598056"/>
            <a:ext cx="19128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로 업무 뚝딱 시리즈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15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과정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 232hr   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6" name="모서리가 둥근 직사각형 65">
            <a:hlinkClick r:id="" action="ppaction://noaction"/>
          </p:cNvPr>
          <p:cNvSpPr/>
          <p:nvPr/>
        </p:nvSpPr>
        <p:spPr>
          <a:xfrm>
            <a:off x="5013905" y="3078850"/>
            <a:ext cx="254598" cy="24218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3M</a:t>
            </a:r>
          </a:p>
        </p:txBody>
      </p:sp>
      <p:sp>
        <p:nvSpPr>
          <p:cNvPr id="67" name="모서리가 둥근 직사각형 66">
            <a:hlinkClick r:id="" action="ppaction://noaction"/>
          </p:cNvPr>
          <p:cNvSpPr/>
          <p:nvPr/>
        </p:nvSpPr>
        <p:spPr>
          <a:xfrm>
            <a:off x="7166983" y="1783739"/>
            <a:ext cx="306297" cy="24218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16w 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4258967" y="3587650"/>
            <a:ext cx="13342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분야별 중급 이론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구독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컴퓨터 비전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Data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분석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전처리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자연어 처리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강화학습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등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</a:p>
        </p:txBody>
      </p:sp>
      <p:sp>
        <p:nvSpPr>
          <p:cNvPr id="69" name="모서리가 둥근 직사각형 68">
            <a:hlinkClick r:id="" action="ppaction://noaction"/>
          </p:cNvPr>
          <p:cNvSpPr/>
          <p:nvPr/>
        </p:nvSpPr>
        <p:spPr>
          <a:xfrm>
            <a:off x="6005821" y="2413631"/>
            <a:ext cx="254598" cy="24218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1y</a:t>
            </a:r>
          </a:p>
        </p:txBody>
      </p:sp>
      <p:sp>
        <p:nvSpPr>
          <p:cNvPr id="70" name="모서리가 둥근 직사각형 69">
            <a:hlinkClick r:id="" action="ppaction://noaction"/>
          </p:cNvPr>
          <p:cNvSpPr/>
          <p:nvPr/>
        </p:nvSpPr>
        <p:spPr>
          <a:xfrm>
            <a:off x="7776268" y="2413631"/>
            <a:ext cx="254598" cy="24218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1y</a:t>
            </a:r>
          </a:p>
        </p:txBody>
      </p:sp>
      <p:sp>
        <p:nvSpPr>
          <p:cNvPr id="71" name="모서리가 둥근 직사각형 70">
            <a:hlinkClick r:id="" action="ppaction://noaction"/>
          </p:cNvPr>
          <p:cNvSpPr/>
          <p:nvPr/>
        </p:nvSpPr>
        <p:spPr>
          <a:xfrm>
            <a:off x="9181985" y="3056544"/>
            <a:ext cx="227641" cy="240067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2y 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6499105" y="2324938"/>
            <a:ext cx="133421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연계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1:1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멘토링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432274" y="2941721"/>
            <a:ext cx="110711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 조직과 협업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모서리가 둥근 직사각형 73">
            <a:hlinkClick r:id="" action="ppaction://noaction"/>
          </p:cNvPr>
          <p:cNvSpPr/>
          <p:nvPr/>
        </p:nvSpPr>
        <p:spPr>
          <a:xfrm>
            <a:off x="4296914" y="2003647"/>
            <a:ext cx="936000" cy="3299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</a:t>
            </a: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Project </a:t>
            </a:r>
          </a:p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Challenge</a:t>
            </a:r>
          </a:p>
        </p:txBody>
      </p:sp>
      <p:cxnSp>
        <p:nvCxnSpPr>
          <p:cNvPr id="75" name="꺾인 연결선 74"/>
          <p:cNvCxnSpPr>
            <a:cxnSpLocks/>
            <a:stCxn id="33" idx="3"/>
            <a:endCxn id="74" idx="1"/>
          </p:cNvCxnSpPr>
          <p:nvPr/>
        </p:nvCxnSpPr>
        <p:spPr>
          <a:xfrm flipV="1">
            <a:off x="4052848" y="2168623"/>
            <a:ext cx="244066" cy="2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모서리가 둥근 직사각형 75">
            <a:hlinkClick r:id="" action="ppaction://noaction"/>
          </p:cNvPr>
          <p:cNvSpPr/>
          <p:nvPr/>
        </p:nvSpPr>
        <p:spPr>
          <a:xfrm>
            <a:off x="4989004" y="1811917"/>
            <a:ext cx="254598" cy="24218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5d</a:t>
            </a:r>
          </a:p>
        </p:txBody>
      </p:sp>
      <p:sp>
        <p:nvSpPr>
          <p:cNvPr id="77" name="모서리가 둥근 직사각형 76">
            <a:hlinkClick r:id="" action="ppaction://noaction"/>
          </p:cNvPr>
          <p:cNvSpPr/>
          <p:nvPr/>
        </p:nvSpPr>
        <p:spPr>
          <a:xfrm>
            <a:off x="3035679" y="1834557"/>
            <a:ext cx="262739" cy="202349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ko-KR" altLang="en-US" sz="10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★</a:t>
            </a:r>
            <a:r>
              <a:rPr lang="en-US" altLang="ko-KR" sz="10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2970713" y="2300519"/>
            <a:ext cx="133421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PJT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유형별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사례 실습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1718840" y="4461048"/>
            <a:ext cx="14387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객체지향 프로그래밍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크롤링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입문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디버깅 기초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프로그래밍 수학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정규표현식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인공지능 확률 통계 등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3106393" y="3891726"/>
            <a:ext cx="148656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머신러닝을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위한 수학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준비하기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심화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기초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CNN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RNN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이해하기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YOLO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이용한 객체 인식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딥러닝을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이용한 자연어 처리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자료 구조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알고리즘의 정석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I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알고리즘의 정석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II</a:t>
            </a:r>
          </a:p>
          <a:p>
            <a:pPr defTabSz="914400" latinLnBrk="1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반도체 공정데이터를 활용한 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공정이상 예측 실습 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12285" y="175082"/>
            <a:ext cx="1443985" cy="235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 spc="-3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* </a:t>
            </a:r>
            <a:r>
              <a:rPr kumimoji="0" lang="ko-KR" altLang="en-US" sz="9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참고용으로 확인 바랍니다</a:t>
            </a:r>
            <a:r>
              <a:rPr kumimoji="0" lang="en-US" altLang="ko-KR" sz="9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38396" y="5951901"/>
            <a:ext cx="4467249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 spc="-3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 defTabSz="914400">
              <a:lnSpc>
                <a:spcPct val="110000"/>
              </a:lnSpc>
              <a:buSzPct val="70000"/>
              <a:defRPr/>
            </a:pPr>
            <a:r>
              <a:rPr lang="ko-KR" altLang="en-US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과정리스트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 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(142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개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) : (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빅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)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데이터 분석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/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처리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/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시각화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, R/Python, SQL, </a:t>
            </a:r>
            <a:r>
              <a:rPr lang="en-US" altLang="ko-KR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Git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, 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인공지능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, </a:t>
            </a:r>
            <a:r>
              <a:rPr lang="ko-KR" altLang="en-US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머신러닝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, </a:t>
            </a:r>
            <a:r>
              <a:rPr lang="ko-KR" altLang="en-US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딥러닝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, 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컴퓨터 비전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,</a:t>
            </a:r>
            <a:b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</a:b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                                        </a:t>
            </a:r>
            <a:r>
              <a:rPr lang="en-US" altLang="ko-KR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Numpy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/Pandas/</a:t>
            </a:r>
            <a:r>
              <a:rPr lang="en-US" altLang="ko-KR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Scikit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-learn/</a:t>
            </a:r>
            <a:r>
              <a:rPr lang="en-US" altLang="ko-KR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TensorFlow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/</a:t>
            </a:r>
            <a:r>
              <a:rPr lang="en-US" altLang="ko-KR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PyTorch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, </a:t>
            </a:r>
            <a:r>
              <a:rPr lang="ko-KR" altLang="en-US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강화학습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 등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  </a:t>
            </a:r>
            <a:endParaRPr kumimoji="0" lang="en-US" altLang="ko-KR" sz="800" b="0" i="0" u="none" strike="noStrike" kern="0" cap="none" spc="-30" normalizeH="0" baseline="0" noProof="0" dirty="0">
              <a:ln>
                <a:noFill/>
              </a:ln>
              <a:solidFill>
                <a:srgbClr val="006600"/>
              </a:solidFill>
              <a:effectLst>
                <a:glow rad="38100">
                  <a:prstClr val="white">
                    <a:alpha val="92000"/>
                  </a:prstClr>
                </a:glow>
              </a:effectLst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33339" y="5933632"/>
            <a:ext cx="544653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 spc="-3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defTabSz="914400">
              <a:lnSpc>
                <a:spcPct val="110000"/>
              </a:lnSpc>
              <a:buSzPct val="70000"/>
              <a:defRPr/>
            </a:pPr>
            <a:r>
              <a:rPr kumimoji="0" lang="ko-KR" altLang="en-US" sz="900" b="0" i="0" u="none" strike="noStrike" kern="0" cap="none" spc="-30" normalizeH="0" baseline="0" noProof="0" dirty="0">
                <a:ln>
                  <a:noFill/>
                </a:ln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☞</a:t>
            </a:r>
            <a:r>
              <a:rPr kumimoji="0" lang="en-US" altLang="ko-KR" sz="900" b="0" i="0" u="none" strike="noStrike" kern="0" cap="none" spc="-30" normalizeH="0" baseline="0" noProof="0" dirty="0">
                <a:ln>
                  <a:noFill/>
                </a:ln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 </a:t>
            </a:r>
            <a:r>
              <a:rPr kumimoji="0" lang="ko-KR" altLang="en-US" sz="900" b="0" i="0" u="none" strike="noStrike" kern="0" cap="none" spc="-30" normalizeH="0" baseline="0" noProof="0" dirty="0">
                <a:ln>
                  <a:noFill/>
                </a:ln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각 단계별</a:t>
            </a:r>
            <a:r>
              <a:rPr kumimoji="0" lang="ko-KR" altLang="en-US" sz="900" b="0" i="0" u="none" strike="noStrike" kern="0" cap="none" spc="-30" normalizeH="0" noProof="0" dirty="0">
                <a:ln>
                  <a:noFill/>
                </a:ln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 필요한 지식</a:t>
            </a:r>
            <a:r>
              <a:rPr kumimoji="0" lang="en-US" altLang="ko-KR" sz="900" b="0" i="0" u="none" strike="noStrike" kern="0" cap="none" spc="-30" normalizeH="0" noProof="0" dirty="0">
                <a:ln>
                  <a:noFill/>
                </a:ln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/</a:t>
            </a:r>
            <a:r>
              <a:rPr kumimoji="0" lang="ko-KR" altLang="en-US" sz="900" b="0" i="0" u="none" strike="noStrike" kern="0" cap="none" spc="-30" normalizeH="0" noProof="0" dirty="0">
                <a:ln>
                  <a:noFill/>
                </a:ln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스킬 습득을 위해 </a:t>
            </a:r>
            <a:r>
              <a:rPr kumimoji="0" lang="ko-KR" altLang="en-US" sz="900" b="0" i="0" u="none" strike="noStrike" kern="0" cap="none" spc="-30" normalizeH="0" baseline="0" noProof="0" dirty="0">
                <a:ln>
                  <a:noFill/>
                </a:ln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한국기술교육대학 사외 이러닝 추가 </a:t>
            </a:r>
            <a:r>
              <a:rPr lang="ko-KR" altLang="en-US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제공함 </a:t>
            </a:r>
            <a: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(</a:t>
            </a:r>
            <a:r>
              <a:rPr lang="ko-KR" altLang="en-US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매월 운영</a:t>
            </a:r>
            <a: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)</a:t>
            </a:r>
            <a:r>
              <a:rPr kumimoji="0" lang="ko-KR" altLang="en-US" sz="900" b="0" i="0" u="none" strike="noStrike" kern="0" cap="none" spc="-30" normalizeH="0" baseline="0" noProof="0" dirty="0">
                <a:ln>
                  <a:noFill/>
                </a:ln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 </a:t>
            </a:r>
            <a:b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</a:br>
            <a: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      - </a:t>
            </a:r>
            <a:r>
              <a:rPr lang="ko-KR" altLang="en-US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접속 </a:t>
            </a:r>
            <a: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URL :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060"/>
                </a:solidFill>
                <a:latin typeface="Arial Narrow" panose="020B0606020202030204" pitchFamily="34" charset="0"/>
                <a:hlinkClick r:id="rId2"/>
              </a:rPr>
              <a:t>https://e-koreatech.step.or.kr/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060"/>
                </a:solidFill>
                <a:highlight>
                  <a:srgbClr val="FFFF00"/>
                </a:highlight>
                <a:latin typeface="Arial Narrow" panose="020B0606020202030204" pitchFamily="34" charset="0"/>
                <a:hlinkClick r:id="rId2"/>
              </a:rPr>
              <a:t>lgdisplay</a:t>
            </a:r>
            <a:endParaRPr lang="en-US" altLang="ko-KR" sz="900" kern="0" dirty="0">
              <a:effectLst>
                <a:glow rad="38100">
                  <a:prstClr val="white">
                    <a:alpha val="92000"/>
                  </a:prstClr>
                </a:glow>
              </a:effectLst>
              <a:latin typeface="Arial Narrow" panose="020B0606020202030204" pitchFamily="34" charset="0"/>
            </a:endParaRPr>
          </a:p>
          <a:p>
            <a:pPr lvl="0" defTabSz="914400">
              <a:lnSpc>
                <a:spcPct val="110000"/>
              </a:lnSpc>
              <a:buSzPct val="70000"/>
              <a:defRPr/>
            </a:pPr>
            <a: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      - ID : </a:t>
            </a:r>
            <a:r>
              <a:rPr lang="ko-KR" altLang="en-US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회사 이메일</a:t>
            </a:r>
            <a: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,  PW: </a:t>
            </a:r>
            <a:r>
              <a:rPr lang="ko-KR" altLang="en-US" sz="900" kern="0" dirty="0" err="1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사번</a:t>
            </a:r>
            <a: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+</a:t>
            </a:r>
            <a:r>
              <a:rPr lang="en-US" altLang="ko-KR" sz="900" kern="0" dirty="0" err="1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lgdisplay</a:t>
            </a:r>
            <a:r>
              <a:rPr lang="en-US" altLang="ko-KR" sz="900" kern="0" dirty="0"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@  ex) 000000lgdispaly@</a:t>
            </a:r>
            <a:endParaRPr kumimoji="0" lang="en-US" altLang="ko-KR" sz="900" b="0" i="0" u="none" strike="noStrike" kern="0" cap="none" spc="-30" normalizeH="0" baseline="0" noProof="0" dirty="0">
              <a:ln>
                <a:noFill/>
              </a:ln>
              <a:effectLst>
                <a:glow rad="38100">
                  <a:prstClr val="white">
                    <a:alpha val="92000"/>
                  </a:prstClr>
                </a:glow>
              </a:effectLst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432582" y="5508657"/>
            <a:ext cx="1548181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 spc="-3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LETO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링크 사외 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MOOC 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무료 이러닝</a:t>
            </a:r>
            <a:endParaRPr kumimoji="0" lang="en-US" altLang="ko-KR" sz="800" b="0" i="0" u="none" strike="noStrike" kern="0" cap="none" spc="-30" normalizeH="0" baseline="0" noProof="0" dirty="0">
              <a:ln>
                <a:noFill/>
              </a:ln>
              <a:solidFill>
                <a:srgbClr val="006600"/>
              </a:solidFill>
              <a:effectLst>
                <a:glow rad="38100">
                  <a:prstClr val="white">
                    <a:alpha val="92000"/>
                  </a:prstClr>
                </a:glow>
              </a:effectLst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83" name="실행 단추: 앞으로 또는 다음 82">
            <a:hlinkClick r:id="rId3" action="ppaction://hlinkfile" highlightClick="1"/>
          </p:cNvPr>
          <p:cNvSpPr/>
          <p:nvPr/>
        </p:nvSpPr>
        <p:spPr>
          <a:xfrm>
            <a:off x="2903059" y="5559687"/>
            <a:ext cx="141566" cy="13447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85" name="꺾인 연결선 84"/>
          <p:cNvCxnSpPr>
            <a:stCxn id="74" idx="3"/>
            <a:endCxn id="50" idx="1"/>
          </p:cNvCxnSpPr>
          <p:nvPr/>
        </p:nvCxnSpPr>
        <p:spPr>
          <a:xfrm>
            <a:off x="5232914" y="2168623"/>
            <a:ext cx="268048" cy="61671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꺾인 연결선 86"/>
          <p:cNvCxnSpPr>
            <a:stCxn id="37" idx="3"/>
            <a:endCxn id="50" idx="1"/>
          </p:cNvCxnSpPr>
          <p:nvPr/>
        </p:nvCxnSpPr>
        <p:spPr>
          <a:xfrm flipV="1">
            <a:off x="5241032" y="2785341"/>
            <a:ext cx="259930" cy="64766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TextBox 85"/>
          <p:cNvSpPr txBox="1"/>
          <p:nvPr/>
        </p:nvSpPr>
        <p:spPr>
          <a:xfrm>
            <a:off x="582031" y="6405546"/>
            <a:ext cx="3036409" cy="219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 spc="-3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☞ </a:t>
            </a:r>
            <a:r>
              <a:rPr lang="ko-KR" altLang="en-US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임직원검색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&gt;</a:t>
            </a:r>
            <a:r>
              <a:rPr lang="ko-KR" altLang="en-US" sz="800" kern="0" dirty="0" err="1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김대윽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 </a:t>
            </a:r>
            <a:r>
              <a:rPr lang="en-US" altLang="ko-KR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Blog</a:t>
            </a:r>
            <a:r>
              <a:rPr lang="ko-KR" altLang="en-US" sz="800" kern="0" dirty="0"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latin typeface="Arial Narrow" panose="020B0606020202030204" pitchFamily="34" charset="0"/>
              </a:rPr>
              <a:t>에서 한국기술교육대학 정보 상시 확인 가능 </a:t>
            </a:r>
            <a:endParaRPr kumimoji="0" lang="en-US" altLang="ko-KR" sz="800" b="0" i="0" u="none" strike="noStrike" kern="0" cap="none" spc="-30" normalizeH="0" baseline="0" noProof="0" dirty="0">
              <a:ln>
                <a:noFill/>
              </a:ln>
              <a:solidFill>
                <a:srgbClr val="006600"/>
              </a:solidFill>
              <a:effectLst>
                <a:glow rad="38100">
                  <a:prstClr val="white">
                    <a:alpha val="92000"/>
                  </a:prstClr>
                </a:glow>
              </a:effectLst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88" name="실행 단추: 앞으로 또는 다음 87">
            <a:hlinkClick r:id="rId4" action="ppaction://hlinkfile" highlightClick="1"/>
          </p:cNvPr>
          <p:cNvSpPr/>
          <p:nvPr/>
        </p:nvSpPr>
        <p:spPr>
          <a:xfrm>
            <a:off x="4908302" y="5997518"/>
            <a:ext cx="141566" cy="13447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0E7B62-4997-7928-6952-2ABCAC3998FE}"/>
              </a:ext>
            </a:extLst>
          </p:cNvPr>
          <p:cNvSpPr/>
          <p:nvPr/>
        </p:nvSpPr>
        <p:spPr>
          <a:xfrm>
            <a:off x="4164021" y="2926839"/>
            <a:ext cx="11496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Vision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네트워크 설계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Vision AI PJT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</a:t>
            </a:r>
          </a:p>
        </p:txBody>
      </p:sp>
      <p:sp>
        <p:nvSpPr>
          <p:cNvPr id="31" name="모서리가 둥근 직사각형 73">
            <a:hlinkClick r:id="" action="ppaction://noaction"/>
            <a:extLst>
              <a:ext uri="{FF2B5EF4-FFF2-40B4-BE49-F238E27FC236}">
                <a16:creationId xmlns:a16="http://schemas.microsoft.com/office/drawing/2014/main" id="{6DB21DAE-B883-A1CE-88D6-519575DF66C6}"/>
              </a:ext>
            </a:extLst>
          </p:cNvPr>
          <p:cNvSpPr/>
          <p:nvPr/>
        </p:nvSpPr>
        <p:spPr>
          <a:xfrm>
            <a:off x="4300023" y="2631916"/>
            <a:ext cx="936000" cy="3299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Project </a:t>
            </a:r>
          </a:p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Challenge</a:t>
            </a:r>
          </a:p>
        </p:txBody>
      </p:sp>
      <p:cxnSp>
        <p:nvCxnSpPr>
          <p:cNvPr id="32" name="꺾인 연결선 74">
            <a:extLst>
              <a:ext uri="{FF2B5EF4-FFF2-40B4-BE49-F238E27FC236}">
                <a16:creationId xmlns:a16="http://schemas.microsoft.com/office/drawing/2014/main" id="{70B2C4BD-F6BC-4AA7-E93B-D89B56CBE669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4052848" y="2168643"/>
            <a:ext cx="247175" cy="62824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" name="모서리가 둥근 직사각형 75">
            <a:hlinkClick r:id="" action="ppaction://noaction"/>
            <a:extLst>
              <a:ext uri="{FF2B5EF4-FFF2-40B4-BE49-F238E27FC236}">
                <a16:creationId xmlns:a16="http://schemas.microsoft.com/office/drawing/2014/main" id="{B8F0035A-02FE-FA11-3CD9-10489E616730}"/>
              </a:ext>
            </a:extLst>
          </p:cNvPr>
          <p:cNvSpPr/>
          <p:nvPr/>
        </p:nvSpPr>
        <p:spPr>
          <a:xfrm>
            <a:off x="4982780" y="2570810"/>
            <a:ext cx="254598" cy="242184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5d</a:t>
            </a:r>
          </a:p>
        </p:txBody>
      </p:sp>
      <p:sp>
        <p:nvSpPr>
          <p:cNvPr id="90" name="모서리가 둥근 직사각형 11">
            <a:hlinkClick r:id="" action="ppaction://noaction"/>
            <a:extLst>
              <a:ext uri="{FF2B5EF4-FFF2-40B4-BE49-F238E27FC236}">
                <a16:creationId xmlns:a16="http://schemas.microsoft.com/office/drawing/2014/main" id="{E3642FF6-1659-E99E-C2C5-4BEBDD0FB741}"/>
              </a:ext>
            </a:extLst>
          </p:cNvPr>
          <p:cNvSpPr/>
          <p:nvPr/>
        </p:nvSpPr>
        <p:spPr>
          <a:xfrm>
            <a:off x="408839" y="1465858"/>
            <a:ext cx="1774521" cy="19992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/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1</a:t>
            </a:r>
          </a:p>
        </p:txBody>
      </p:sp>
      <p:sp>
        <p:nvSpPr>
          <p:cNvPr id="91" name="모서리가 둥근 직사각형 11">
            <a:hlinkClick r:id="" action="ppaction://noaction"/>
            <a:extLst>
              <a:ext uri="{FF2B5EF4-FFF2-40B4-BE49-F238E27FC236}">
                <a16:creationId xmlns:a16="http://schemas.microsoft.com/office/drawing/2014/main" id="{2D566673-EAD9-9E81-E59C-6BD3EE534AE1}"/>
              </a:ext>
            </a:extLst>
          </p:cNvPr>
          <p:cNvSpPr/>
          <p:nvPr/>
        </p:nvSpPr>
        <p:spPr>
          <a:xfrm>
            <a:off x="2232247" y="1468927"/>
            <a:ext cx="2461051" cy="20296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/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</a:t>
            </a:r>
          </a:p>
        </p:txBody>
      </p:sp>
      <p:sp>
        <p:nvSpPr>
          <p:cNvPr id="92" name="모서리가 둥근 직사각형 11">
            <a:hlinkClick r:id="" action="ppaction://noaction"/>
            <a:extLst>
              <a:ext uri="{FF2B5EF4-FFF2-40B4-BE49-F238E27FC236}">
                <a16:creationId xmlns:a16="http://schemas.microsoft.com/office/drawing/2014/main" id="{5DCBABD3-2684-1BCF-19CA-7BA453169727}"/>
              </a:ext>
            </a:extLst>
          </p:cNvPr>
          <p:cNvSpPr/>
          <p:nvPr/>
        </p:nvSpPr>
        <p:spPr>
          <a:xfrm>
            <a:off x="4749283" y="1462705"/>
            <a:ext cx="3581089" cy="20934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/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3</a:t>
            </a:r>
          </a:p>
        </p:txBody>
      </p:sp>
      <p:cxnSp>
        <p:nvCxnSpPr>
          <p:cNvPr id="95" name="꺾인 연결선 74">
            <a:extLst>
              <a:ext uri="{FF2B5EF4-FFF2-40B4-BE49-F238E27FC236}">
                <a16:creationId xmlns:a16="http://schemas.microsoft.com/office/drawing/2014/main" id="{D37D48A5-0DA0-5B3B-D139-49DC63BD63B5}"/>
              </a:ext>
            </a:extLst>
          </p:cNvPr>
          <p:cNvCxnSpPr>
            <a:cxnSpLocks/>
            <a:stCxn id="10" idx="3"/>
            <a:endCxn id="33" idx="1"/>
          </p:cNvCxnSpPr>
          <p:nvPr/>
        </p:nvCxnSpPr>
        <p:spPr>
          <a:xfrm flipV="1">
            <a:off x="2694311" y="2168643"/>
            <a:ext cx="422537" cy="2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꺾인 연결선 74">
            <a:extLst>
              <a:ext uri="{FF2B5EF4-FFF2-40B4-BE49-F238E27FC236}">
                <a16:creationId xmlns:a16="http://schemas.microsoft.com/office/drawing/2014/main" id="{11C29E1C-F61B-688D-DA47-E3E30AB5CB1A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2694311" y="2168663"/>
            <a:ext cx="422537" cy="127574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모서리가 둥근 직사각형 9">
            <a:hlinkClick r:id="" action="ppaction://noaction"/>
            <a:extLst>
              <a:ext uri="{FF2B5EF4-FFF2-40B4-BE49-F238E27FC236}">
                <a16:creationId xmlns:a16="http://schemas.microsoft.com/office/drawing/2014/main" id="{E4E01859-B838-B9D0-E519-CFB9C15D9821}"/>
              </a:ext>
            </a:extLst>
          </p:cNvPr>
          <p:cNvSpPr/>
          <p:nvPr/>
        </p:nvSpPr>
        <p:spPr>
          <a:xfrm>
            <a:off x="1758311" y="3089148"/>
            <a:ext cx="936000" cy="3299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Coreman</a:t>
            </a:r>
            <a:b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Basic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4533076-C46D-10D0-5CB7-F3EC5B874859}"/>
              </a:ext>
            </a:extLst>
          </p:cNvPr>
          <p:cNvSpPr/>
          <p:nvPr/>
        </p:nvSpPr>
        <p:spPr>
          <a:xfrm>
            <a:off x="1646376" y="3398187"/>
            <a:ext cx="12910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구독방식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AX/AI,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기초 이론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활용스킬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7" name="모서리가 둥근 직사각형 14">
            <a:hlinkClick r:id="" action="ppaction://noaction"/>
            <a:extLst>
              <a:ext uri="{FF2B5EF4-FFF2-40B4-BE49-F238E27FC236}">
                <a16:creationId xmlns:a16="http://schemas.microsoft.com/office/drawing/2014/main" id="{A3B1B4D8-514B-D02A-318A-5BC687A90359}"/>
              </a:ext>
            </a:extLst>
          </p:cNvPr>
          <p:cNvSpPr/>
          <p:nvPr/>
        </p:nvSpPr>
        <p:spPr>
          <a:xfrm>
            <a:off x="2473626" y="2893086"/>
            <a:ext cx="234736" cy="240067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3M</a:t>
            </a:r>
          </a:p>
        </p:txBody>
      </p:sp>
      <p:cxnSp>
        <p:nvCxnSpPr>
          <p:cNvPr id="108" name="꺾인 연결선 16">
            <a:extLst>
              <a:ext uri="{FF2B5EF4-FFF2-40B4-BE49-F238E27FC236}">
                <a16:creationId xmlns:a16="http://schemas.microsoft.com/office/drawing/2014/main" id="{5695938E-D640-0C3F-5800-EBFA7EA50176}"/>
              </a:ext>
            </a:extLst>
          </p:cNvPr>
          <p:cNvCxnSpPr>
            <a:stCxn id="12" idx="3"/>
            <a:endCxn id="105" idx="1"/>
          </p:cNvCxnSpPr>
          <p:nvPr/>
        </p:nvCxnSpPr>
        <p:spPr>
          <a:xfrm>
            <a:off x="1392205" y="2887970"/>
            <a:ext cx="366106" cy="36615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꺾인 연결선 74">
            <a:extLst>
              <a:ext uri="{FF2B5EF4-FFF2-40B4-BE49-F238E27FC236}">
                <a16:creationId xmlns:a16="http://schemas.microsoft.com/office/drawing/2014/main" id="{B62C0C3A-DADE-25B9-8FE7-ED29E160B306}"/>
              </a:ext>
            </a:extLst>
          </p:cNvPr>
          <p:cNvCxnSpPr>
            <a:cxnSpLocks/>
            <a:stCxn id="105" idx="3"/>
            <a:endCxn id="33" idx="1"/>
          </p:cNvCxnSpPr>
          <p:nvPr/>
        </p:nvCxnSpPr>
        <p:spPr>
          <a:xfrm flipV="1">
            <a:off x="2694311" y="2168643"/>
            <a:ext cx="422537" cy="108548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4" name="꺾인 연결선 74">
            <a:extLst>
              <a:ext uri="{FF2B5EF4-FFF2-40B4-BE49-F238E27FC236}">
                <a16:creationId xmlns:a16="http://schemas.microsoft.com/office/drawing/2014/main" id="{BA5351E2-9F1F-4B14-1EF9-ACBD36FEABAE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2694311" y="3444405"/>
            <a:ext cx="422537" cy="61583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7" name="모서리가 둥근 직사각형 94">
            <a:hlinkClick r:id="" action="ppaction://noaction"/>
            <a:extLst>
              <a:ext uri="{FF2B5EF4-FFF2-40B4-BE49-F238E27FC236}">
                <a16:creationId xmlns:a16="http://schemas.microsoft.com/office/drawing/2014/main" id="{648B58A5-DF7F-F6A5-D7D5-85A877367295}"/>
              </a:ext>
            </a:extLst>
          </p:cNvPr>
          <p:cNvSpPr/>
          <p:nvPr/>
        </p:nvSpPr>
        <p:spPr>
          <a:xfrm>
            <a:off x="522723" y="4487429"/>
            <a:ext cx="878400" cy="3299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 Core</a:t>
            </a:r>
          </a:p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Member </a:t>
            </a: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</a:t>
            </a:r>
            <a:endParaRPr lang="en-US" altLang="ko-KR" sz="95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8" name="모서리가 둥근 직사각형 95">
            <a:hlinkClick r:id="" action="ppaction://noaction"/>
            <a:extLst>
              <a:ext uri="{FF2B5EF4-FFF2-40B4-BE49-F238E27FC236}">
                <a16:creationId xmlns:a16="http://schemas.microsoft.com/office/drawing/2014/main" id="{BAF410D9-F0E5-6949-4A30-A0A0E38AC076}"/>
              </a:ext>
            </a:extLst>
          </p:cNvPr>
          <p:cNvSpPr/>
          <p:nvPr/>
        </p:nvSpPr>
        <p:spPr>
          <a:xfrm>
            <a:off x="1195759" y="4433628"/>
            <a:ext cx="204586" cy="237950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2d</a:t>
            </a:r>
          </a:p>
        </p:txBody>
      </p:sp>
      <p:sp>
        <p:nvSpPr>
          <p:cNvPr id="119" name="모서리가 둥근 직사각형 96">
            <a:hlinkClick r:id="" action="ppaction://noaction"/>
            <a:extLst>
              <a:ext uri="{FF2B5EF4-FFF2-40B4-BE49-F238E27FC236}">
                <a16:creationId xmlns:a16="http://schemas.microsoft.com/office/drawing/2014/main" id="{75F6D7E3-CD63-4F7B-AB65-A24C86EDCFC4}"/>
              </a:ext>
            </a:extLst>
          </p:cNvPr>
          <p:cNvSpPr/>
          <p:nvPr/>
        </p:nvSpPr>
        <p:spPr>
          <a:xfrm>
            <a:off x="522723" y="4121959"/>
            <a:ext cx="878400" cy="3312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>
              <a:defRPr/>
            </a:pP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 Spotfire</a:t>
            </a:r>
          </a:p>
          <a:p>
            <a:pPr algn="ctr" defTabSz="914400">
              <a:defRPr/>
            </a:pP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 과정</a:t>
            </a:r>
            <a:endParaRPr lang="en-US" altLang="ko-KR" sz="95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AED95EB-96E8-FB7B-D3F9-B5E92005E849}"/>
              </a:ext>
            </a:extLst>
          </p:cNvPr>
          <p:cNvSpPr txBox="1"/>
          <p:nvPr/>
        </p:nvSpPr>
        <p:spPr>
          <a:xfrm>
            <a:off x="59520" y="4078886"/>
            <a:ext cx="541495" cy="498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 spc="-3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* </a:t>
            </a:r>
            <a:r>
              <a:rPr kumimoji="0" lang="en-US" altLang="ko-KR" sz="800" b="0" i="0" u="none" strike="noStrike" kern="0" cap="none" spc="-30" normalizeH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MAS </a:t>
            </a:r>
            <a:br>
              <a:rPr kumimoji="0" lang="en-US" altLang="ko-KR" sz="800" b="0" i="0" u="none" strike="noStrike" kern="0" cap="none" spc="-30" normalizeH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</a:br>
            <a:r>
              <a:rPr kumimoji="0" lang="en-US" altLang="ko-KR" sz="800" b="0" i="0" u="none" strike="noStrike" kern="0" cap="none" spc="-30" normalizeH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  </a:t>
            </a:r>
            <a:r>
              <a:rPr kumimoji="0" lang="ko-KR" altLang="en-US" sz="800" b="0" i="0" u="none" strike="noStrike" kern="0" cap="none" spc="-30" normalizeH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데이터 </a:t>
            </a:r>
            <a:br>
              <a:rPr kumimoji="0" lang="en-US" altLang="ko-KR" sz="800" b="0" i="0" u="none" strike="noStrike" kern="0" cap="none" spc="-30" normalizeH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</a:br>
            <a:r>
              <a:rPr kumimoji="0" lang="en-US" altLang="ko-KR" sz="800" b="0" i="0" u="none" strike="noStrike" kern="0" cap="none" spc="-30" normalizeH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  </a:t>
            </a:r>
            <a:r>
              <a:rPr kumimoji="0" lang="ko-KR" altLang="en-US" sz="800" b="0" i="0" u="none" strike="noStrike" kern="0" cap="none" spc="-30" normalizeH="0" noProof="0" dirty="0">
                <a:ln>
                  <a:noFill/>
                </a:ln>
                <a:solidFill>
                  <a:srgbClr val="006600"/>
                </a:solidFill>
                <a:effectLst>
                  <a:glow rad="38100">
                    <a:prstClr val="white">
                      <a:alpha val="92000"/>
                    </a:prstClr>
                  </a:glow>
                </a:effectLst>
                <a:uLnTx/>
                <a:uFillTx/>
                <a:latin typeface="Arial Narrow" panose="020B0606020202030204" pitchFamily="34" charset="0"/>
              </a:rPr>
              <a:t>활용 시</a:t>
            </a:r>
            <a:endParaRPr kumimoji="0" lang="en-US" altLang="ko-KR" sz="800" b="0" i="0" u="none" strike="noStrike" kern="0" cap="none" spc="-30" normalizeH="0" baseline="0" noProof="0" dirty="0">
              <a:ln>
                <a:noFill/>
              </a:ln>
              <a:solidFill>
                <a:srgbClr val="006600"/>
              </a:solidFill>
              <a:effectLst>
                <a:glow rad="38100">
                  <a:prstClr val="white">
                    <a:alpha val="92000"/>
                  </a:prstClr>
                </a:glow>
              </a:effectLst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124" name="모서리가 둥근 직사각형 87">
            <a:hlinkClick r:id="" action="ppaction://noaction"/>
            <a:extLst>
              <a:ext uri="{FF2B5EF4-FFF2-40B4-BE49-F238E27FC236}">
                <a16:creationId xmlns:a16="http://schemas.microsoft.com/office/drawing/2014/main" id="{A326CBC3-E9B1-C649-37CC-9AB1D83514BA}"/>
              </a:ext>
            </a:extLst>
          </p:cNvPr>
          <p:cNvSpPr/>
          <p:nvPr/>
        </p:nvSpPr>
        <p:spPr>
          <a:xfrm>
            <a:off x="513805" y="2000013"/>
            <a:ext cx="878400" cy="329952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36000" tIns="36000" rIns="36000" bIns="36000" rtlCol="0" anchor="ctr"/>
          <a:lstStyle/>
          <a:p>
            <a:pPr algn="ctr" defTabSz="914400"/>
            <a:r>
              <a:rPr lang="ko-KR" altLang="en-US" sz="950" b="1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통계기초</a:t>
            </a:r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</a:t>
            </a:r>
            <a:endParaRPr lang="en-US" altLang="ko-KR" sz="950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defTabSz="914400"/>
            <a:r>
              <a:rPr lang="en-US" altLang="ko-KR" sz="95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</a:p>
        </p:txBody>
      </p:sp>
      <p:sp>
        <p:nvSpPr>
          <p:cNvPr id="125" name="모서리가 둥근 직사각형 91">
            <a:hlinkClick r:id="" action="ppaction://noaction"/>
            <a:extLst>
              <a:ext uri="{FF2B5EF4-FFF2-40B4-BE49-F238E27FC236}">
                <a16:creationId xmlns:a16="http://schemas.microsoft.com/office/drawing/2014/main" id="{1C4E06AC-9ED8-DB38-B9DB-F1870BCA9252}"/>
              </a:ext>
            </a:extLst>
          </p:cNvPr>
          <p:cNvSpPr/>
          <p:nvPr/>
        </p:nvSpPr>
        <p:spPr>
          <a:xfrm>
            <a:off x="1181441" y="1818188"/>
            <a:ext cx="222321" cy="240067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2w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5130C78-F169-6D20-7813-F5208D58B8B3}"/>
              </a:ext>
            </a:extLst>
          </p:cNvPr>
          <p:cNvSpPr/>
          <p:nvPr/>
        </p:nvSpPr>
        <p:spPr>
          <a:xfrm>
            <a:off x="442056" y="2318420"/>
            <a:ext cx="13794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통계기초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/R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 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 (120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cxnSp>
        <p:nvCxnSpPr>
          <p:cNvPr id="127" name="꺾인 연결선 16">
            <a:extLst>
              <a:ext uri="{FF2B5EF4-FFF2-40B4-BE49-F238E27FC236}">
                <a16:creationId xmlns:a16="http://schemas.microsoft.com/office/drawing/2014/main" id="{EF0E326B-1A46-B70D-BE33-468273EA6D2B}"/>
              </a:ext>
            </a:extLst>
          </p:cNvPr>
          <p:cNvCxnSpPr>
            <a:stCxn id="124" idx="3"/>
            <a:endCxn id="14" idx="1"/>
          </p:cNvCxnSpPr>
          <p:nvPr/>
        </p:nvCxnSpPr>
        <p:spPr>
          <a:xfrm>
            <a:off x="1392205" y="2164989"/>
            <a:ext cx="366106" cy="189524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5010848-E439-5FCB-4DB9-2B76AF96C409}"/>
              </a:ext>
            </a:extLst>
          </p:cNvPr>
          <p:cNvSpPr/>
          <p:nvPr/>
        </p:nvSpPr>
        <p:spPr>
          <a:xfrm>
            <a:off x="1651665" y="5229255"/>
            <a:ext cx="1277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defTabSz="914400" latinLnBrk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AX/AI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관련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 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(528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500hr, Smart HRD)</a:t>
            </a:r>
          </a:p>
        </p:txBody>
      </p:sp>
      <p:cxnSp>
        <p:nvCxnSpPr>
          <p:cNvPr id="5" name="꺾인 연결선 16">
            <a:extLst>
              <a:ext uri="{FF2B5EF4-FFF2-40B4-BE49-F238E27FC236}">
                <a16:creationId xmlns:a16="http://schemas.microsoft.com/office/drawing/2014/main" id="{797F8F55-4E63-8C77-6B10-635F2378AAFD}"/>
              </a:ext>
            </a:extLst>
          </p:cNvPr>
          <p:cNvCxnSpPr>
            <a:stCxn id="119" idx="3"/>
            <a:endCxn id="105" idx="1"/>
          </p:cNvCxnSpPr>
          <p:nvPr/>
        </p:nvCxnSpPr>
        <p:spPr>
          <a:xfrm flipV="1">
            <a:off x="1401123" y="3254124"/>
            <a:ext cx="357188" cy="103343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꺾인 연결선 16">
            <a:extLst>
              <a:ext uri="{FF2B5EF4-FFF2-40B4-BE49-F238E27FC236}">
                <a16:creationId xmlns:a16="http://schemas.microsoft.com/office/drawing/2014/main" id="{168BDC47-73D5-2D5F-6792-769A4B17D7EA}"/>
              </a:ext>
            </a:extLst>
          </p:cNvPr>
          <p:cNvCxnSpPr>
            <a:stCxn id="117" idx="3"/>
            <a:endCxn id="105" idx="1"/>
          </p:cNvCxnSpPr>
          <p:nvPr/>
        </p:nvCxnSpPr>
        <p:spPr>
          <a:xfrm flipV="1">
            <a:off x="1401123" y="3254124"/>
            <a:ext cx="357188" cy="139828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6" name="모서리가 둥근 직사각형 95">
            <a:hlinkClick r:id="" action="ppaction://noaction"/>
            <a:extLst>
              <a:ext uri="{FF2B5EF4-FFF2-40B4-BE49-F238E27FC236}">
                <a16:creationId xmlns:a16="http://schemas.microsoft.com/office/drawing/2014/main" id="{2600B848-0186-F5DB-893E-3FCF87BEF8F4}"/>
              </a:ext>
            </a:extLst>
          </p:cNvPr>
          <p:cNvSpPr/>
          <p:nvPr/>
        </p:nvSpPr>
        <p:spPr>
          <a:xfrm>
            <a:off x="1198863" y="3942209"/>
            <a:ext cx="204586" cy="237950"/>
          </a:xfrm>
          <a:prstGeom prst="round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/>
          <a:p>
            <a:pPr algn="r" defTabSz="914400">
              <a:defRPr/>
            </a:pPr>
            <a:r>
              <a:rPr lang="en-US" altLang="ko-KR" sz="950" kern="0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2d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C54872-6628-8C06-55B5-67884E823D5C}"/>
              </a:ext>
            </a:extLst>
          </p:cNvPr>
          <p:cNvSpPr/>
          <p:nvPr/>
        </p:nvSpPr>
        <p:spPr>
          <a:xfrm>
            <a:off x="2593910" y="3321698"/>
            <a:ext cx="5365102" cy="9472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내용수정 또는 삭제 검토</a:t>
            </a:r>
          </a:p>
        </p:txBody>
      </p:sp>
    </p:spTree>
    <p:extLst>
      <p:ext uri="{BB962C8B-B14F-4D97-AF65-F5344CB8AC3E}">
        <p14:creationId xmlns:p14="http://schemas.microsoft.com/office/powerpoint/2010/main" val="374411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실행 단추: 홈 70">
            <a:hlinkClick r:id="rId2" action="ppaction://hlinksldjump" highlightClick="1"/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17A500-8241-03CB-8A30-0C772FFDAB6A}"/>
              </a:ext>
            </a:extLst>
          </p:cNvPr>
          <p:cNvSpPr txBox="1"/>
          <p:nvPr/>
        </p:nvSpPr>
        <p:spPr>
          <a:xfrm>
            <a:off x="3334437" y="303802"/>
            <a:ext cx="2084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’26</a:t>
            </a:r>
            <a:r>
              <a:rPr lang="ko-KR" altLang="en-US" sz="1000" dirty="0">
                <a:latin typeface="Arial Narrow" panose="020B0606020202030204" pitchFamily="34" charset="0"/>
              </a:rPr>
              <a:t>년도 매월 </a:t>
            </a:r>
            <a:r>
              <a:rPr lang="en-US" altLang="ko-KR" sz="1000" dirty="0">
                <a:latin typeface="Arial Narrow" panose="020B0606020202030204" pitchFamily="34" charset="0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</a:rPr>
              <a:t>Open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CA87D-6B77-1D88-AA40-423621B6136B}"/>
              </a:ext>
            </a:extLst>
          </p:cNvPr>
          <p:cNvSpPr txBox="1"/>
          <p:nvPr/>
        </p:nvSpPr>
        <p:spPr>
          <a:xfrm>
            <a:off x="666900" y="230475"/>
            <a:ext cx="2707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1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기초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45" name="순서도: 대체 처리 44">
            <a:extLst>
              <a:ext uri="{FF2B5EF4-FFF2-40B4-BE49-F238E27FC236}">
                <a16:creationId xmlns:a16="http://schemas.microsoft.com/office/drawing/2014/main" id="{D9517BE3-BAB4-AD7A-4DD7-F3F6E22FEAA2}"/>
              </a:ext>
            </a:extLst>
          </p:cNvPr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순서도: 대체 처리 45">
            <a:extLst>
              <a:ext uri="{FF2B5EF4-FFF2-40B4-BE49-F238E27FC236}">
                <a16:creationId xmlns:a16="http://schemas.microsoft.com/office/drawing/2014/main" id="{EE460560-6944-A9AF-2B47-CC8D5683AADB}"/>
              </a:ext>
            </a:extLst>
          </p:cNvPr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853C2A-5C87-AC58-EA35-4AF6013FC977}"/>
              </a:ext>
            </a:extLst>
          </p:cNvPr>
          <p:cNvSpPr txBox="1"/>
          <p:nvPr/>
        </p:nvSpPr>
        <p:spPr>
          <a:xfrm>
            <a:off x="8767956" y="281924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Level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80362C-E347-5A69-6008-C862EE900AB1}"/>
              </a:ext>
            </a:extLst>
          </p:cNvPr>
          <p:cNvSpPr txBox="1"/>
          <p:nvPr/>
        </p:nvSpPr>
        <p:spPr>
          <a:xfrm>
            <a:off x="8773709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CB8D5-CE73-504E-3344-5152E16E1520}"/>
              </a:ext>
            </a:extLst>
          </p:cNvPr>
          <p:cNvSpPr txBox="1"/>
          <p:nvPr/>
        </p:nvSpPr>
        <p:spPr>
          <a:xfrm>
            <a:off x="5131444" y="1712391"/>
            <a:ext cx="4400744" cy="474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231F2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AX Level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r>
              <a:rPr lang="en-US" altLang="ko-KR" dirty="0">
                <a:ea typeface="LG스마트체2.0 Regular" panose="020B0600000101010101" pitchFamily="50" charset="-127"/>
              </a:rPr>
              <a:t>1</a:t>
            </a:r>
            <a:r>
              <a:rPr lang="ko-KR" altLang="en-US" dirty="0">
                <a:ea typeface="LG스마트체2.0 Regular" panose="020B0600000101010101" pitchFamily="50" charset="-127"/>
              </a:rPr>
              <a:t> 인증을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위한 필수교육으로 </a:t>
            </a:r>
            <a:r>
              <a:rPr lang="en-US" altLang="ko-KR" dirty="0">
                <a:ea typeface="LG스마트체2.0 Regular" panose="020B0600000101010101" pitchFamily="50" charset="-127"/>
              </a:rPr>
              <a:t>AX/AI</a:t>
            </a:r>
            <a:r>
              <a:rPr lang="ko-KR" altLang="en-US" dirty="0">
                <a:ea typeface="LG스마트체2.0 Regular" panose="020B0600000101010101" pitchFamily="50" charset="-127"/>
              </a:rPr>
              <a:t>와 데이터 분석의 기본개념을 이해하고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간단한 분석 </a:t>
            </a:r>
            <a:r>
              <a:rPr lang="en-US" altLang="ko-KR" dirty="0">
                <a:ea typeface="LG스마트체2.0 Regular" panose="020B0600000101010101" pitchFamily="50" charset="-127"/>
              </a:rPr>
              <a:t>Tool</a:t>
            </a:r>
            <a:r>
              <a:rPr lang="ko-KR" altLang="en-US" dirty="0">
                <a:ea typeface="LG스마트체2.0 Regular" panose="020B0600000101010101" pitchFamily="50" charset="-127"/>
              </a:rPr>
              <a:t>을 활용하여 업무 효율화 또는 데이터 분석을 수행할 수 있도록 함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756737-9803-5C9D-3180-EA7C6A70593B}"/>
              </a:ext>
            </a:extLst>
          </p:cNvPr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367B33-23A2-B0D7-37F1-01AE535ED7E5}"/>
              </a:ext>
            </a:extLst>
          </p:cNvPr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EE433FF-55DE-62E4-DA20-ECCDA1A70029}"/>
              </a:ext>
            </a:extLst>
          </p:cNvPr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59EF287C-E4A5-6425-8FA3-5D6F7A68E6C0}"/>
              </a:ext>
            </a:extLst>
          </p:cNvPr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DB7021B-0E22-C058-FB47-3FD2AC5BF94D}"/>
              </a:ext>
            </a:extLst>
          </p:cNvPr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3F11D90-E0BE-1B34-1638-C32266EE1025}"/>
              </a:ext>
            </a:extLst>
          </p:cNvPr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E24C3FE-E706-A62D-6C8F-595E69850603}"/>
              </a:ext>
            </a:extLst>
          </p:cNvPr>
          <p:cNvSpPr txBox="1"/>
          <p:nvPr/>
        </p:nvSpPr>
        <p:spPr>
          <a:xfrm>
            <a:off x="663365" y="53585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CF7C008-C616-B65A-7F63-BE28BA582B0B}"/>
              </a:ext>
            </a:extLst>
          </p:cNvPr>
          <p:cNvCxnSpPr/>
          <p:nvPr/>
        </p:nvCxnSpPr>
        <p:spPr>
          <a:xfrm>
            <a:off x="1199555" y="55209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E6524A3-0245-ABA5-1048-D00968B4C7CA}"/>
              </a:ext>
            </a:extLst>
          </p:cNvPr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609B2BD9-8AA0-060E-09E2-30A5CA088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3C1913B2-7ED4-51F5-0A25-BA16460A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A6126FF0-5264-FE17-A29A-3839BC6B9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ABA6B3B-6C6B-0C5E-2AA2-49DDF0537438}"/>
                </a:ext>
              </a:extLst>
            </p:cNvPr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4C59FFB-9A1C-6E70-C040-64EE796D7E95}"/>
                </a:ext>
              </a:extLst>
            </p:cNvPr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D357E25-DED5-9F89-DD0B-49CC76196358}"/>
                </a:ext>
              </a:extLst>
            </p:cNvPr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44E056A-B007-E8F0-7DC5-34FFAC2063EA}"/>
                </a:ext>
              </a:extLst>
            </p:cNvPr>
            <p:cNvSpPr txBox="1"/>
            <p:nvPr/>
          </p:nvSpPr>
          <p:spPr>
            <a:xfrm>
              <a:off x="2196453" y="1785823"/>
              <a:ext cx="635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14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04EBAD8-8825-E405-C238-1E53DE16D80D}"/>
                </a:ext>
              </a:extLst>
            </p:cNvPr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55AC550-0E9C-AE51-7699-2B78813AFF89}"/>
                </a:ext>
              </a:extLst>
            </p:cNvPr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74EB23EB-98EE-C41D-3B3C-372C68E73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EBF3C36-F0BA-38A6-A2C5-B67AEE42BC97}"/>
                </a:ext>
              </a:extLst>
            </p:cNvPr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F5E65D7-68CA-FB6B-3585-BD1C1B47887F}"/>
                </a:ext>
              </a:extLst>
            </p:cNvPr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2EABA1BB-AA74-6B0C-B05F-0F8BF5BE02C7}"/>
              </a:ext>
            </a:extLst>
          </p:cNvPr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AX Group</a:t>
            </a:r>
            <a:r>
              <a:rPr kumimoji="1" lang="en-US" altLang="ko-KR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4B548CDE-0C25-18A9-009B-458BE9FD930B}"/>
              </a:ext>
            </a:extLst>
          </p:cNvPr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모서리가 둥근 직사각형 26">
            <a:extLst>
              <a:ext uri="{FF2B5EF4-FFF2-40B4-BE49-F238E27FC236}">
                <a16:creationId xmlns:a16="http://schemas.microsoft.com/office/drawing/2014/main" id="{C9E0582D-57CE-390F-8692-81EB58CE1B1B}"/>
              </a:ext>
            </a:extLst>
          </p:cNvPr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7" name="모서리가 둥근 직사각형 27">
            <a:extLst>
              <a:ext uri="{FF2B5EF4-FFF2-40B4-BE49-F238E27FC236}">
                <a16:creationId xmlns:a16="http://schemas.microsoft.com/office/drawing/2014/main" id="{CAA4B7F8-71EA-F5C3-C294-57B5457C6C71}"/>
              </a:ext>
            </a:extLst>
          </p:cNvPr>
          <p:cNvSpPr/>
          <p:nvPr/>
        </p:nvSpPr>
        <p:spPr>
          <a:xfrm>
            <a:off x="5053804" y="6063958"/>
            <a:ext cx="37141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613DB656-500C-A72F-89B3-DB3BD9DFE023}"/>
              </a:ext>
            </a:extLst>
          </p:cNvPr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2283D0EB-225C-AF3C-C0EC-7BFACB53E558}"/>
              </a:ext>
            </a:extLst>
          </p:cNvPr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B103D6-C58E-3435-D72B-5F159CA4DC90}"/>
              </a:ext>
            </a:extLst>
          </p:cNvPr>
          <p:cNvSpPr txBox="1"/>
          <p:nvPr/>
        </p:nvSpPr>
        <p:spPr>
          <a:xfrm>
            <a:off x="1329386" y="600275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FB2B82-0C9C-ED31-4D60-564CD97CA49F}"/>
              </a:ext>
            </a:extLst>
          </p:cNvPr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5908FD-51F4-8B7E-6A6C-03E7DD3FEB70}"/>
              </a:ext>
            </a:extLst>
          </p:cNvPr>
          <p:cNvSpPr txBox="1"/>
          <p:nvPr/>
        </p:nvSpPr>
        <p:spPr>
          <a:xfrm>
            <a:off x="1812487" y="6056258"/>
            <a:ext cx="2987456" cy="7848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AX Level 1 </a:t>
            </a:r>
            <a:r>
              <a:rPr lang="ko-KR" altLang="en-US" dirty="0">
                <a:ea typeface="LG스마트체2.0 Regular" panose="020B0600000101010101" pitchFamily="50" charset="-127"/>
              </a:rPr>
              <a:t>인증을 위한 필수 교육이며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사무직 진급 등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인증제</a:t>
            </a:r>
            <a:r>
              <a:rPr lang="ko-KR" altLang="en-US" dirty="0">
                <a:ea typeface="LG스마트체2.0 Regular" panose="020B0600000101010101" pitchFamily="50" charset="-127"/>
              </a:rPr>
              <a:t> 관련 사항은 ‘</a:t>
            </a:r>
            <a:r>
              <a:rPr lang="en-US" altLang="ko-KR" dirty="0">
                <a:ea typeface="LG스마트체2.0 Regular" panose="020B0600000101010101" pitchFamily="50" charset="-127"/>
              </a:rPr>
              <a:t>AX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인증제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설명회＇자료를</a:t>
            </a:r>
            <a:r>
              <a:rPr lang="ko-KR" altLang="en-US" dirty="0">
                <a:ea typeface="LG스마트체2.0 Regular" panose="020B0600000101010101" pitchFamily="50" charset="-127"/>
              </a:rPr>
              <a:t> 참고하시기 바랍니다</a:t>
            </a:r>
            <a:r>
              <a:rPr lang="en-US" altLang="ko-KR" dirty="0">
                <a:ea typeface="LG스마트체2.0 Regular" panose="020B0600000101010101" pitchFamily="50" charset="-127"/>
              </a:rPr>
              <a:t>. AX Level 1 </a:t>
            </a:r>
            <a:r>
              <a:rPr lang="ko-KR" altLang="en-US" dirty="0">
                <a:ea typeface="LG스마트체2.0 Regular" panose="020B0600000101010101" pitchFamily="50" charset="-127"/>
              </a:rPr>
              <a:t>인증을 위해선 </a:t>
            </a: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기초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문제해결 방법론 이수 및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과제제안서 제출이 필요합니다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endParaRPr lang="en-US" altLang="ko-KR" dirty="0">
              <a:ea typeface="LG스마트체2.0 Regular" panose="020B0600000101010101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49E9698-D70F-D392-96A1-23037BF4C03D}"/>
              </a:ext>
            </a:extLst>
          </p:cNvPr>
          <p:cNvSpPr/>
          <p:nvPr/>
        </p:nvSpPr>
        <p:spPr>
          <a:xfrm>
            <a:off x="5429864" y="6061755"/>
            <a:ext cx="2949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이수기준</a:t>
            </a: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-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진도율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 +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학습평가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70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이상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만점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3BA411-AAD6-1F7B-C6DD-E406E5A1A263}"/>
              </a:ext>
            </a:extLst>
          </p:cNvPr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76" name="Group 58">
            <a:extLst>
              <a:ext uri="{FF2B5EF4-FFF2-40B4-BE49-F238E27FC236}">
                <a16:creationId xmlns:a16="http://schemas.microsoft.com/office/drawing/2014/main" id="{F6B73D8F-F3F4-EA50-9BD7-5E3D77B45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282160"/>
              </p:ext>
            </p:extLst>
          </p:nvPr>
        </p:nvGraphicFramePr>
        <p:xfrm>
          <a:off x="1370471" y="2812434"/>
          <a:ext cx="6732000" cy="2514520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3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9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AX/AI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이해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기본 개념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역사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분류체계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응용사례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딥러닝 소개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알고리즘 이해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AX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전환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개념 및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윤리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책임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90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데이터의 이해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Data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분석과 통계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통계학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기술통계학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/Minitab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 데이터 분석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추론통계학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정규분포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Big Data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이해 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(Big Data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이해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/Big Data Platform/Big Data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분석 절차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AX/AI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활용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Orange 3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활용한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노코딩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 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;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입출력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변환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시각화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모델링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분석 실습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93663" indent="-93663" algn="l" fontAlgn="ctr">
                        <a:buFont typeface="Wingdings" panose="05000000000000000000" pitchFamily="2" charset="2"/>
                        <a:buChar char="§"/>
                        <a:tabLst>
                          <a:tab pos="93663" algn="l"/>
                        </a:tabLst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생성형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를 활용한 업무 지능화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생성형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실습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61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58D986-8A8C-6363-2C57-19E6AFBE012A}"/>
              </a:ext>
            </a:extLst>
          </p:cNvPr>
          <p:cNvSpPr txBox="1"/>
          <p:nvPr/>
        </p:nvSpPr>
        <p:spPr>
          <a:xfrm>
            <a:off x="666900" y="230475"/>
            <a:ext cx="3608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1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문제해결방법론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78" name="순서도: 대체 처리 77">
            <a:extLst>
              <a:ext uri="{FF2B5EF4-FFF2-40B4-BE49-F238E27FC236}">
                <a16:creationId xmlns:a16="http://schemas.microsoft.com/office/drawing/2014/main" id="{3359A7EF-D8FD-991F-6163-4E0F6B1598B9}"/>
              </a:ext>
            </a:extLst>
          </p:cNvPr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순서도: 대체 처리 78">
            <a:extLst>
              <a:ext uri="{FF2B5EF4-FFF2-40B4-BE49-F238E27FC236}">
                <a16:creationId xmlns:a16="http://schemas.microsoft.com/office/drawing/2014/main" id="{81E8472D-7335-CC24-346A-EE3E6FD8FDE7}"/>
              </a:ext>
            </a:extLst>
          </p:cNvPr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6A85C2-1A71-59D7-9193-701DF29810EC}"/>
              </a:ext>
            </a:extLst>
          </p:cNvPr>
          <p:cNvSpPr txBox="1"/>
          <p:nvPr/>
        </p:nvSpPr>
        <p:spPr>
          <a:xfrm>
            <a:off x="8767956" y="281924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Level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6151FEC-B3F9-2B7A-BF79-05F98250D3EF}"/>
              </a:ext>
            </a:extLst>
          </p:cNvPr>
          <p:cNvSpPr txBox="1"/>
          <p:nvPr/>
        </p:nvSpPr>
        <p:spPr>
          <a:xfrm>
            <a:off x="8773709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ABA34-04E7-192E-2D58-F7923F8179D3}"/>
              </a:ext>
            </a:extLst>
          </p:cNvPr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CEC3A-E28C-771F-5C55-B9263752AE7D}"/>
              </a:ext>
            </a:extLst>
          </p:cNvPr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7CD95C6-8ABC-77A5-505F-1B0DCEAB3533}"/>
              </a:ext>
            </a:extLst>
          </p:cNvPr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35EE0F8-1FEA-B99B-6C23-2B903459971F}"/>
              </a:ext>
            </a:extLst>
          </p:cNvPr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9DFCF0-F6C4-F138-6CD3-57804E12E2DF}"/>
              </a:ext>
            </a:extLst>
          </p:cNvPr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8E811BE-048C-8292-A21D-358EFC5CBDE3}"/>
              </a:ext>
            </a:extLst>
          </p:cNvPr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8058088-5F7A-91CC-1310-0EF2E3BEEE20}"/>
              </a:ext>
            </a:extLst>
          </p:cNvPr>
          <p:cNvSpPr txBox="1"/>
          <p:nvPr/>
        </p:nvSpPr>
        <p:spPr>
          <a:xfrm>
            <a:off x="663365" y="53585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DDDCF99-23C6-FEA6-4621-7FBB2CC96ACB}"/>
              </a:ext>
            </a:extLst>
          </p:cNvPr>
          <p:cNvCxnSpPr/>
          <p:nvPr/>
        </p:nvCxnSpPr>
        <p:spPr>
          <a:xfrm>
            <a:off x="1199555" y="55209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E7299C1-68DF-82AD-47BE-D6C3D35C6583}"/>
              </a:ext>
            </a:extLst>
          </p:cNvPr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7196EDC-4CC1-B3FE-BE28-BEDD9BBAC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4695019-2AD4-437A-B258-08450E012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AF03E7C-88C1-D796-2AF5-2BBCC4F81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CF7C64-D542-8924-D76A-D001C4DCF0D9}"/>
                </a:ext>
              </a:extLst>
            </p:cNvPr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795067-5ACA-99BA-D88C-3BE13827F8A7}"/>
                </a:ext>
              </a:extLst>
            </p:cNvPr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A49F13F-4768-5F04-9170-D5217EAE6779}"/>
                </a:ext>
              </a:extLst>
            </p:cNvPr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47D48DF-9460-EA8E-501F-E2C4978BB31E}"/>
                </a:ext>
              </a:extLst>
            </p:cNvPr>
            <p:cNvSpPr txBox="1"/>
            <p:nvPr/>
          </p:nvSpPr>
          <p:spPr>
            <a:xfrm>
              <a:off x="2196453" y="1785823"/>
              <a:ext cx="635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16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9CAF50-CAEE-7996-C8A9-9ED406F3DFE4}"/>
                </a:ext>
              </a:extLst>
            </p:cNvPr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A31E161-F016-E1DA-5D8E-9C9137E150AB}"/>
                </a:ext>
              </a:extLst>
            </p:cNvPr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01B3A0F-63D5-745B-9B9A-963D289B5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E862F8-0B51-E3C1-CF8C-C4AA25A590F7}"/>
                </a:ext>
              </a:extLst>
            </p:cNvPr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B1CDA3-6BA7-ADCF-0429-F61503782ABA}"/>
                </a:ext>
              </a:extLst>
            </p:cNvPr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C051D47-ADAF-184E-9DA1-424FA77EC08F}"/>
              </a:ext>
            </a:extLst>
          </p:cNvPr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AX Group</a:t>
            </a:r>
            <a:r>
              <a:rPr kumimoji="1" lang="en-US" altLang="ko-KR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57BFC3F-FC66-1EDB-DF00-CC419F8A6B49}"/>
              </a:ext>
            </a:extLst>
          </p:cNvPr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6">
            <a:extLst>
              <a:ext uri="{FF2B5EF4-FFF2-40B4-BE49-F238E27FC236}">
                <a16:creationId xmlns:a16="http://schemas.microsoft.com/office/drawing/2014/main" id="{ECF0E891-4370-4482-EAFD-D8ECA01BE869}"/>
              </a:ext>
            </a:extLst>
          </p:cNvPr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모서리가 둥근 직사각형 27">
            <a:extLst>
              <a:ext uri="{FF2B5EF4-FFF2-40B4-BE49-F238E27FC236}">
                <a16:creationId xmlns:a16="http://schemas.microsoft.com/office/drawing/2014/main" id="{66FC2F81-CE3D-4F0A-92CD-057FC41D1206}"/>
              </a:ext>
            </a:extLst>
          </p:cNvPr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262A939-8865-D5A6-61D2-876E0F91AD69}"/>
              </a:ext>
            </a:extLst>
          </p:cNvPr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1A37DFA-D8B4-1933-FCC9-CABDC2744146}"/>
              </a:ext>
            </a:extLst>
          </p:cNvPr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B2DB23-0356-5B7D-B934-FEF4579D4536}"/>
              </a:ext>
            </a:extLst>
          </p:cNvPr>
          <p:cNvSpPr txBox="1"/>
          <p:nvPr/>
        </p:nvSpPr>
        <p:spPr>
          <a:xfrm>
            <a:off x="1329386" y="600275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E56DBA-F74A-48B9-8E90-F1707CAF1F6B}"/>
              </a:ext>
            </a:extLst>
          </p:cNvPr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B13FB3-5832-86E0-B696-82A597CD252F}"/>
              </a:ext>
            </a:extLst>
          </p:cNvPr>
          <p:cNvSpPr txBox="1"/>
          <p:nvPr/>
        </p:nvSpPr>
        <p:spPr>
          <a:xfrm>
            <a:off x="1812486" y="6056258"/>
            <a:ext cx="2998169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AX Level 1 </a:t>
            </a:r>
            <a:r>
              <a:rPr lang="ko-KR" altLang="en-US" dirty="0">
                <a:ea typeface="LG스마트체2.0 Regular" panose="020B0600000101010101" pitchFamily="50" charset="-127"/>
              </a:rPr>
              <a:t>인증을 위한 필수 교육이며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사무직 진급 등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인증제</a:t>
            </a:r>
            <a:r>
              <a:rPr lang="ko-KR" altLang="en-US" dirty="0">
                <a:ea typeface="LG스마트체2.0 Regular" panose="020B0600000101010101" pitchFamily="50" charset="-127"/>
              </a:rPr>
              <a:t> 관련 사항은 ‘</a:t>
            </a:r>
            <a:r>
              <a:rPr lang="en-US" altLang="ko-KR" dirty="0">
                <a:ea typeface="LG스마트체2.0 Regular" panose="020B0600000101010101" pitchFamily="50" charset="-127"/>
              </a:rPr>
              <a:t>AX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인증제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설명회＇자료를</a:t>
            </a:r>
            <a:r>
              <a:rPr lang="ko-KR" altLang="en-US" dirty="0">
                <a:ea typeface="LG스마트체2.0 Regular" panose="020B0600000101010101" pitchFamily="50" charset="-127"/>
              </a:rPr>
              <a:t> 참고바랍니다</a:t>
            </a:r>
            <a:r>
              <a:rPr lang="en-US" altLang="ko-KR" dirty="0">
                <a:ea typeface="LG스마트체2.0 Regular" panose="020B0600000101010101" pitchFamily="50" charset="-127"/>
              </a:rPr>
              <a:t>. </a:t>
            </a:r>
            <a:r>
              <a:rPr lang="ko-KR" altLang="en-US" dirty="0">
                <a:ea typeface="LG스마트체2.0 Regular" panose="020B0600000101010101" pitchFamily="50" charset="-127"/>
              </a:rPr>
              <a:t>단</a:t>
            </a:r>
            <a:r>
              <a:rPr lang="en-US" altLang="ko-KR" dirty="0">
                <a:ea typeface="LG스마트체2.0 Regular" panose="020B0600000101010101" pitchFamily="50" charset="-127"/>
              </a:rPr>
              <a:t>, 6</a:t>
            </a:r>
            <a:r>
              <a:rPr lang="ko-KR" altLang="en-US" dirty="0">
                <a:ea typeface="LG스마트체2.0 Regular" panose="020B0600000101010101" pitchFamily="50" charset="-127"/>
              </a:rPr>
              <a:t>시그마 인증자는 본 과정 이수로 인정되므로 필수는 아닙니다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AA022D5-3B62-CEFD-4323-D5C1FC3491D4}"/>
              </a:ext>
            </a:extLst>
          </p:cNvPr>
          <p:cNvSpPr/>
          <p:nvPr/>
        </p:nvSpPr>
        <p:spPr>
          <a:xfrm>
            <a:off x="5366104" y="6061755"/>
            <a:ext cx="2949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이수기준</a:t>
            </a: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진도율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 +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학습평가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70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이상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만점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3A6AB9-349B-029D-6E5A-E80E649D0855}"/>
              </a:ext>
            </a:extLst>
          </p:cNvPr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39" name="Group 58">
            <a:extLst>
              <a:ext uri="{FF2B5EF4-FFF2-40B4-BE49-F238E27FC236}">
                <a16:creationId xmlns:a16="http://schemas.microsoft.com/office/drawing/2014/main" id="{25240D79-B34E-ED0B-5901-913F3FBFA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0531"/>
              </p:ext>
            </p:extLst>
          </p:nvPr>
        </p:nvGraphicFramePr>
        <p:xfrm>
          <a:off x="1370471" y="2812434"/>
          <a:ext cx="6732000" cy="2453202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2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문제해결기초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 해결 개요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문제와 문제해결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문제해결 프로세스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문제정의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테마 선정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목표 설정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현상파악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 구조화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Risk Management,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과제 구체화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원인분석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가설설정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분석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해결안 개발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아이디어 도출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해결안 평가 및 선정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평가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계획수립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실행결과점검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BP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전파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성과관리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6σ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기초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DMAIC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방법론 개요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방법론의 시작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방법론 기본개념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/DMAIC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방법론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Define 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개선기회 확인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/CTQ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선정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Measure 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기준실적 파악 및 목표설정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잠재인자 도출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Analyze 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치명인자 선정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Improve (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최적안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선정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재현성 평가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Control 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관리계획 수립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관리 및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BP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확대 적용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5E451751-A30E-9B5E-965F-A1EDC26679BE}"/>
              </a:ext>
            </a:extLst>
          </p:cNvPr>
          <p:cNvSpPr txBox="1"/>
          <p:nvPr/>
        </p:nvSpPr>
        <p:spPr>
          <a:xfrm>
            <a:off x="5131444" y="1712391"/>
            <a:ext cx="4400744" cy="474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231F2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AX Level 1 </a:t>
            </a:r>
            <a:r>
              <a:rPr lang="ko-KR" altLang="en-US" dirty="0">
                <a:ea typeface="LG스마트체2.0 Regular" panose="020B0600000101010101" pitchFamily="50" charset="-127"/>
              </a:rPr>
              <a:t>인증을 위한 필수교육으로 자사의 문제해결방법론 </a:t>
            </a:r>
            <a:r>
              <a:rPr lang="en-US" altLang="ko-KR" dirty="0">
                <a:ea typeface="LG스마트체2.0 Regular" panose="020B0600000101010101" pitchFamily="50" charset="-127"/>
              </a:rPr>
              <a:t>(</a:t>
            </a:r>
            <a:r>
              <a:rPr lang="ko-KR" altLang="en-US" dirty="0">
                <a:ea typeface="LG스마트체2.0 Regular" panose="020B0600000101010101" pitchFamily="50" charset="-127"/>
              </a:rPr>
              <a:t>문제해결기초</a:t>
            </a:r>
            <a:r>
              <a:rPr lang="en-US" altLang="ko-KR" dirty="0">
                <a:ea typeface="LG스마트체2.0 Regular" panose="020B0600000101010101" pitchFamily="50" charset="-127"/>
              </a:rPr>
              <a:t>, 6σ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r>
              <a:rPr lang="en-US" altLang="ko-KR" dirty="0">
                <a:ea typeface="LG스마트체2.0 Regular" panose="020B0600000101010101" pitchFamily="50" charset="-127"/>
              </a:rPr>
              <a:t>DMAIC </a:t>
            </a:r>
            <a:r>
              <a:rPr lang="ko-KR" altLang="en-US" dirty="0">
                <a:ea typeface="LG스마트체2.0 Regular" panose="020B0600000101010101" pitchFamily="50" charset="-127"/>
              </a:rPr>
              <a:t>기초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  <a:r>
              <a:rPr lang="ko-KR" altLang="en-US" dirty="0">
                <a:ea typeface="LG스마트체2.0 Regular" panose="020B0600000101010101" pitchFamily="50" charset="-127"/>
              </a:rPr>
              <a:t>를 이해하고 업무에 적용할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수 있다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2" name="실행 단추: 홈 7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FD01A81-6CC7-9874-22E0-D7ABF320D89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79F2AE-2D51-DD1A-4B18-FA900B4CE661}"/>
              </a:ext>
            </a:extLst>
          </p:cNvPr>
          <p:cNvSpPr txBox="1"/>
          <p:nvPr/>
        </p:nvSpPr>
        <p:spPr>
          <a:xfrm>
            <a:off x="4187462" y="290788"/>
            <a:ext cx="2084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’26</a:t>
            </a:r>
            <a:r>
              <a:rPr lang="ko-KR" altLang="en-US" sz="1000" dirty="0">
                <a:latin typeface="Arial Narrow" panose="020B0606020202030204" pitchFamily="34" charset="0"/>
              </a:rPr>
              <a:t>년도 매월 </a:t>
            </a:r>
            <a:r>
              <a:rPr lang="en-US" altLang="ko-KR" sz="1000" dirty="0">
                <a:latin typeface="Arial Narrow" panose="020B0606020202030204" pitchFamily="34" charset="0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3443458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대체 처리 56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8" name="순서도: 대체 처리 57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767956" y="281924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Level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3709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인증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CA3D1D-B749-9B1C-D73D-608F05DBD273}"/>
              </a:ext>
            </a:extLst>
          </p:cNvPr>
          <p:cNvSpPr txBox="1"/>
          <p:nvPr/>
        </p:nvSpPr>
        <p:spPr>
          <a:xfrm>
            <a:off x="666901" y="230475"/>
            <a:ext cx="2718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(6σ Tool)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BCDC8-7690-CB2A-C1BB-DB69B28BADFC}"/>
              </a:ext>
            </a:extLst>
          </p:cNvPr>
          <p:cNvSpPr txBox="1"/>
          <p:nvPr/>
        </p:nvSpPr>
        <p:spPr>
          <a:xfrm>
            <a:off x="5131444" y="1712391"/>
            <a:ext cx="4400744" cy="474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231F2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ea typeface="LG스마트체2.0 Regular" panose="020B0600000101010101" pitchFamily="50" charset="-127"/>
              </a:rPr>
              <a:t>측정시스템분석</a:t>
            </a:r>
            <a:r>
              <a:rPr lang="en-US" altLang="ko-KR" dirty="0">
                <a:ea typeface="LG스마트체2.0 Regular" panose="020B0600000101010101" pitchFamily="50" charset="-127"/>
              </a:rPr>
              <a:t>(MSA), </a:t>
            </a:r>
            <a:r>
              <a:rPr lang="ko-KR" altLang="en-US" dirty="0">
                <a:ea typeface="LG스마트체2.0 Regular" panose="020B0600000101010101" pitchFamily="50" charset="-127"/>
              </a:rPr>
              <a:t>통계적공정관리</a:t>
            </a:r>
            <a:r>
              <a:rPr lang="en-US" altLang="ko-KR" dirty="0">
                <a:ea typeface="LG스마트체2.0 Regular" panose="020B0600000101010101" pitchFamily="50" charset="-127"/>
              </a:rPr>
              <a:t>(SPC), </a:t>
            </a:r>
            <a:r>
              <a:rPr lang="ko-KR" altLang="en-US" dirty="0">
                <a:ea typeface="LG스마트체2.0 Regular" panose="020B0600000101010101" pitchFamily="50" charset="-127"/>
              </a:rPr>
              <a:t>실험계획법</a:t>
            </a:r>
            <a:r>
              <a:rPr lang="en-US" altLang="ko-KR" dirty="0">
                <a:ea typeface="LG스마트체2.0 Regular" panose="020B0600000101010101" pitchFamily="50" charset="-127"/>
              </a:rPr>
              <a:t>(DOE)</a:t>
            </a:r>
            <a:r>
              <a:rPr lang="ko-KR" altLang="en-US" dirty="0">
                <a:ea typeface="LG스마트체2.0 Regular" panose="020B0600000101010101" pitchFamily="50" charset="-127"/>
              </a:rPr>
              <a:t>의 학습을 통하여 </a:t>
            </a:r>
            <a:endParaRPr lang="en-US" altLang="ko-KR" dirty="0">
              <a:ea typeface="LG스마트체2.0 Regular" panose="020B0600000101010101" pitchFamily="50" charset="-127"/>
            </a:endParaRPr>
          </a:p>
          <a:p>
            <a:r>
              <a:rPr lang="en-US" altLang="ko-KR" dirty="0">
                <a:ea typeface="LG스마트체2.0 Regular" panose="020B0600000101010101" pitchFamily="50" charset="-127"/>
              </a:rPr>
              <a:t>6σ </a:t>
            </a:r>
            <a:r>
              <a:rPr lang="ko-KR" altLang="en-US" dirty="0">
                <a:ea typeface="LG스마트체2.0 Regular" panose="020B0600000101010101" pitchFamily="50" charset="-127"/>
              </a:rPr>
              <a:t>통계적 </a:t>
            </a:r>
            <a:r>
              <a:rPr lang="en-US" altLang="ko-KR" dirty="0">
                <a:ea typeface="LG스마트체2.0 Regular" panose="020B0600000101010101" pitchFamily="50" charset="-127"/>
              </a:rPr>
              <a:t>Tool</a:t>
            </a:r>
            <a:r>
              <a:rPr lang="ko-KR" altLang="en-US" dirty="0">
                <a:ea typeface="LG스마트체2.0 Regular" panose="020B0600000101010101" pitchFamily="50" charset="-127"/>
              </a:rPr>
              <a:t>을 목적에 맞게 활용할 수 있다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46630-1956-B838-7C17-A567EFE6F7B8}"/>
              </a:ext>
            </a:extLst>
          </p:cNvPr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AF265-3B40-C2FC-9A40-8E3F91576ADE}"/>
              </a:ext>
            </a:extLst>
          </p:cNvPr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30DB2F6-8B63-D593-8666-168E2EF8F6A6}"/>
              </a:ext>
            </a:extLst>
          </p:cNvPr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24AA6BF-700C-653A-4739-B62CDE55A1E8}"/>
              </a:ext>
            </a:extLst>
          </p:cNvPr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A76F5A-F54C-EAA4-3D62-97BB04BBD725}"/>
              </a:ext>
            </a:extLst>
          </p:cNvPr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C62A7E1-40EB-5FF3-DD78-00ADB7BDA6DB}"/>
              </a:ext>
            </a:extLst>
          </p:cNvPr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B82B26-8181-52BF-E22A-ACB508728B83}"/>
              </a:ext>
            </a:extLst>
          </p:cNvPr>
          <p:cNvSpPr txBox="1"/>
          <p:nvPr/>
        </p:nvSpPr>
        <p:spPr>
          <a:xfrm>
            <a:off x="663365" y="53585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94A6BA1-1D58-F303-F6D3-E2D9B109869D}"/>
              </a:ext>
            </a:extLst>
          </p:cNvPr>
          <p:cNvCxnSpPr/>
          <p:nvPr/>
        </p:nvCxnSpPr>
        <p:spPr>
          <a:xfrm>
            <a:off x="1199555" y="55209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AC50743-D9BE-FC3C-924F-FA5EB38FFE73}"/>
              </a:ext>
            </a:extLst>
          </p:cNvPr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3CDD538-3393-D173-4685-28BD81916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2556D85-26AA-E5FE-30A0-E5D016D48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3D9AEAD-7C27-0B8B-E1E4-2CB42DC3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8CF8F5-2DCC-A1B5-0F54-BB90B00044A5}"/>
                </a:ext>
              </a:extLst>
            </p:cNvPr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2139B82-9536-F34A-B374-B22B1CBD2E5B}"/>
                </a:ext>
              </a:extLst>
            </p:cNvPr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895F77-7C69-77B9-76C0-0022D3C2B1B3}"/>
                </a:ext>
              </a:extLst>
            </p:cNvPr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FE0519-9FAE-26BE-072C-E2D143641EA7}"/>
                </a:ext>
              </a:extLst>
            </p:cNvPr>
            <p:cNvSpPr txBox="1"/>
            <p:nvPr/>
          </p:nvSpPr>
          <p:spPr>
            <a:xfrm>
              <a:off x="2168460" y="1785823"/>
              <a:ext cx="635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8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E8B8B4A-6819-D8A3-BC63-1DB8BC73942E}"/>
                </a:ext>
              </a:extLst>
            </p:cNvPr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E2D40C-11A2-CE73-F323-90346C7CC67A}"/>
                </a:ext>
              </a:extLst>
            </p:cNvPr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9949FF6-12DB-8D17-C9F5-8D118975F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47D598-15DC-1DBA-8935-BAE09DA24C2D}"/>
                </a:ext>
              </a:extLst>
            </p:cNvPr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5D07FD2-F053-9422-3664-CB457FAAF7DC}"/>
                </a:ext>
              </a:extLst>
            </p:cNvPr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Off-Line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66A73AA-0D24-3E64-0B74-5D6FF1D6A9DD}"/>
              </a:ext>
            </a:extLst>
          </p:cNvPr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AX Group</a:t>
            </a:r>
            <a:r>
              <a:rPr kumimoji="1" lang="en-US" altLang="ko-KR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B411464-CC95-5693-F0AB-BE28E20A89A1}"/>
              </a:ext>
            </a:extLst>
          </p:cNvPr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6">
            <a:extLst>
              <a:ext uri="{FF2B5EF4-FFF2-40B4-BE49-F238E27FC236}">
                <a16:creationId xmlns:a16="http://schemas.microsoft.com/office/drawing/2014/main" id="{E06C589B-DA41-0C67-C653-94C7D1CB273F}"/>
              </a:ext>
            </a:extLst>
          </p:cNvPr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모서리가 둥근 직사각형 27">
            <a:extLst>
              <a:ext uri="{FF2B5EF4-FFF2-40B4-BE49-F238E27FC236}">
                <a16:creationId xmlns:a16="http://schemas.microsoft.com/office/drawing/2014/main" id="{3AAE7724-F37C-29F7-0626-6B9BEC950BFC}"/>
              </a:ext>
            </a:extLst>
          </p:cNvPr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76B82FBA-96F5-5091-9D09-B407BDBAD319}"/>
              </a:ext>
            </a:extLst>
          </p:cNvPr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836E61-ECB7-3B37-DE97-6736A5367227}"/>
              </a:ext>
            </a:extLst>
          </p:cNvPr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7732C5-C39B-B78C-D402-2D5428B84254}"/>
              </a:ext>
            </a:extLst>
          </p:cNvPr>
          <p:cNvSpPr txBox="1"/>
          <p:nvPr/>
        </p:nvSpPr>
        <p:spPr>
          <a:xfrm>
            <a:off x="1329386" y="600275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ACEB8A-18D1-8677-A5EF-1E8724366931}"/>
              </a:ext>
            </a:extLst>
          </p:cNvPr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756FDC-C50A-2695-8DF1-4E8370741D4A}"/>
              </a:ext>
            </a:extLst>
          </p:cNvPr>
          <p:cNvSpPr txBox="1"/>
          <p:nvPr/>
        </p:nvSpPr>
        <p:spPr>
          <a:xfrm>
            <a:off x="1812487" y="6084251"/>
            <a:ext cx="2987456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- 6</a:t>
            </a:r>
            <a:r>
              <a:rPr lang="ko-KR" altLang="en-US" dirty="0">
                <a:ea typeface="LG스마트체2.0 Regular" panose="020B0600000101010101" pitchFamily="50" charset="-127"/>
              </a:rPr>
              <a:t>시그마 </a:t>
            </a:r>
            <a:r>
              <a:rPr lang="en-US" altLang="ko-KR" dirty="0">
                <a:ea typeface="LG스마트체2.0 Regular" panose="020B0600000101010101" pitchFamily="50" charset="-127"/>
              </a:rPr>
              <a:t>BB </a:t>
            </a:r>
            <a:r>
              <a:rPr lang="ko-KR" altLang="en-US" dirty="0">
                <a:ea typeface="LG스마트체2.0 Regular" panose="020B0600000101010101" pitchFamily="50" charset="-127"/>
              </a:rPr>
              <a:t>이상 인증 보유자는 수강 불필요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- AX Level 1 </a:t>
            </a:r>
            <a:r>
              <a:rPr lang="ko-KR" altLang="en-US" dirty="0">
                <a:ea typeface="LG스마트체2.0 Regular" panose="020B0600000101010101" pitchFamily="50" charset="-127"/>
              </a:rPr>
              <a:t>인증자에 한해 수강신청 가능</a:t>
            </a:r>
            <a:endParaRPr lang="en-US" altLang="ko-KR" dirty="0">
              <a:ea typeface="LG스마트체2.0 Regular" panose="020B060000010101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D12D72-1B3B-3107-4BC2-2E9D5491C7BF}"/>
              </a:ext>
            </a:extLst>
          </p:cNvPr>
          <p:cNvSpPr/>
          <p:nvPr/>
        </p:nvSpPr>
        <p:spPr>
          <a:xfrm>
            <a:off x="5440751" y="6089748"/>
            <a:ext cx="294986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이수기준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출석율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A2352D-4046-3A73-A0D0-69F870771689}"/>
              </a:ext>
            </a:extLst>
          </p:cNvPr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40" name="Group 58">
            <a:extLst>
              <a:ext uri="{FF2B5EF4-FFF2-40B4-BE49-F238E27FC236}">
                <a16:creationId xmlns:a16="http://schemas.microsoft.com/office/drawing/2014/main" id="{25DBAF53-CC49-9859-C9C9-B3B7245C3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947578"/>
              </p:ext>
            </p:extLst>
          </p:nvPr>
        </p:nvGraphicFramePr>
        <p:xfrm>
          <a:off x="1370471" y="2812434"/>
          <a:ext cx="6732000" cy="2422040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3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79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측정시스템 분석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(MSA)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측정시스템 분석이란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?  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정확도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  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정밀도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통계적 공정관리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(SPC)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통계적 공정관리란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? 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관리도 개념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관리도 종류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사례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1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실험계획법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(DOE)	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실험계획법이란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? 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실험계획법 절차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기본 원리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요인배치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완전배치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부분배치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),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반응표면실험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71B659-A2B8-6DBD-507C-325EAA2F8498}"/>
              </a:ext>
            </a:extLst>
          </p:cNvPr>
          <p:cNvSpPr txBox="1"/>
          <p:nvPr/>
        </p:nvSpPr>
        <p:spPr>
          <a:xfrm>
            <a:off x="3294510" y="281916"/>
            <a:ext cx="23742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’26</a:t>
            </a:r>
            <a:r>
              <a:rPr lang="ko-KR" altLang="en-US" sz="1000" dirty="0">
                <a:latin typeface="Arial Narrow" panose="020B0606020202030204" pitchFamily="34" charset="0"/>
              </a:rPr>
              <a:t>년도 년간 교육 차수일정  참고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3" name="실행 단추: 홈 7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E972307-DCA7-8798-2DB1-61174712CD7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0" name="실행 단추: 앞으로 또는 다음 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301BA00E-7531-F3A4-AB32-5972F7840403}"/>
              </a:ext>
            </a:extLst>
          </p:cNvPr>
          <p:cNvSpPr/>
          <p:nvPr/>
        </p:nvSpPr>
        <p:spPr>
          <a:xfrm>
            <a:off x="4828981" y="346756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650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대체 처리 56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8" name="순서도: 대체 처리 57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767956" y="281924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Level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3709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인증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CA3D1D-B749-9B1C-D73D-608F05DBD273}"/>
              </a:ext>
            </a:extLst>
          </p:cNvPr>
          <p:cNvSpPr txBox="1"/>
          <p:nvPr/>
        </p:nvSpPr>
        <p:spPr>
          <a:xfrm>
            <a:off x="666901" y="230475"/>
            <a:ext cx="3188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입문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B262F-DB68-BA1B-77A1-16BDF1B47707}"/>
              </a:ext>
            </a:extLst>
          </p:cNvPr>
          <p:cNvSpPr txBox="1"/>
          <p:nvPr/>
        </p:nvSpPr>
        <p:spPr>
          <a:xfrm>
            <a:off x="5131444" y="1712391"/>
            <a:ext cx="4400744" cy="474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231F2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AX Level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r>
              <a:rPr lang="en-US" altLang="ko-KR" dirty="0">
                <a:ea typeface="LG스마트체2.0 Regular" panose="020B0600000101010101" pitchFamily="50" charset="-127"/>
              </a:rPr>
              <a:t>2</a:t>
            </a:r>
            <a:r>
              <a:rPr lang="ko-KR" altLang="en-US" dirty="0">
                <a:ea typeface="LG스마트체2.0 Regular" panose="020B0600000101010101" pitchFamily="50" charset="-127"/>
              </a:rPr>
              <a:t> 과정 참가를 위한 필수 사전교육으로써 인공지능 활용을 통한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</a:p>
          <a:p>
            <a:r>
              <a:rPr lang="ko-KR" altLang="en-US" dirty="0">
                <a:ea typeface="LG스마트체2.0 Regular" panose="020B0600000101010101" pitchFamily="50" charset="-127"/>
              </a:rPr>
              <a:t>업무자동화를 위해 </a:t>
            </a:r>
            <a:r>
              <a:rPr lang="ko-KR" altLang="en-US" dirty="0" err="1">
                <a:ea typeface="LG스마트체2.0 Regular" panose="020B0600000101010101" pitchFamily="50" charset="-127"/>
              </a:rPr>
              <a:t>파이썬의</a:t>
            </a:r>
            <a:r>
              <a:rPr lang="ko-KR" altLang="en-US" dirty="0">
                <a:ea typeface="LG스마트체2.0 Regular" panose="020B0600000101010101" pitchFamily="50" charset="-127"/>
              </a:rPr>
              <a:t> 기본적인 문법을 습득하고 활용할 수 있다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C9BE9-9087-98DB-DAA6-121AFB7D7D64}"/>
              </a:ext>
            </a:extLst>
          </p:cNvPr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4CC6F-5E8B-C8FE-4775-82D1CC821A5E}"/>
              </a:ext>
            </a:extLst>
          </p:cNvPr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4EB7608-8024-47B1-5402-BA1586C689FB}"/>
              </a:ext>
            </a:extLst>
          </p:cNvPr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6F32F3F-D4B5-5390-4DE8-EE2A0CA41063}"/>
              </a:ext>
            </a:extLst>
          </p:cNvPr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69F881-F843-DFEC-F981-F31657572B5B}"/>
              </a:ext>
            </a:extLst>
          </p:cNvPr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5DAFCE2-DCEC-7734-40EA-A524AD05EDCD}"/>
              </a:ext>
            </a:extLst>
          </p:cNvPr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F1678C-244C-76DD-FCDF-1CC14AD6B2ED}"/>
              </a:ext>
            </a:extLst>
          </p:cNvPr>
          <p:cNvSpPr txBox="1"/>
          <p:nvPr/>
        </p:nvSpPr>
        <p:spPr>
          <a:xfrm>
            <a:off x="663365" y="53585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69E9289-67B1-D05A-A7A1-CCD83411B578}"/>
              </a:ext>
            </a:extLst>
          </p:cNvPr>
          <p:cNvCxnSpPr/>
          <p:nvPr/>
        </p:nvCxnSpPr>
        <p:spPr>
          <a:xfrm>
            <a:off x="1199555" y="55209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194431-63E2-C5EB-46F5-698EF8B70046}"/>
              </a:ext>
            </a:extLst>
          </p:cNvPr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D0523D1-BE84-BAE6-A9F6-6EFC58A22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98A9EC1-92AD-F6A9-04FF-EEEC98C4D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9E96A82-A254-B067-0981-AD8BAC613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4A417A5-9406-6B12-C497-253034C3249B}"/>
                </a:ext>
              </a:extLst>
            </p:cNvPr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7BF0F0-F9A0-5DEA-2DF0-96AC6CB183F4}"/>
                </a:ext>
              </a:extLst>
            </p:cNvPr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E87657-6533-082B-F5E8-4C71A6BBA5B9}"/>
                </a:ext>
              </a:extLst>
            </p:cNvPr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79387A5-A73C-CF8C-DC2A-62B0C0A73E2E}"/>
                </a:ext>
              </a:extLst>
            </p:cNvPr>
            <p:cNvSpPr txBox="1"/>
            <p:nvPr/>
          </p:nvSpPr>
          <p:spPr>
            <a:xfrm>
              <a:off x="2196453" y="1785823"/>
              <a:ext cx="635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10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C9E667A-CA28-795D-FA4D-DF78C9736737}"/>
                </a:ext>
              </a:extLst>
            </p:cNvPr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791C13-4FA6-8954-EB6F-225A46DF42FE}"/>
                </a:ext>
              </a:extLst>
            </p:cNvPr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DF6A007B-605D-65E7-DD8A-B25E10C0A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324662-ADF5-1B02-FF39-9D61B259AC66}"/>
                </a:ext>
              </a:extLst>
            </p:cNvPr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3BAD9AB-8770-FF99-6DC5-5C14BFA60035}"/>
                </a:ext>
              </a:extLst>
            </p:cNvPr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8EB7050-4ABA-81B6-3C00-6B723BE9A0BC}"/>
              </a:ext>
            </a:extLst>
          </p:cNvPr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AX Group</a:t>
            </a:r>
            <a:r>
              <a:rPr kumimoji="1" lang="en-US" altLang="ko-KR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C4FF7E0-FDDE-0416-6C54-C001C735E3F2}"/>
              </a:ext>
            </a:extLst>
          </p:cNvPr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6">
            <a:extLst>
              <a:ext uri="{FF2B5EF4-FFF2-40B4-BE49-F238E27FC236}">
                <a16:creationId xmlns:a16="http://schemas.microsoft.com/office/drawing/2014/main" id="{7437C614-19CA-3DF6-D4F9-89FD83F202CE}"/>
              </a:ext>
            </a:extLst>
          </p:cNvPr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모서리가 둥근 직사각형 27">
            <a:extLst>
              <a:ext uri="{FF2B5EF4-FFF2-40B4-BE49-F238E27FC236}">
                <a16:creationId xmlns:a16="http://schemas.microsoft.com/office/drawing/2014/main" id="{0845AE84-C5BF-C862-968D-D0DF37D26525}"/>
              </a:ext>
            </a:extLst>
          </p:cNvPr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515A6D7-90C9-6D87-086D-27D0325D534D}"/>
              </a:ext>
            </a:extLst>
          </p:cNvPr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F50391E-C072-B75A-887C-6026A9D7DBD5}"/>
              </a:ext>
            </a:extLst>
          </p:cNvPr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958FA-348D-5DA7-E02C-2E9A2D63C20A}"/>
              </a:ext>
            </a:extLst>
          </p:cNvPr>
          <p:cNvSpPr txBox="1"/>
          <p:nvPr/>
        </p:nvSpPr>
        <p:spPr>
          <a:xfrm>
            <a:off x="1329386" y="600275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FCBDF9-825C-1A0C-BE9C-58BD4D7C610A}"/>
              </a:ext>
            </a:extLst>
          </p:cNvPr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648A35-4A2C-E48F-4F2A-3EDC9B290FE4}"/>
              </a:ext>
            </a:extLst>
          </p:cNvPr>
          <p:cNvSpPr txBox="1"/>
          <p:nvPr/>
        </p:nvSpPr>
        <p:spPr>
          <a:xfrm>
            <a:off x="1812487" y="6056258"/>
            <a:ext cx="2987456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- AX Level 2 </a:t>
            </a:r>
            <a:r>
              <a:rPr lang="ko-KR" altLang="en-US" dirty="0">
                <a:ea typeface="LG스마트체2.0 Regular" panose="020B0600000101010101" pitchFamily="50" charset="-127"/>
              </a:rPr>
              <a:t>과정 </a:t>
            </a:r>
            <a:r>
              <a:rPr lang="en-US" altLang="ko-KR" dirty="0">
                <a:ea typeface="LG스마트체2.0 Regular" panose="020B0600000101010101" pitchFamily="50" charset="-127"/>
              </a:rPr>
              <a:t>(AI </a:t>
            </a:r>
            <a:r>
              <a:rPr lang="ko-KR" altLang="en-US" dirty="0">
                <a:ea typeface="LG스마트체2.0 Regular" panose="020B0600000101010101" pitchFamily="50" charset="-127"/>
              </a:rPr>
              <a:t>활용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  <a:r>
              <a:rPr lang="ko-KR" altLang="en-US" dirty="0">
                <a:ea typeface="LG스마트체2.0 Regular" panose="020B0600000101010101" pitchFamily="50" charset="-127"/>
              </a:rPr>
              <a:t> 참가를 위한 사전 필수 이러닝임</a:t>
            </a:r>
            <a:r>
              <a:rPr lang="en-US" altLang="ko-KR" dirty="0">
                <a:ea typeface="LG스마트체2.0 Regular" panose="020B0600000101010101" pitchFamily="50" charset="-127"/>
              </a:rPr>
              <a:t>.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- </a:t>
            </a:r>
            <a:r>
              <a:rPr lang="ko-KR" altLang="en-US" dirty="0">
                <a:ea typeface="LG스마트체2.0 Regular" panose="020B0600000101010101" pitchFamily="50" charset="-127"/>
              </a:rPr>
              <a:t>파이썬 코딩 학습을 위한 구성원도 선택 수강 가능</a:t>
            </a:r>
            <a:endParaRPr lang="en-US" altLang="ko-KR" dirty="0">
              <a:ea typeface="LG스마트체2.0 Regular" panose="020B060000010101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54FF8F-8EF6-2959-471B-D48CF604A396}"/>
              </a:ext>
            </a:extLst>
          </p:cNvPr>
          <p:cNvSpPr/>
          <p:nvPr/>
        </p:nvSpPr>
        <p:spPr>
          <a:xfrm>
            <a:off x="5440751" y="6061755"/>
            <a:ext cx="2949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이수기준</a:t>
            </a: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-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진도율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 +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학습평가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7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이상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만점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2CDD36-0CCA-F483-D014-B05FE2B0A1DB}"/>
              </a:ext>
            </a:extLst>
          </p:cNvPr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40" name="Group 58">
            <a:extLst>
              <a:ext uri="{FF2B5EF4-FFF2-40B4-BE49-F238E27FC236}">
                <a16:creationId xmlns:a16="http://schemas.microsoft.com/office/drawing/2014/main" id="{555098E3-C5D5-BAAE-3310-BEB65F8CE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490538"/>
              </p:ext>
            </p:extLst>
          </p:nvPr>
        </p:nvGraphicFramePr>
        <p:xfrm>
          <a:off x="1370471" y="2812434"/>
          <a:ext cx="6732000" cy="2496684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3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파이썬 소개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파이썬 및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Jupyter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소개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3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파이썬 기본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(1) (2)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파이썬 기본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(1)</a:t>
                      </a:r>
                      <a:b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 ;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숫자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문자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부울형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리스트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튜플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집합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딕셔너리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변수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연산자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None/ </a:t>
                      </a:r>
                      <a:b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  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파이썬 기본 문법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조건문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반복문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예외처리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파이썬 기본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(2)</a:t>
                      </a:r>
                      <a:b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 ;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함수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클래스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모듈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폴더와 파일 다루기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텍스트 다루기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1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파이썬 실습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파일 이름 변경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복사 자동화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텍스트 단어 변경 자동화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</a:tbl>
          </a:graphicData>
        </a:graphic>
      </p:graphicFrame>
      <p:sp>
        <p:nvSpPr>
          <p:cNvPr id="3" name="실행 단추: 홈 7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7F478E3-A4B7-1D00-6644-339A30228BDE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B30AE6-14EC-2E93-6A4C-7048DF9EBE27}"/>
              </a:ext>
            </a:extLst>
          </p:cNvPr>
          <p:cNvSpPr txBox="1"/>
          <p:nvPr/>
        </p:nvSpPr>
        <p:spPr>
          <a:xfrm>
            <a:off x="3723728" y="263254"/>
            <a:ext cx="2084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’26</a:t>
            </a:r>
            <a:r>
              <a:rPr lang="ko-KR" altLang="en-US" sz="1000" dirty="0">
                <a:latin typeface="Arial Narrow" panose="020B0606020202030204" pitchFamily="34" charset="0"/>
              </a:rPr>
              <a:t>년도 매월 </a:t>
            </a:r>
            <a:r>
              <a:rPr lang="en-US" altLang="ko-KR" sz="1000" dirty="0">
                <a:latin typeface="Arial Narrow" panose="020B0606020202030204" pitchFamily="34" charset="0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351597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대체 처리 56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8" name="순서도: 대체 처리 57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767956" y="281924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Level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3709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인증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CA3D1D-B749-9B1C-D73D-608F05DBD273}"/>
              </a:ext>
            </a:extLst>
          </p:cNvPr>
          <p:cNvSpPr txBox="1"/>
          <p:nvPr/>
        </p:nvSpPr>
        <p:spPr>
          <a:xfrm>
            <a:off x="666901" y="230475"/>
            <a:ext cx="3913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“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엔지니어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4D19F-B9F6-BC14-0404-8175A96F6FDF}"/>
              </a:ext>
            </a:extLst>
          </p:cNvPr>
          <p:cNvSpPr txBox="1"/>
          <p:nvPr/>
        </p:nvSpPr>
        <p:spPr>
          <a:xfrm>
            <a:off x="5131444" y="1712391"/>
            <a:ext cx="4400744" cy="671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231F2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Small y </a:t>
            </a:r>
            <a:r>
              <a:rPr lang="ko-KR" altLang="en-US" dirty="0">
                <a:ea typeface="LG스마트체2.0 Regular" panose="020B0600000101010101" pitchFamily="50" charset="-127"/>
              </a:rPr>
              <a:t>과제에 대하여 고도화된 분석 </a:t>
            </a:r>
            <a:r>
              <a:rPr lang="en-US" altLang="ko-KR" dirty="0">
                <a:ea typeface="LG스마트체2.0 Regular" panose="020B0600000101010101" pitchFamily="50" charset="-127"/>
              </a:rPr>
              <a:t>Tool(</a:t>
            </a:r>
            <a:r>
              <a:rPr lang="ko-KR" altLang="en-US" dirty="0">
                <a:ea typeface="LG스마트체2.0 Regular" panose="020B0600000101010101" pitchFamily="50" charset="-127"/>
              </a:rPr>
              <a:t>생성형 </a:t>
            </a:r>
            <a:r>
              <a:rPr lang="en-US" altLang="ko-KR" dirty="0">
                <a:ea typeface="LG스마트체2.0 Regular" panose="020B0600000101010101" pitchFamily="50" charset="-127"/>
              </a:rPr>
              <a:t>AI, Orange, </a:t>
            </a:r>
            <a:r>
              <a:rPr lang="ko-KR" altLang="en-US" dirty="0" err="1">
                <a:ea typeface="LG스마트체2.0 Regular" panose="020B0600000101010101" pitchFamily="50" charset="-127"/>
              </a:rPr>
              <a:t>머신러닝</a:t>
            </a:r>
            <a:r>
              <a:rPr lang="ko-KR" altLang="en-US" dirty="0">
                <a:ea typeface="LG스마트체2.0 Regular" panose="020B0600000101010101" pitchFamily="50" charset="-127"/>
              </a:rPr>
              <a:t> 등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  <a:r>
              <a:rPr lang="ko-KR" altLang="en-US" dirty="0">
                <a:ea typeface="LG스마트체2.0 Regular" panose="020B0600000101010101" pitchFamily="50" charset="-127"/>
              </a:rPr>
              <a:t>을 활용하여 개선 과제 또는 업무 자동화를 수행할 수 있다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(</a:t>
            </a:r>
            <a:r>
              <a:rPr lang="ko-KR" altLang="en-US" dirty="0">
                <a:ea typeface="LG스마트체2.0 Regular" panose="020B0600000101010101" pitchFamily="50" charset="-127"/>
              </a:rPr>
              <a:t>파이썬 코딩 기반 실습이 많아 코딩 사전 학습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및 경험 필수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009A6-4589-A16E-379F-735E99D10B0B}"/>
              </a:ext>
            </a:extLst>
          </p:cNvPr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4B4791-C9B9-6AA8-3AD6-796BB2053D5C}"/>
              </a:ext>
            </a:extLst>
          </p:cNvPr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9701AAB-4818-BFB3-ED6B-4DC2A754CC7D}"/>
              </a:ext>
            </a:extLst>
          </p:cNvPr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4C5EFB1-32FF-7C57-F6A8-F09ECD5D9172}"/>
              </a:ext>
            </a:extLst>
          </p:cNvPr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0961C4-66B5-727A-EECA-62232EBDC10F}"/>
              </a:ext>
            </a:extLst>
          </p:cNvPr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807F3EF-19FD-0FD4-94D3-CFDDD37411B6}"/>
              </a:ext>
            </a:extLst>
          </p:cNvPr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D8B972A-9FB9-65D3-E13E-276BC24AD766}"/>
              </a:ext>
            </a:extLst>
          </p:cNvPr>
          <p:cNvSpPr txBox="1"/>
          <p:nvPr/>
        </p:nvSpPr>
        <p:spPr>
          <a:xfrm>
            <a:off x="663365" y="53585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A0D4078-102A-9BDC-F111-E52109A73F44}"/>
              </a:ext>
            </a:extLst>
          </p:cNvPr>
          <p:cNvCxnSpPr/>
          <p:nvPr/>
        </p:nvCxnSpPr>
        <p:spPr>
          <a:xfrm>
            <a:off x="1199555" y="55209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F0BCF12-F37A-5A66-71BD-232BB2784020}"/>
              </a:ext>
            </a:extLst>
          </p:cNvPr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0AB2C53-9482-8C36-B7AF-A19BAA7D1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ABB2F7C-3292-EF87-2988-817D16CAB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7948A4C-8B94-C4CB-CD29-06F528673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1EA92D-9675-5E61-FC13-4A1987DB69EC}"/>
                </a:ext>
              </a:extLst>
            </p:cNvPr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B8D96E-E5BF-2DCB-36F0-A2CD0272C5B0}"/>
                </a:ext>
              </a:extLst>
            </p:cNvPr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2F794B-7B37-8AEA-A148-C54DDD034300}"/>
                </a:ext>
              </a:extLst>
            </p:cNvPr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C67144D-B2B0-E7F6-78C7-89C350D64587}"/>
                </a:ext>
              </a:extLst>
            </p:cNvPr>
            <p:cNvSpPr txBox="1"/>
            <p:nvPr/>
          </p:nvSpPr>
          <p:spPr>
            <a:xfrm>
              <a:off x="2168460" y="1785823"/>
              <a:ext cx="635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32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E63F2CC-A753-0E4A-0CBE-221F5A07251C}"/>
                </a:ext>
              </a:extLst>
            </p:cNvPr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91B250-A89C-3B4C-C45C-1342D1DD4022}"/>
                </a:ext>
              </a:extLst>
            </p:cNvPr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52F40AF4-F581-30AB-0297-1AC1FDF81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F9988E-6157-0DA5-5B35-C02FD37C5AEA}"/>
                </a:ext>
              </a:extLst>
            </p:cNvPr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CAB794-AC81-BC43-CEB4-D895EB120551}"/>
                </a:ext>
              </a:extLst>
            </p:cNvPr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Off-Line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63E1C00-5A52-8212-6891-7E2188C16F50}"/>
              </a:ext>
            </a:extLst>
          </p:cNvPr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AX Group</a:t>
            </a:r>
            <a:r>
              <a:rPr kumimoji="1" lang="en-US" altLang="ko-KR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1CD3621-6787-9897-84EC-D186689B34F7}"/>
              </a:ext>
            </a:extLst>
          </p:cNvPr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6">
            <a:extLst>
              <a:ext uri="{FF2B5EF4-FFF2-40B4-BE49-F238E27FC236}">
                <a16:creationId xmlns:a16="http://schemas.microsoft.com/office/drawing/2014/main" id="{540D2DB8-26D7-6107-4BBC-D8319DEF8259}"/>
              </a:ext>
            </a:extLst>
          </p:cNvPr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모서리가 둥근 직사각형 27">
            <a:extLst>
              <a:ext uri="{FF2B5EF4-FFF2-40B4-BE49-F238E27FC236}">
                <a16:creationId xmlns:a16="http://schemas.microsoft.com/office/drawing/2014/main" id="{B78C2E04-DF96-B75A-FA57-D04919ED05FB}"/>
              </a:ext>
            </a:extLst>
          </p:cNvPr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CA80374-55BD-91BF-E558-7B7A9EF6A7A9}"/>
              </a:ext>
            </a:extLst>
          </p:cNvPr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8898FAD-54B8-3DB2-7226-8D99FE3C03DE}"/>
              </a:ext>
            </a:extLst>
          </p:cNvPr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458C68-6459-EE7A-2588-86FAFE1BE9F1}"/>
              </a:ext>
            </a:extLst>
          </p:cNvPr>
          <p:cNvSpPr txBox="1"/>
          <p:nvPr/>
        </p:nvSpPr>
        <p:spPr>
          <a:xfrm>
            <a:off x="1329386" y="600275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0ED0B6-891D-3C3E-D2DD-C3C1DFC28DBB}"/>
              </a:ext>
            </a:extLst>
          </p:cNvPr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D76073-2B81-26A0-CDEF-E14762A3635F}"/>
              </a:ext>
            </a:extLst>
          </p:cNvPr>
          <p:cNvSpPr txBox="1"/>
          <p:nvPr/>
        </p:nvSpPr>
        <p:spPr>
          <a:xfrm>
            <a:off x="1812487" y="6056258"/>
            <a:ext cx="2987456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- AI </a:t>
            </a:r>
            <a:r>
              <a:rPr lang="ko-KR" altLang="en-US" dirty="0">
                <a:ea typeface="LG스마트체2.0 Regular" panose="020B0600000101010101" pitchFamily="50" charset="-127"/>
              </a:rPr>
              <a:t>과정 이수실적 중급 이상자는 수강 불필요 </a:t>
            </a:r>
            <a:endParaRPr lang="en-US" altLang="ko-KR" dirty="0">
              <a:ea typeface="LG스마트체2.0 Regular" panose="020B0600000101010101" pitchFamily="50" charset="-127"/>
            </a:endParaRPr>
          </a:p>
          <a:p>
            <a:r>
              <a:rPr lang="en-US" altLang="ko-KR" dirty="0">
                <a:ea typeface="LG스마트체2.0 Regular" panose="020B0600000101010101" pitchFamily="50" charset="-127"/>
              </a:rPr>
              <a:t>- AX Level 2 </a:t>
            </a:r>
            <a:r>
              <a:rPr lang="ko-KR" altLang="en-US" dirty="0">
                <a:ea typeface="LG스마트체2.0 Regular" panose="020B0600000101010101" pitchFamily="50" charset="-127"/>
              </a:rPr>
              <a:t>과정 </a:t>
            </a:r>
            <a:r>
              <a:rPr lang="en-US" altLang="ko-KR" dirty="0">
                <a:ea typeface="LG스마트체2.0 Regular" panose="020B0600000101010101" pitchFamily="50" charset="-127"/>
              </a:rPr>
              <a:t>(AI </a:t>
            </a:r>
            <a:r>
              <a:rPr lang="ko-KR" altLang="en-US" dirty="0">
                <a:ea typeface="LG스마트체2.0 Regular" panose="020B0600000101010101" pitchFamily="50" charset="-127"/>
              </a:rPr>
              <a:t>활용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자동화</a:t>
            </a:r>
            <a:r>
              <a:rPr lang="en-US" altLang="ko-KR" dirty="0">
                <a:ea typeface="LG스마트체2.0 Regular" panose="020B0600000101010101" pitchFamily="50" charset="-127"/>
              </a:rPr>
              <a:t>) </a:t>
            </a:r>
            <a:r>
              <a:rPr lang="ko-KR" altLang="en-US" dirty="0">
                <a:ea typeface="LG스마트체2.0 Regular" panose="020B0600000101010101" pitchFamily="50" charset="-127"/>
              </a:rPr>
              <a:t>신청자는 </a:t>
            </a:r>
            <a:r>
              <a:rPr lang="en-US" altLang="ko-KR" dirty="0">
                <a:ea typeface="LG스마트체2.0 Regular" panose="020B0600000101010101" pitchFamily="50" charset="-127"/>
              </a:rPr>
              <a:t>'</a:t>
            </a:r>
            <a:r>
              <a:rPr lang="ko-KR" altLang="en-US" dirty="0">
                <a:ea typeface="LG스마트체2.0 Regular" panose="020B0600000101010101" pitchFamily="50" charset="-127"/>
              </a:rPr>
              <a:t>파이썬 입문</a:t>
            </a:r>
            <a:r>
              <a:rPr lang="en-US" altLang="ko-KR" dirty="0">
                <a:ea typeface="LG스마트체2.0 Regular" panose="020B0600000101010101" pitchFamily="50" charset="-127"/>
              </a:rPr>
              <a:t>’  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  </a:t>
            </a:r>
            <a:r>
              <a:rPr lang="ko-KR" altLang="en-US" dirty="0">
                <a:ea typeface="LG스마트체2.0 Regular" panose="020B0600000101010101" pitchFamily="50" charset="-127"/>
              </a:rPr>
              <a:t>이러닝 사전 이수 필수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- AX Level 1 </a:t>
            </a:r>
            <a:r>
              <a:rPr lang="ko-KR" altLang="en-US" dirty="0">
                <a:ea typeface="LG스마트체2.0 Regular" panose="020B0600000101010101" pitchFamily="50" charset="-127"/>
              </a:rPr>
              <a:t>인증자에 한해 수강신청 가능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AD095D-B53E-2CFD-A748-8DC46E1143A7}"/>
              </a:ext>
            </a:extLst>
          </p:cNvPr>
          <p:cNvSpPr/>
          <p:nvPr/>
        </p:nvSpPr>
        <p:spPr>
          <a:xfrm>
            <a:off x="5440751" y="6071086"/>
            <a:ext cx="29498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엔지니어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비엔지니어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대상 과정 확인 후 수강신청 필요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대상자별 교육내용 일부 상이함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이수기준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출석율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81E3B2-49CA-E00B-CBEF-3577298D39E7}"/>
              </a:ext>
            </a:extLst>
          </p:cNvPr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40" name="Group 58">
            <a:extLst>
              <a:ext uri="{FF2B5EF4-FFF2-40B4-BE49-F238E27FC236}">
                <a16:creationId xmlns:a16="http://schemas.microsoft.com/office/drawing/2014/main" id="{9D5AA081-8BD8-316D-700E-7708F5F97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478536"/>
              </p:ext>
            </p:extLst>
          </p:nvPr>
        </p:nvGraphicFramePr>
        <p:xfrm>
          <a:off x="1370471" y="2812434"/>
          <a:ext cx="6732000" cy="2525879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1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08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업무자동화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생성형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업무자동화 소개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: Intro,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업무자동화란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?,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업무자동화 사례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참고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업무자동화 실습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생성형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VBA/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파이썬 업무자동화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사내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바이브코딩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실습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DIDOV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방법론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DIDOV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방법론 개요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빅데이터이해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분석절차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빅데이터와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Six </a:t>
                      </a: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SIgma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DIDOV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방법론 절차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AX Six Sigma Step/Define/Identify/Design/Optimize/Validation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6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 전처리와 시각화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파이썬 코딩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다루기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시각화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실습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  <a:tr h="4546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머신러닝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파이썬 코딩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소개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지도학습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·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비지도학습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알고리즘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인공신경망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이론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실습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60505"/>
                  </a:ext>
                </a:extLst>
              </a:tr>
              <a:tr h="4546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Case Study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Case Study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개요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연속형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·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이산형 데이터 분석 실습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41550"/>
                  </a:ext>
                </a:extLst>
              </a:tr>
            </a:tbl>
          </a:graphicData>
        </a:graphic>
      </p:graphicFrame>
      <p:sp>
        <p:nvSpPr>
          <p:cNvPr id="30" name="실행 단추: 홈 7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32B6B0E-6EC8-67CD-08C4-296FF5433E53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8AA07-38C7-7769-C772-CC354A5FB429}"/>
              </a:ext>
            </a:extLst>
          </p:cNvPr>
          <p:cNvSpPr txBox="1"/>
          <p:nvPr/>
        </p:nvSpPr>
        <p:spPr>
          <a:xfrm>
            <a:off x="4498159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’26</a:t>
            </a:r>
            <a:r>
              <a:rPr lang="ko-KR" altLang="en-US" sz="1000" dirty="0">
                <a:latin typeface="Arial Narrow" panose="020B0606020202030204" pitchFamily="34" charset="0"/>
              </a:rPr>
              <a:t>년도 년간 교육 차수일정  참고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15" name="실행 단추: 앞으로 또는 다음 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CF99E7BE-AADB-3384-F896-96B6170D8AF9}"/>
              </a:ext>
            </a:extLst>
          </p:cNvPr>
          <p:cNvSpPr/>
          <p:nvPr/>
        </p:nvSpPr>
        <p:spPr>
          <a:xfrm>
            <a:off x="6004638" y="337425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4619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대체 처리 56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8" name="순서도: 대체 처리 57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767956" y="281924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Level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3709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인증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CA3D1D-B749-9B1C-D73D-608F05DBD273}"/>
              </a:ext>
            </a:extLst>
          </p:cNvPr>
          <p:cNvSpPr txBox="1"/>
          <p:nvPr/>
        </p:nvSpPr>
        <p:spPr>
          <a:xfrm>
            <a:off x="666901" y="230475"/>
            <a:ext cx="4147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“</a:t>
            </a:r>
            <a:r>
              <a:rPr lang="ko-KR" altLang="en-US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비엔지니어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4D19F-B9F6-BC14-0404-8175A96F6FDF}"/>
              </a:ext>
            </a:extLst>
          </p:cNvPr>
          <p:cNvSpPr txBox="1"/>
          <p:nvPr/>
        </p:nvSpPr>
        <p:spPr>
          <a:xfrm>
            <a:off x="5131444" y="1712391"/>
            <a:ext cx="4400744" cy="474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231F2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Small y </a:t>
            </a:r>
            <a:r>
              <a:rPr lang="ko-KR" altLang="en-US" dirty="0">
                <a:ea typeface="LG스마트체2.0 Regular" panose="020B0600000101010101" pitchFamily="50" charset="-127"/>
              </a:rPr>
              <a:t>과제에 대하여 고도화된 분석 </a:t>
            </a:r>
            <a:r>
              <a:rPr lang="en-US" altLang="ko-KR" dirty="0">
                <a:ea typeface="LG스마트체2.0 Regular" panose="020B0600000101010101" pitchFamily="50" charset="-127"/>
              </a:rPr>
              <a:t>Tool(</a:t>
            </a:r>
            <a:r>
              <a:rPr lang="ko-KR" altLang="en-US" dirty="0">
                <a:ea typeface="LG스마트체2.0 Regular" panose="020B0600000101010101" pitchFamily="50" charset="-127"/>
              </a:rPr>
              <a:t>생성형 </a:t>
            </a:r>
            <a:r>
              <a:rPr lang="en-US" altLang="ko-KR" dirty="0">
                <a:ea typeface="LG스마트체2.0 Regular" panose="020B0600000101010101" pitchFamily="50" charset="-127"/>
              </a:rPr>
              <a:t>AI, Orange, </a:t>
            </a:r>
            <a:r>
              <a:rPr lang="ko-KR" altLang="en-US" dirty="0" err="1">
                <a:ea typeface="LG스마트체2.0 Regular" panose="020B0600000101010101" pitchFamily="50" charset="-127"/>
              </a:rPr>
              <a:t>머신러닝</a:t>
            </a:r>
            <a:r>
              <a:rPr lang="ko-KR" altLang="en-US" dirty="0">
                <a:ea typeface="LG스마트체2.0 Regular" panose="020B0600000101010101" pitchFamily="50" charset="-127"/>
              </a:rPr>
              <a:t> 등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  <a:r>
              <a:rPr lang="ko-KR" altLang="en-US" dirty="0">
                <a:ea typeface="LG스마트체2.0 Regular" panose="020B0600000101010101" pitchFamily="50" charset="-127"/>
              </a:rPr>
              <a:t>을 활용하여 개선 과제 또는 업무 자동화를 수행할 수 있다</a:t>
            </a:r>
            <a:endParaRPr lang="en-US" altLang="ko-KR" dirty="0"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009A6-4589-A16E-379F-735E99D10B0B}"/>
              </a:ext>
            </a:extLst>
          </p:cNvPr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4B4791-C9B9-6AA8-3AD6-796BB2053D5C}"/>
              </a:ext>
            </a:extLst>
          </p:cNvPr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9701AAB-4818-BFB3-ED6B-4DC2A754CC7D}"/>
              </a:ext>
            </a:extLst>
          </p:cNvPr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4C5EFB1-32FF-7C57-F6A8-F09ECD5D9172}"/>
              </a:ext>
            </a:extLst>
          </p:cNvPr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0961C4-66B5-727A-EECA-62232EBDC10F}"/>
              </a:ext>
            </a:extLst>
          </p:cNvPr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807F3EF-19FD-0FD4-94D3-CFDDD37411B6}"/>
              </a:ext>
            </a:extLst>
          </p:cNvPr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D8B972A-9FB9-65D3-E13E-276BC24AD766}"/>
              </a:ext>
            </a:extLst>
          </p:cNvPr>
          <p:cNvSpPr txBox="1"/>
          <p:nvPr/>
        </p:nvSpPr>
        <p:spPr>
          <a:xfrm>
            <a:off x="663365" y="53585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A0D4078-102A-9BDC-F111-E52109A73F44}"/>
              </a:ext>
            </a:extLst>
          </p:cNvPr>
          <p:cNvCxnSpPr/>
          <p:nvPr/>
        </p:nvCxnSpPr>
        <p:spPr>
          <a:xfrm>
            <a:off x="1199555" y="55209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F0BCF12-F37A-5A66-71BD-232BB2784020}"/>
              </a:ext>
            </a:extLst>
          </p:cNvPr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0AB2C53-9482-8C36-B7AF-A19BAA7D1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ABB2F7C-3292-EF87-2988-817D16CAB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7948A4C-8B94-C4CB-CD29-06F528673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1EA92D-9675-5E61-FC13-4A1987DB69EC}"/>
                </a:ext>
              </a:extLst>
            </p:cNvPr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B8D96E-E5BF-2DCB-36F0-A2CD0272C5B0}"/>
                </a:ext>
              </a:extLst>
            </p:cNvPr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2F794B-7B37-8AEA-A148-C54DDD034300}"/>
                </a:ext>
              </a:extLst>
            </p:cNvPr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C67144D-B2B0-E7F6-78C7-89C350D64587}"/>
                </a:ext>
              </a:extLst>
            </p:cNvPr>
            <p:cNvSpPr txBox="1"/>
            <p:nvPr/>
          </p:nvSpPr>
          <p:spPr>
            <a:xfrm>
              <a:off x="2168460" y="1785823"/>
              <a:ext cx="635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32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E63F2CC-A753-0E4A-0CBE-221F5A07251C}"/>
                </a:ext>
              </a:extLst>
            </p:cNvPr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91B250-A89C-3B4C-C45C-1342D1DD4022}"/>
                </a:ext>
              </a:extLst>
            </p:cNvPr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52F40AF4-F581-30AB-0297-1AC1FDF81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F9988E-6157-0DA5-5B35-C02FD37C5AEA}"/>
                </a:ext>
              </a:extLst>
            </p:cNvPr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CAB794-AC81-BC43-CEB4-D895EB120551}"/>
                </a:ext>
              </a:extLst>
            </p:cNvPr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Off-Line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63E1C00-5A52-8212-6891-7E2188C16F50}"/>
              </a:ext>
            </a:extLst>
          </p:cNvPr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AX Group</a:t>
            </a:r>
            <a:r>
              <a:rPr kumimoji="1" lang="en-US" altLang="ko-KR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1CD3621-6787-9897-84EC-D186689B34F7}"/>
              </a:ext>
            </a:extLst>
          </p:cNvPr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6">
            <a:extLst>
              <a:ext uri="{FF2B5EF4-FFF2-40B4-BE49-F238E27FC236}">
                <a16:creationId xmlns:a16="http://schemas.microsoft.com/office/drawing/2014/main" id="{540D2DB8-26D7-6107-4BBC-D8319DEF8259}"/>
              </a:ext>
            </a:extLst>
          </p:cNvPr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모서리가 둥근 직사각형 27">
            <a:extLst>
              <a:ext uri="{FF2B5EF4-FFF2-40B4-BE49-F238E27FC236}">
                <a16:creationId xmlns:a16="http://schemas.microsoft.com/office/drawing/2014/main" id="{B78C2E04-DF96-B75A-FA57-D04919ED05FB}"/>
              </a:ext>
            </a:extLst>
          </p:cNvPr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CA80374-55BD-91BF-E558-7B7A9EF6A7A9}"/>
              </a:ext>
            </a:extLst>
          </p:cNvPr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8898FAD-54B8-3DB2-7226-8D99FE3C03DE}"/>
              </a:ext>
            </a:extLst>
          </p:cNvPr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458C68-6459-EE7A-2588-86FAFE1BE9F1}"/>
              </a:ext>
            </a:extLst>
          </p:cNvPr>
          <p:cNvSpPr txBox="1"/>
          <p:nvPr/>
        </p:nvSpPr>
        <p:spPr>
          <a:xfrm>
            <a:off x="1329386" y="600275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0ED0B6-891D-3C3E-D2DD-C3C1DFC28DBB}"/>
              </a:ext>
            </a:extLst>
          </p:cNvPr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D76073-2B81-26A0-CDEF-E14762A3635F}"/>
              </a:ext>
            </a:extLst>
          </p:cNvPr>
          <p:cNvSpPr txBox="1"/>
          <p:nvPr/>
        </p:nvSpPr>
        <p:spPr>
          <a:xfrm>
            <a:off x="1812487" y="6056258"/>
            <a:ext cx="2987456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- AI </a:t>
            </a:r>
            <a:r>
              <a:rPr lang="ko-KR" altLang="en-US" dirty="0">
                <a:ea typeface="LG스마트체2.0 Regular" panose="020B0600000101010101" pitchFamily="50" charset="-127"/>
              </a:rPr>
              <a:t>과정 이수실적 중급 이상자는 수강 불필요 </a:t>
            </a:r>
            <a:endParaRPr lang="en-US" altLang="ko-KR" dirty="0">
              <a:ea typeface="LG스마트체2.0 Regular" panose="020B0600000101010101" pitchFamily="50" charset="-127"/>
            </a:endParaRPr>
          </a:p>
          <a:p>
            <a:r>
              <a:rPr lang="en-US" altLang="ko-KR" dirty="0">
                <a:ea typeface="LG스마트체2.0 Regular" panose="020B0600000101010101" pitchFamily="50" charset="-127"/>
              </a:rPr>
              <a:t>- AX Level 2 </a:t>
            </a:r>
            <a:r>
              <a:rPr lang="ko-KR" altLang="en-US" dirty="0">
                <a:ea typeface="LG스마트체2.0 Regular" panose="020B0600000101010101" pitchFamily="50" charset="-127"/>
              </a:rPr>
              <a:t>과정 </a:t>
            </a:r>
            <a:r>
              <a:rPr lang="en-US" altLang="ko-KR" dirty="0">
                <a:ea typeface="LG스마트체2.0 Regular" panose="020B0600000101010101" pitchFamily="50" charset="-127"/>
              </a:rPr>
              <a:t>(AI </a:t>
            </a:r>
            <a:r>
              <a:rPr lang="ko-KR" altLang="en-US" dirty="0">
                <a:ea typeface="LG스마트체2.0 Regular" panose="020B0600000101010101" pitchFamily="50" charset="-127"/>
              </a:rPr>
              <a:t>활용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자동화</a:t>
            </a:r>
            <a:r>
              <a:rPr lang="en-US" altLang="ko-KR" dirty="0">
                <a:ea typeface="LG스마트체2.0 Regular" panose="020B0600000101010101" pitchFamily="50" charset="-127"/>
              </a:rPr>
              <a:t>) </a:t>
            </a:r>
            <a:r>
              <a:rPr lang="ko-KR" altLang="en-US" dirty="0">
                <a:ea typeface="LG스마트체2.0 Regular" panose="020B0600000101010101" pitchFamily="50" charset="-127"/>
              </a:rPr>
              <a:t>신청자는 </a:t>
            </a:r>
            <a:r>
              <a:rPr lang="en-US" altLang="ko-KR" dirty="0">
                <a:ea typeface="LG스마트체2.0 Regular" panose="020B0600000101010101" pitchFamily="50" charset="-127"/>
              </a:rPr>
              <a:t>'</a:t>
            </a:r>
            <a:r>
              <a:rPr lang="ko-KR" altLang="en-US" dirty="0">
                <a:ea typeface="LG스마트체2.0 Regular" panose="020B0600000101010101" pitchFamily="50" charset="-127"/>
              </a:rPr>
              <a:t>파이썬 입문</a:t>
            </a:r>
            <a:r>
              <a:rPr lang="en-US" altLang="ko-KR" dirty="0">
                <a:ea typeface="LG스마트체2.0 Regular" panose="020B0600000101010101" pitchFamily="50" charset="-127"/>
              </a:rPr>
              <a:t>’  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  </a:t>
            </a:r>
            <a:r>
              <a:rPr lang="ko-KR" altLang="en-US" dirty="0">
                <a:ea typeface="LG스마트체2.0 Regular" panose="020B0600000101010101" pitchFamily="50" charset="-127"/>
              </a:rPr>
              <a:t>이러닝 사전 이수 필수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- AX Level 1 </a:t>
            </a:r>
            <a:r>
              <a:rPr lang="ko-KR" altLang="en-US" dirty="0">
                <a:ea typeface="LG스마트체2.0 Regular" panose="020B0600000101010101" pitchFamily="50" charset="-127"/>
              </a:rPr>
              <a:t>인증자에 한해 수강신청 가능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AD095D-B53E-2CFD-A748-8DC46E1143A7}"/>
              </a:ext>
            </a:extLst>
          </p:cNvPr>
          <p:cNvSpPr/>
          <p:nvPr/>
        </p:nvSpPr>
        <p:spPr>
          <a:xfrm>
            <a:off x="5440751" y="6071086"/>
            <a:ext cx="29498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엔지니어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비엔지니어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대상 과정 확인 후 수강신청 필요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대상자별 교육내용 일부 상이함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이수기준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출석율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81E3B2-49CA-E00B-CBEF-3577298D39E7}"/>
              </a:ext>
            </a:extLst>
          </p:cNvPr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40" name="Group 58">
            <a:extLst>
              <a:ext uri="{FF2B5EF4-FFF2-40B4-BE49-F238E27FC236}">
                <a16:creationId xmlns:a16="http://schemas.microsoft.com/office/drawing/2014/main" id="{9D5AA081-8BD8-316D-700E-7708F5F97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09292"/>
              </p:ext>
            </p:extLst>
          </p:nvPr>
        </p:nvGraphicFramePr>
        <p:xfrm>
          <a:off x="1370471" y="2812433"/>
          <a:ext cx="6732000" cy="2532946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7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업무자동화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생성형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업무자동화 소개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: Intro,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업무자동화란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?,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업무자동화 사례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참고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업무자동화 실습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생성형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VBA/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파이썬 업무자동화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사내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바이브코딩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실습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DIDOV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방법론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DIDOV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방법론 개요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빅데이터이해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분석절차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빅데이터와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Six </a:t>
                      </a: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SIgma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DIDOV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방법론 절차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AX Six Sigma Step/Define/Identify/Design/Optimize/Validation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9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 전처리와 시각화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(Orange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Orange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환경 구축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다루기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시각화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실습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  <a:tr h="5559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Case Study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(Orange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Case Study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개요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사내식당 수요 예측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자전거 수요예측 실습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41550"/>
                  </a:ext>
                </a:extLst>
              </a:tr>
            </a:tbl>
          </a:graphicData>
        </a:graphic>
      </p:graphicFrame>
      <p:sp>
        <p:nvSpPr>
          <p:cNvPr id="30" name="실행 단추: 홈 7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32B6B0E-6EC8-67CD-08C4-296FF5433E53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B1123B-1F45-EF7B-C677-AB4E6364A570}"/>
              </a:ext>
            </a:extLst>
          </p:cNvPr>
          <p:cNvSpPr txBox="1"/>
          <p:nvPr/>
        </p:nvSpPr>
        <p:spPr>
          <a:xfrm>
            <a:off x="4740756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’26</a:t>
            </a:r>
            <a:r>
              <a:rPr lang="ko-KR" altLang="en-US" sz="1000" dirty="0">
                <a:latin typeface="Arial Narrow" panose="020B0606020202030204" pitchFamily="34" charset="0"/>
              </a:rPr>
              <a:t>년도 년간 교육 차수일정  참고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3" name="실행 단추: 앞으로 또는 다음 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262B234-867B-9BA6-3F3C-E97D627D51B7}"/>
              </a:ext>
            </a:extLst>
          </p:cNvPr>
          <p:cNvSpPr/>
          <p:nvPr/>
        </p:nvSpPr>
        <p:spPr>
          <a:xfrm>
            <a:off x="6256568" y="337425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4290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0" y="230475"/>
            <a:ext cx="2707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Level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과정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심화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31443" y="1581757"/>
            <a:ext cx="4428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강화학습에 대한 심화 이론 및 생성형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활용한 개발 방법론을 학습하고 실습함으로써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이를 활용한 조직 내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과제를 발굴하고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리딩할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수 있다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graphicFrame>
        <p:nvGraphicFramePr>
          <p:cNvPr id="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60500"/>
              </p:ext>
            </p:extLst>
          </p:nvPr>
        </p:nvGraphicFramePr>
        <p:xfrm>
          <a:off x="1370470" y="2681797"/>
          <a:ext cx="7667393" cy="2423680"/>
        </p:xfrm>
        <a:graphic>
          <a:graphicData uri="http://schemas.openxmlformats.org/drawingml/2006/table">
            <a:tbl>
              <a:tblPr/>
              <a:tblGrid>
                <a:gridCol w="2009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2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2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수학 기초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일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선형대수학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확률과 통계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최적화 이론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심화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일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3663" lvl="0" indent="-93663" latinLnBrk="0">
                        <a:lnSpc>
                          <a:spcPct val="11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Feature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Engineering,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Hyperparameter,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변수 중요도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모델 평가 및 해석 등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828974"/>
                  </a:ext>
                </a:extLst>
              </a:tr>
              <a:tr h="3462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딥러닝 심화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(2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딥러닝 기초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CNN, RNN, VAE, GAN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등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2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강화 학습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Q-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러닝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DQN(Deep Q-Network),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최적화 등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926218"/>
                  </a:ext>
                </a:extLst>
              </a:tr>
              <a:tr h="3462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생성형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기술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(1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트랜스포머 아키텍처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BERT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모델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GPT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모델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kern="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멀티모달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kern="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크롤링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 등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97359"/>
                  </a:ext>
                </a:extLst>
              </a:tr>
              <a:tr h="3462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LLM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App.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/Git (2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LLM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 기반 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AI Agent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 개발 실습</a:t>
                      </a:r>
                      <a:r>
                        <a:rPr lang="en-US" altLang="ko-KR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, Git </a:t>
                      </a:r>
                      <a:r>
                        <a:rPr lang="ko-KR" altLang="en-US" sz="1000" kern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활용 실습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51634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3366" y="1145684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9466" y="114010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목적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1199555" y="1305741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5055079" y="1294061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3365" y="236296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내용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199555" y="2525399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3365" y="509854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강사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1199555" y="526097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199555" y="1419979"/>
            <a:ext cx="3399670" cy="929850"/>
            <a:chOff x="1199555" y="1550613"/>
            <a:chExt cx="3399670" cy="92985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대상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교육시간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분류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6454" y="1678102"/>
              <a:ext cx="542026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8</a:t>
              </a:r>
              <a:r>
                <a:rPr lang="ko-KR" altLang="en-US" sz="14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일</a:t>
              </a:r>
              <a:r>
                <a:rPr lang="en-US" altLang="ko-KR" sz="14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/64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Hr.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X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dirty="0" err="1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교육 유형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Off-Line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12391" y="5356396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AX Group</a:t>
            </a:r>
            <a:r>
              <a:rPr kumimoji="1" lang="en-US" altLang="ko-KR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1199555" y="570092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3365" y="553848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특징</a:t>
            </a:r>
          </a:p>
        </p:txBody>
      </p:sp>
      <p:sp>
        <p:nvSpPr>
          <p:cNvPr id="45" name="순서도: 대체 처리 44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레벨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6" name="순서도: 대체 처리 45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분야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고급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3709" y="511962"/>
            <a:ext cx="856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AX </a:t>
            </a:r>
            <a:r>
              <a:rPr lang="ko-KR" altLang="en-US" sz="1000" b="1" dirty="0">
                <a:solidFill>
                  <a:srgbClr val="70AD47">
                    <a:lumMod val="75000"/>
                  </a:srgb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과제수행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5" name="모서리가 둥근 직사각형 27">
            <a:extLst>
              <a:ext uri="{FF2B5EF4-FFF2-40B4-BE49-F238E27FC236}">
                <a16:creationId xmlns:a16="http://schemas.microsoft.com/office/drawing/2014/main" id="{CDBC02C0-6408-6448-1A68-952E3C0EECAD}"/>
              </a:ext>
            </a:extLst>
          </p:cNvPr>
          <p:cNvSpPr/>
          <p:nvPr/>
        </p:nvSpPr>
        <p:spPr>
          <a:xfrm>
            <a:off x="1515382" y="5842263"/>
            <a:ext cx="3213052" cy="893366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7" name="모서리가 둥근 직사각형 28">
            <a:extLst>
              <a:ext uri="{FF2B5EF4-FFF2-40B4-BE49-F238E27FC236}">
                <a16:creationId xmlns:a16="http://schemas.microsoft.com/office/drawing/2014/main" id="{C15C3AE3-A9F4-3767-E80E-6E40B5CC2F86}"/>
              </a:ext>
            </a:extLst>
          </p:cNvPr>
          <p:cNvSpPr/>
          <p:nvPr/>
        </p:nvSpPr>
        <p:spPr>
          <a:xfrm>
            <a:off x="5053804" y="5842263"/>
            <a:ext cx="3213052" cy="893366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982DFC5-35BA-DCB5-1117-20339A5E6278}"/>
              </a:ext>
            </a:extLst>
          </p:cNvPr>
          <p:cNvSpPr/>
          <p:nvPr/>
        </p:nvSpPr>
        <p:spPr>
          <a:xfrm>
            <a:off x="1370471" y="5759989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7C422AC5-8556-B43C-8C27-7762B9E7F05D}"/>
              </a:ext>
            </a:extLst>
          </p:cNvPr>
          <p:cNvSpPr/>
          <p:nvPr/>
        </p:nvSpPr>
        <p:spPr>
          <a:xfrm>
            <a:off x="4900856" y="5772934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CA40AC-0243-CC26-2E71-54F21E7A0D94}"/>
              </a:ext>
            </a:extLst>
          </p:cNvPr>
          <p:cNvSpPr txBox="1"/>
          <p:nvPr/>
        </p:nvSpPr>
        <p:spPr>
          <a:xfrm>
            <a:off x="1329386" y="5796570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C6C0BE-3F41-2361-03CE-BD91CBFBECD9}"/>
              </a:ext>
            </a:extLst>
          </p:cNvPr>
          <p:cNvSpPr txBox="1"/>
          <p:nvPr/>
        </p:nvSpPr>
        <p:spPr>
          <a:xfrm>
            <a:off x="4859771" y="581151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C615E1-FF0E-075A-0AC4-66C0927126EE}"/>
              </a:ext>
            </a:extLst>
          </p:cNvPr>
          <p:cNvSpPr txBox="1"/>
          <p:nvPr/>
        </p:nvSpPr>
        <p:spPr>
          <a:xfrm>
            <a:off x="1777459" y="5812301"/>
            <a:ext cx="2936074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센터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그룹 별 대상자 선발 요청하는 방식 </a:t>
            </a:r>
            <a:endParaRPr lang="en-US" altLang="ko-KR" dirty="0">
              <a:ea typeface="LG스마트체2.0 Regular" panose="020B0600000101010101" pitchFamily="50" charset="-127"/>
            </a:endParaRP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대상자 요건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- AX Level 2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인증자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r>
              <a:rPr lang="en-US" altLang="ko-KR" dirty="0">
                <a:ea typeface="LG스마트체2.0 Regular" panose="020B0600000101010101" pitchFamily="50" charset="-127"/>
              </a:rPr>
              <a:t>&amp; DX </a:t>
            </a:r>
            <a:r>
              <a:rPr lang="en-US" altLang="ko-KR" dirty="0" err="1">
                <a:ea typeface="LG스마트체2.0 Regular" panose="020B0600000101010101" pitchFamily="50" charset="-127"/>
              </a:rPr>
              <a:t>Lv</a:t>
            </a:r>
            <a:r>
              <a:rPr lang="en-US" altLang="ko-KR" dirty="0">
                <a:ea typeface="LG스마트체2.0 Regular" panose="020B0600000101010101" pitchFamily="50" charset="-127"/>
              </a:rPr>
              <a:t> 3 </a:t>
            </a:r>
            <a:r>
              <a:rPr lang="ko-KR" altLang="en-US" dirty="0">
                <a:ea typeface="LG스마트체2.0 Regular" panose="020B0600000101010101" pitchFamily="50" charset="-127"/>
              </a:rPr>
              <a:t>사전 </a:t>
            </a:r>
            <a:r>
              <a:rPr lang="en-US" altLang="ko-KR" dirty="0">
                <a:ea typeface="LG스마트체2.0 Regular" panose="020B0600000101010101" pitchFamily="50" charset="-127"/>
              </a:rPr>
              <a:t>Test </a:t>
            </a:r>
            <a:r>
              <a:rPr lang="ko-KR" altLang="en-US" dirty="0">
                <a:ea typeface="LG스마트체2.0 Regular" panose="020B0600000101010101" pitchFamily="50" charset="-127"/>
              </a:rPr>
              <a:t>합격자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- </a:t>
            </a:r>
            <a:r>
              <a:rPr lang="ko-KR" altLang="en-US" dirty="0">
                <a:ea typeface="LG스마트체2.0 Regular" panose="020B0600000101010101" pitchFamily="50" charset="-127"/>
              </a:rPr>
              <a:t>사전 </a:t>
            </a:r>
            <a:r>
              <a:rPr lang="en-US" altLang="ko-KR" dirty="0">
                <a:ea typeface="LG스마트체2.0 Regular" panose="020B0600000101010101" pitchFamily="50" charset="-127"/>
              </a:rPr>
              <a:t>Test </a:t>
            </a:r>
            <a:r>
              <a:rPr lang="ko-KR" altLang="en-US" dirty="0">
                <a:ea typeface="LG스마트체2.0 Regular" panose="020B0600000101010101" pitchFamily="50" charset="-127"/>
              </a:rPr>
              <a:t>내용</a:t>
            </a:r>
            <a:r>
              <a:rPr lang="en-US" altLang="ko-KR" dirty="0">
                <a:ea typeface="LG스마트체2.0 Regular" panose="020B0600000101010101" pitchFamily="50" charset="-127"/>
              </a:rPr>
              <a:t>   * A</a:t>
            </a: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X Lv1</a:t>
            </a:r>
            <a:r>
              <a:rPr lang="ko-KR" altLang="en-US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기초</a:t>
            </a: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/ </a:t>
            </a:r>
            <a:r>
              <a:rPr lang="en-US" altLang="ko-KR" sz="900" dirty="0" err="1">
                <a:solidFill>
                  <a:prstClr val="black"/>
                </a:solidFill>
                <a:ea typeface="LG스마트체2.0 Regular" panose="020B0600000101010101" pitchFamily="50" charset="-127"/>
              </a:rPr>
              <a:t>Lv</a:t>
            </a: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 2 AI </a:t>
            </a:r>
            <a:r>
              <a:rPr lang="ko-KR" altLang="en-US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활용 과정 </a:t>
            </a: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(40%)</a:t>
            </a:r>
            <a:b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</a:b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                              * AX Lv2 </a:t>
            </a:r>
            <a:r>
              <a:rPr lang="ko-KR" altLang="en-US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파이썬 입문 과정 </a:t>
            </a: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(30%)</a:t>
            </a:r>
            <a:b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</a:b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                              * AI </a:t>
            </a:r>
            <a:r>
              <a:rPr lang="ko-KR" altLang="en-US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심화 사전 학습자료 </a:t>
            </a:r>
            <a:r>
              <a:rPr lang="en-US" altLang="ko-KR" sz="900" dirty="0">
                <a:solidFill>
                  <a:prstClr val="black"/>
                </a:solidFill>
                <a:ea typeface="LG스마트체2.0 Regular" panose="020B0600000101010101" pitchFamily="50" charset="-127"/>
              </a:rPr>
              <a:t>(30%)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D83B6F-B7FC-A336-96FB-79D6B2077481}"/>
              </a:ext>
            </a:extLst>
          </p:cNvPr>
          <p:cNvSpPr txBox="1"/>
          <p:nvPr/>
        </p:nvSpPr>
        <p:spPr>
          <a:xfrm>
            <a:off x="5344865" y="5852733"/>
            <a:ext cx="2936074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사전 </a:t>
            </a:r>
            <a:r>
              <a:rPr lang="en-US" altLang="ko-KR" dirty="0">
                <a:ea typeface="LG스마트체2.0 Regular" panose="020B0600000101010101" pitchFamily="50" charset="-127"/>
              </a:rPr>
              <a:t>Test </a:t>
            </a:r>
            <a:r>
              <a:rPr lang="ko-KR" altLang="en-US" dirty="0">
                <a:ea typeface="LG스마트체2.0 Regular" panose="020B0600000101010101" pitchFamily="50" charset="-127"/>
              </a:rPr>
              <a:t>가이드는 별도 안내함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교육참가 시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노트북 지참 필요 </a:t>
            </a:r>
            <a:r>
              <a:rPr lang="en-US" altLang="ko-KR" dirty="0">
                <a:ea typeface="LG스마트체2.0 Regular" panose="020B0600000101010101" pitchFamily="50" charset="-127"/>
              </a:rPr>
              <a:t>(</a:t>
            </a:r>
            <a:r>
              <a:rPr lang="ko-KR" altLang="en-US" dirty="0">
                <a:ea typeface="LG스마트체2.0 Regular" panose="020B0600000101010101" pitchFamily="50" charset="-127"/>
              </a:rPr>
              <a:t>실습 목적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교육 내 </a:t>
            </a:r>
            <a:r>
              <a:rPr lang="en-US" altLang="ko-KR" dirty="0">
                <a:ea typeface="LG스마트체2.0 Regular" panose="020B0600000101010101" pitchFamily="50" charset="-127"/>
              </a:rPr>
              <a:t>‘</a:t>
            </a:r>
            <a:r>
              <a:rPr lang="ko-KR" altLang="en-US" dirty="0">
                <a:ea typeface="LG스마트체2.0 Regular" panose="020B0600000101010101" pitchFamily="50" charset="-127"/>
              </a:rPr>
              <a:t>학습평가</a:t>
            </a:r>
            <a:r>
              <a:rPr lang="en-US" altLang="ko-KR" dirty="0">
                <a:ea typeface="LG스마트체2.0 Regular" panose="020B0600000101010101" pitchFamily="50" charset="-127"/>
              </a:rPr>
              <a:t>’ </a:t>
            </a:r>
            <a:r>
              <a:rPr lang="ko-KR" altLang="en-US" dirty="0">
                <a:ea typeface="LG스마트체2.0 Regular" panose="020B0600000101010101" pitchFamily="50" charset="-127"/>
              </a:rPr>
              <a:t>통과해야 이수처리됨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28" name="실행 단추: 홈 7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60FC295-6DA9-204A-536A-D7B25DC9FE36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C9D0BF-EEA4-A67B-A3AE-704D94F7DF9C}"/>
              </a:ext>
            </a:extLst>
          </p:cNvPr>
          <p:cNvSpPr txBox="1"/>
          <p:nvPr/>
        </p:nvSpPr>
        <p:spPr>
          <a:xfrm>
            <a:off x="3350493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’26</a:t>
            </a:r>
            <a:r>
              <a:rPr lang="ko-KR" altLang="en-US" sz="1000" dirty="0">
                <a:latin typeface="Arial Narrow" panose="020B0606020202030204" pitchFamily="34" charset="0"/>
              </a:rPr>
              <a:t>년도 년간 교육 차수일정  참고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30" name="실행 단추: 앞으로 또는 다음 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998379B-487F-2F2B-3052-E27BB314A8AD}"/>
              </a:ext>
            </a:extLst>
          </p:cNvPr>
          <p:cNvSpPr/>
          <p:nvPr/>
        </p:nvSpPr>
        <p:spPr>
          <a:xfrm>
            <a:off x="4866305" y="337425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365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0" y="230475"/>
            <a:ext cx="3427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Level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과정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문제해결 심화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31443" y="1712391"/>
            <a:ext cx="44289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제품개발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설계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제조공정에서 최소의 실험횟수로 최대의 정보를 얻을 수 있도록 실험을 설계하고 분석 할 수 있는 능력을 배양하고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다양한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6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시그마 과제 사례 학습을 통해 문제해결 역량을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고도화함</a:t>
            </a:r>
            <a:endParaRPr lang="ko-KR" altLang="en-US" sz="10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9768"/>
              </p:ext>
            </p:extLst>
          </p:nvPr>
        </p:nvGraphicFramePr>
        <p:xfrm>
          <a:off x="1370470" y="2812430"/>
          <a:ext cx="7667393" cy="1722248"/>
        </p:xfrm>
        <a:graphic>
          <a:graphicData uri="http://schemas.openxmlformats.org/drawingml/2006/table">
            <a:tbl>
              <a:tblPr/>
              <a:tblGrid>
                <a:gridCol w="2009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4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6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실험계획법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(DOE)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심화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요인설계 실험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완전배치법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직교배열 실험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부분배치법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반응표면 실험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다구찌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실험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시그마 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Case Study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직무영역별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시그마 과제 수행 사례 소개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목적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내용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대상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교육시간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분류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6454" y="1678102"/>
              <a:ext cx="542026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2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일</a:t>
              </a:r>
              <a:r>
                <a:rPr lang="en-US" altLang="ko-KR" sz="140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/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16Hr.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AX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dirty="0" err="1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교육 유형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Off-Line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</p:grpSp>
      <p:cxnSp>
        <p:nvCxnSpPr>
          <p:cNvPr id="27" name="직선 연결선 26"/>
          <p:cNvCxnSpPr/>
          <p:nvPr/>
        </p:nvCxnSpPr>
        <p:spPr>
          <a:xfrm>
            <a:off x="1199555" y="570092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1515382" y="5842263"/>
            <a:ext cx="3213052" cy="7848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053804" y="5842263"/>
            <a:ext cx="3213052" cy="792187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370471" y="5759989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4900856" y="5772934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9386" y="586188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59771" y="581151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3365" y="553848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특징</a:t>
            </a:r>
          </a:p>
        </p:txBody>
      </p:sp>
      <p:sp>
        <p:nvSpPr>
          <p:cNvPr id="45" name="순서도: 대체 처리 44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레벨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6" name="순서도: 대체 처리 45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분야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고급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3709" y="511962"/>
            <a:ext cx="856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70AD47">
                    <a:lumMod val="75000"/>
                  </a:srgb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X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과제수행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AE5101-415E-22A2-471B-B5278A76E223}"/>
              </a:ext>
            </a:extLst>
          </p:cNvPr>
          <p:cNvSpPr txBox="1"/>
          <p:nvPr/>
        </p:nvSpPr>
        <p:spPr>
          <a:xfrm>
            <a:off x="663365" y="509854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강사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1BBB737-D5C8-95B0-CD54-27864E79124F}"/>
              </a:ext>
            </a:extLst>
          </p:cNvPr>
          <p:cNvCxnSpPr/>
          <p:nvPr/>
        </p:nvCxnSpPr>
        <p:spPr>
          <a:xfrm>
            <a:off x="1199555" y="526097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5C09691-E434-3ACD-F376-C898C9050640}"/>
              </a:ext>
            </a:extLst>
          </p:cNvPr>
          <p:cNvSpPr txBox="1"/>
          <p:nvPr/>
        </p:nvSpPr>
        <p:spPr>
          <a:xfrm>
            <a:off x="1312391" y="5356396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AX Group </a:t>
            </a:r>
            <a:r>
              <a:rPr kumimoji="1" lang="ko-KR" altLang="en-US" sz="10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D36128-5548-69E0-9944-6C7FD8F5E7FD}"/>
              </a:ext>
            </a:extLst>
          </p:cNvPr>
          <p:cNvSpPr txBox="1"/>
          <p:nvPr/>
        </p:nvSpPr>
        <p:spPr>
          <a:xfrm>
            <a:off x="1777459" y="5849625"/>
            <a:ext cx="2936074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대상자 요건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- AX Level 2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인증자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r>
              <a:rPr lang="en-US" altLang="ko-KR" dirty="0">
                <a:ea typeface="LG스마트체2.0 Regular" panose="020B0600000101010101" pitchFamily="50" charset="-127"/>
              </a:rPr>
              <a:t>&amp; AX </a:t>
            </a:r>
            <a:r>
              <a:rPr lang="en-US" altLang="ko-KR" dirty="0" err="1">
                <a:ea typeface="LG스마트체2.0 Regular" panose="020B0600000101010101" pitchFamily="50" charset="-127"/>
              </a:rPr>
              <a:t>Lv</a:t>
            </a:r>
            <a:r>
              <a:rPr lang="en-US" altLang="ko-KR" dirty="0">
                <a:ea typeface="LG스마트체2.0 Regular" panose="020B0600000101010101" pitchFamily="50" charset="-127"/>
              </a:rPr>
              <a:t> 3 </a:t>
            </a:r>
            <a:r>
              <a:rPr lang="ko-KR" altLang="en-US" dirty="0">
                <a:ea typeface="LG스마트체2.0 Regular" panose="020B0600000101010101" pitchFamily="50" charset="-127"/>
              </a:rPr>
              <a:t>사전 </a:t>
            </a:r>
            <a:r>
              <a:rPr lang="en-US" altLang="ko-KR" dirty="0">
                <a:ea typeface="LG스마트체2.0 Regular" panose="020B0600000101010101" pitchFamily="50" charset="-127"/>
              </a:rPr>
              <a:t>Test </a:t>
            </a:r>
            <a:r>
              <a:rPr lang="ko-KR" altLang="en-US" dirty="0">
                <a:ea typeface="LG스마트체2.0 Regular" panose="020B0600000101010101" pitchFamily="50" charset="-127"/>
              </a:rPr>
              <a:t>합격자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- </a:t>
            </a:r>
            <a:r>
              <a:rPr lang="ko-KR" altLang="en-US" dirty="0">
                <a:ea typeface="LG스마트체2.0 Regular" panose="020B0600000101010101" pitchFamily="50" charset="-127"/>
              </a:rPr>
              <a:t>사전 </a:t>
            </a:r>
            <a:r>
              <a:rPr lang="en-US" altLang="ko-KR" dirty="0">
                <a:ea typeface="LG스마트체2.0 Regular" panose="020B0600000101010101" pitchFamily="50" charset="-127"/>
              </a:rPr>
              <a:t>Test </a:t>
            </a:r>
            <a:r>
              <a:rPr lang="ko-KR" altLang="en-US" dirty="0">
                <a:ea typeface="LG스마트체2.0 Regular" panose="020B0600000101010101" pitchFamily="50" charset="-127"/>
              </a:rPr>
              <a:t>내용</a:t>
            </a:r>
            <a:r>
              <a:rPr lang="en-US" altLang="ko-KR" dirty="0">
                <a:ea typeface="LG스마트체2.0 Regular" panose="020B0600000101010101" pitchFamily="50" charset="-127"/>
              </a:rPr>
              <a:t>  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    * 6</a:t>
            </a:r>
            <a:r>
              <a:rPr lang="ko-KR" altLang="en-US" dirty="0">
                <a:ea typeface="LG스마트체2.0 Regular" panose="020B0600000101010101" pitchFamily="50" charset="-127"/>
              </a:rPr>
              <a:t>시그마 기초 </a:t>
            </a:r>
            <a:r>
              <a:rPr lang="en-US" altLang="ko-KR" dirty="0">
                <a:ea typeface="LG스마트체2.0 Regular" panose="020B0600000101010101" pitchFamily="50" charset="-127"/>
              </a:rPr>
              <a:t>(AX Lv1 </a:t>
            </a:r>
            <a:r>
              <a:rPr lang="ko-KR" altLang="en-US" dirty="0">
                <a:ea typeface="LG스마트체2.0 Regular" panose="020B0600000101010101" pitchFamily="50" charset="-127"/>
              </a:rPr>
              <a:t>문제해결 기초교재 내용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2E27B4-9588-ADC4-EA8B-94EF8E091D46}"/>
              </a:ext>
            </a:extLst>
          </p:cNvPr>
          <p:cNvSpPr txBox="1"/>
          <p:nvPr/>
        </p:nvSpPr>
        <p:spPr>
          <a:xfrm>
            <a:off x="5344865" y="5852733"/>
            <a:ext cx="2936074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사전 </a:t>
            </a:r>
            <a:r>
              <a:rPr lang="en-US" altLang="ko-KR" dirty="0">
                <a:ea typeface="LG스마트체2.0 Regular" panose="020B0600000101010101" pitchFamily="50" charset="-127"/>
              </a:rPr>
              <a:t>Test </a:t>
            </a:r>
            <a:r>
              <a:rPr lang="ko-KR" altLang="en-US" dirty="0">
                <a:ea typeface="LG스마트체2.0 Regular" panose="020B0600000101010101" pitchFamily="50" charset="-127"/>
              </a:rPr>
              <a:t>가이드는 별도 안내함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교육참가 시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노트북 지참 필요 </a:t>
            </a:r>
            <a:r>
              <a:rPr lang="en-US" altLang="ko-KR" dirty="0">
                <a:ea typeface="LG스마트체2.0 Regular" panose="020B0600000101010101" pitchFamily="50" charset="-127"/>
              </a:rPr>
              <a:t>(</a:t>
            </a:r>
            <a:r>
              <a:rPr lang="ko-KR" altLang="en-US" dirty="0">
                <a:ea typeface="LG스마트체2.0 Regular" panose="020B0600000101010101" pitchFamily="50" charset="-127"/>
              </a:rPr>
              <a:t>실습 목적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2.0 Regular" panose="020B0600000101010101" pitchFamily="50" charset="-127"/>
              </a:rPr>
              <a:t>교육 내 </a:t>
            </a:r>
            <a:r>
              <a:rPr lang="en-US" altLang="ko-KR" dirty="0">
                <a:ea typeface="LG스마트체2.0 Regular" panose="020B0600000101010101" pitchFamily="50" charset="-127"/>
              </a:rPr>
              <a:t>‘</a:t>
            </a:r>
            <a:r>
              <a:rPr lang="ko-KR" altLang="en-US" dirty="0">
                <a:ea typeface="LG스마트체2.0 Regular" panose="020B0600000101010101" pitchFamily="50" charset="-127"/>
              </a:rPr>
              <a:t>학습평가</a:t>
            </a:r>
            <a:r>
              <a:rPr lang="en-US" altLang="ko-KR" dirty="0">
                <a:ea typeface="LG스마트체2.0 Regular" panose="020B0600000101010101" pitchFamily="50" charset="-127"/>
              </a:rPr>
              <a:t>’ </a:t>
            </a:r>
            <a:r>
              <a:rPr lang="ko-KR" altLang="en-US" dirty="0">
                <a:ea typeface="LG스마트체2.0 Regular" panose="020B0600000101010101" pitchFamily="50" charset="-127"/>
              </a:rPr>
              <a:t>통과해야 이수처리됨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11" name="실행 단추: 홈 7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9BA4FEE-F1D9-7D84-5357-3B846034A91A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8417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1931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리터러시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기초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8530" y="1595417"/>
            <a:ext cx="4633658" cy="816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기술의 개념과 발전 과정을 이해하고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리터러시의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중요성에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대해설명할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기계 학습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대규모 언어 모델의 기본 원리를 파악하고 구분할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윤리와 사회적 영향에 대해 이해하고 올바른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 방안을 제시할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프롬프트 엔지니어링 기법을 활용하여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와 효과적으로 소통할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45728"/>
              </p:ext>
            </p:extLst>
          </p:nvPr>
        </p:nvGraphicFramePr>
        <p:xfrm>
          <a:off x="1370471" y="2812434"/>
          <a:ext cx="6732000" cy="2440701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92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과정명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77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리터러시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기초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기술의 개념과 역사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AI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리터러시의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이해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일상 속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기술의 이해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기계 학습의 원리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딥러닝의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원리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대규모 언어 모델과 생성형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윤리와 주요 이슈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와 사회적 영향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프롬프트 엔지니어링 기초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고급 프롬프트 엔지니어링 기법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순서도: 대체 처리 34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순서도: 대체 처리 35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196454" y="1801212"/>
              <a:ext cx="542026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r>
                <a:rPr lang="en-US" altLang="ko-KR" dirty="0">
                  <a:ea typeface="LG스마트체2.0 Regular" panose="020B0600000101010101" pitchFamily="50" charset="-127"/>
                </a:rPr>
                <a:t>10 Hr.</a:t>
              </a:r>
              <a:endParaRPr lang="ko-KR" altLang="en-US" dirty="0">
                <a:ea typeface="LG스마트체2.0 Regular" panose="020B0600000101010101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842587" y="1721200"/>
              <a:ext cx="756638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On-Line</a:t>
              </a:r>
              <a:b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</a:br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2053A99-0852-F880-CFF8-433FEEABEBE7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4905AE0-44A7-4D7B-21E5-AD87A5570CB5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31">
            <a:extLst>
              <a:ext uri="{FF2B5EF4-FFF2-40B4-BE49-F238E27FC236}">
                <a16:creationId xmlns:a16="http://schemas.microsoft.com/office/drawing/2014/main" id="{73E5C441-A884-E788-FE37-E981FECBB6D1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모서리가 둥근 직사각형 32">
            <a:extLst>
              <a:ext uri="{FF2B5EF4-FFF2-40B4-BE49-F238E27FC236}">
                <a16:creationId xmlns:a16="http://schemas.microsoft.com/office/drawing/2014/main" id="{A9D50442-1A19-DDC8-4CD9-B1D5827FBC27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AF25581-6607-2966-6036-21742533EC4D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14B9D1C-2F18-E900-AE19-CF72553CAF74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64CE2D-C00A-36FC-827B-6F0F04F8B62A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79E481-B961-E4D0-853D-80EBF240A581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25138A-4973-DBFD-844D-49BBF4CBAB43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BA66A3-F696-AF44-D45A-1D5FA9CA8D48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52ECF71-66D5-E80E-AC5F-7213E34E3DEA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CB85EA9-4B84-50E4-D96F-3A74B4492AA3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22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95E3289-5F19-5D03-F136-B8F9D4887DF1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64BF10-8A24-E701-3975-1A7270013998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50BC5F-3620-1D18-67C8-27541DEE6E25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B2C27A-D4C5-5613-E830-24F17212A3A8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E0FDD5-6632-EDDD-9BB2-82871129197C}"/>
              </a:ext>
            </a:extLst>
          </p:cNvPr>
          <p:cNvSpPr txBox="1"/>
          <p:nvPr/>
        </p:nvSpPr>
        <p:spPr>
          <a:xfrm>
            <a:off x="2549496" y="272325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062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765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다양한 생성형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서비스 활용 기초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8403" y="1633453"/>
            <a:ext cx="4731173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다양한 대화형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서비스의 특성을 파악하고 목적에 맞게 활용할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검색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와 특화 기능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를 활용하여 효율적인 정보 수집과 업무 처리를 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이미지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동영상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음악 등 멀티미디어 생성형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를 사용하여 창작물을 제작할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나만의 맞춤형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비서를 구축하여 개인화된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서비스를 운영할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13492"/>
              </p:ext>
            </p:extLst>
          </p:nvPr>
        </p:nvGraphicFramePr>
        <p:xfrm>
          <a:off x="1370471" y="2752052"/>
          <a:ext cx="6732000" cy="2407777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00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다양한 생성형 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서비스 </a:t>
                      </a:r>
                      <a:endParaRPr lang="en-US" altLang="ko-KR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 기초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1. ChatGPT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이해와 활용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클로드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제미나이 이해 및 활용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검색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 및 활용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이미지 생성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 및 활용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동영상 생성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 및 활용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음악 생성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 및 활용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프레젠테이션 생성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 및 활용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자료 시각화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로 데이터 스토리텔링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특화 기능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도구 이해 및 활용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나만의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비서 구축하기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순서도: 대체 처리 40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2" name="순서도: 대체 처리 41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96454" y="1801212"/>
              <a:ext cx="542026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r>
                <a:rPr lang="en-US" altLang="ko-KR" dirty="0">
                  <a:ea typeface="LG스마트체2.0 Regular" panose="020B0600000101010101" pitchFamily="50" charset="-127"/>
                </a:rPr>
                <a:t>10 Hr.</a:t>
              </a:r>
              <a:endParaRPr lang="ko-KR" altLang="en-US" dirty="0">
                <a:ea typeface="LG스마트체2.0 Regular" panose="020B0600000101010101" pitchFamily="50" charset="-127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842587" y="1721200"/>
              <a:ext cx="756638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On-Line</a:t>
              </a:r>
              <a:b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</a:br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7D6F742-E9F7-0A80-D583-2CE94B79FD60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E3193A-A1B8-CCFB-69F3-E772F72B960E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31">
            <a:extLst>
              <a:ext uri="{FF2B5EF4-FFF2-40B4-BE49-F238E27FC236}">
                <a16:creationId xmlns:a16="http://schemas.microsoft.com/office/drawing/2014/main" id="{E2E94A4E-1DF4-EC62-B4A2-A888C87C3D53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모서리가 둥근 직사각형 32">
            <a:extLst>
              <a:ext uri="{FF2B5EF4-FFF2-40B4-BE49-F238E27FC236}">
                <a16:creationId xmlns:a16="http://schemas.microsoft.com/office/drawing/2014/main" id="{035BFCB4-B05E-51A1-4868-4560FA9B8AA8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EE79DBC-F576-6656-068F-429C800AE96D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DEF7B9D-212D-C69E-7198-71AFF9619B6F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047A7F-88DE-BAF9-FF16-0D43087F7A39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656B2E-BADF-C091-5537-F7115353C934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CBF07E-A3CE-A2DA-17EF-B3790C76E21B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EF9EBD-176B-F2EF-2937-995463787ECC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01757ED-17D1-4885-66CE-7154C7B7259B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7EB8786-9F1E-8B2A-BB65-FB11AC4C3250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72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68C9E42-A079-88B4-5265-2EBBE7CA325F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EBDC50-040A-4D57-196A-0B048D2AED5C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A6F3DB-9328-9141-1CD2-68963CB99B1D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6A384BE-2CCF-44F5-D634-DB63FD666D6A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9668A-2A50-09E8-8262-DEA0CBEAC97B}"/>
              </a:ext>
            </a:extLst>
          </p:cNvPr>
          <p:cNvSpPr txBox="1"/>
          <p:nvPr/>
        </p:nvSpPr>
        <p:spPr>
          <a:xfrm>
            <a:off x="4347100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18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411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사무직의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리터러시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향상하기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544310"/>
              </p:ext>
            </p:extLst>
          </p:nvPr>
        </p:nvGraphicFramePr>
        <p:xfrm>
          <a:off x="1370471" y="2812434"/>
          <a:ext cx="6732000" cy="2468693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9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사무직의 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리터러시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endParaRPr lang="en-US" altLang="ko-KR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향상하기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생성형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이해와 업무 활용 가능성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문서 요약 및 보고서 생성하기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검색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기반 자료 조사 및 수합하기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기반 팩트 체크 및 문헌 정리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기반 리서치 기법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데이터 분석 기법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기반 엑셀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VBA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처리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를 활용한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인포그래픽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및 카드뉴스 제작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AI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를 활용한 발표 자료 작성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나만의 에이전트 만들기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868408" y="1633453"/>
            <a:ext cx="449628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생성형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AI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를 활용하여 문서 요약과 보고서 작성을 자동화할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AI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기반 리서치와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팩트체크를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통해 신뢰할 수 있는 자료를 수집할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데이터 분석과 시각화를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AI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로 처리하여 인사이트를 도출할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업무에 특화된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AI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에이전트를 구축하여 반복 업무를 자동화할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41" name="순서도: 대체 처리 40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순서도: 대체 처리 42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  <a:noFill/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  <a:noFill/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  <a:noFill/>
        </p:spPr>
      </p:pic>
      <p:sp>
        <p:nvSpPr>
          <p:cNvPr id="55" name="TextBox 54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10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27BDA0-CF08-63A6-ADEE-363E1549754A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B5E44D1-0163-B726-8023-A55A96A6A06E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모서리가 둥근 직사각형 31">
            <a:extLst>
              <a:ext uri="{FF2B5EF4-FFF2-40B4-BE49-F238E27FC236}">
                <a16:creationId xmlns:a16="http://schemas.microsoft.com/office/drawing/2014/main" id="{050E0213-668F-49FD-BEEC-972730AAE83D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모서리가 둥근 직사각형 32">
            <a:extLst>
              <a:ext uri="{FF2B5EF4-FFF2-40B4-BE49-F238E27FC236}">
                <a16:creationId xmlns:a16="http://schemas.microsoft.com/office/drawing/2014/main" id="{85F5FFCA-FEA5-55FC-FDF6-5991380F8DDD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6731C5A-3192-12C5-8165-100D169EB260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47AA7AE-0796-D1A6-773A-4D8837E0C2F3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38E4DE-C742-D782-7E60-1A0B331AC706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34DD84-68A3-E925-7F48-890E30F39E31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D8E451-C51C-7D35-9665-6EB98708DA56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92BB05-AC61-964C-294A-3A6456F4AB1B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22C71DE-2FE1-9FBA-8AEE-6355A7F78C3B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CEB8311-4E8C-B41F-9152-32ABA04FDC73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72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49B485A-1A18-3F57-710C-835B95027E69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8E9BC3-8394-DB8F-667D-15A2F8809037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1FA622-6182-8189-A00E-9050FFB6E05C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2824A74-F98C-6E6F-ACE4-5F1D210E772D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79EAE-4CD9-3F49-1605-D3E5507EEA83}"/>
              </a:ext>
            </a:extLst>
          </p:cNvPr>
          <p:cNvSpPr txBox="1"/>
          <p:nvPr/>
        </p:nvSpPr>
        <p:spPr>
          <a:xfrm>
            <a:off x="3935575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360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1" y="230475"/>
            <a:ext cx="3946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마케팅 </a:t>
            </a:r>
            <a:r>
              <a:rPr lang="ko-KR" altLang="en-US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직군의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리터러시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향상하기</a:t>
            </a:r>
          </a:p>
        </p:txBody>
      </p:sp>
      <p:graphicFrame>
        <p:nvGraphicFramePr>
          <p:cNvPr id="3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216899"/>
              </p:ext>
            </p:extLst>
          </p:nvPr>
        </p:nvGraphicFramePr>
        <p:xfrm>
          <a:off x="1370471" y="2812434"/>
          <a:ext cx="6732000" cy="2461582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47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310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마케팅 </a:t>
                      </a:r>
                      <a:r>
                        <a:rPr lang="ko-KR" altLang="en-US" sz="10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직군의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리터러시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endParaRPr lang="en-US" altLang="ko-KR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향상하기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마케팅 분야 생성형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마케팅 콘셉트 및 전략 수립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시장 분석을 위한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리서치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마케팅 블로그 포스트 생성하기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마케팅 이미지 생성하기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마케팅 이미지 편집하기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포스터 및 로고 제작하기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기반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숏폼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영상 제작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제품 홍보 영상 제작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제품 홍보 영상 편집 및 음악 생성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68408" y="1633453"/>
            <a:ext cx="449628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lvl="0" indent="-90488">
              <a:lnSpc>
                <a:spcPct val="120000"/>
              </a:lnSpc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AI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를 활용한 시장 분석과 고객 리서치를 통해 마케팅 인사이트를 도출할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마케팅 콘셉트와 전략을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로 수립하고 효과적인 카피를 제작할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이미지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영상 등 시각적 마케팅 콘텐츠를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로 제작하고 편집할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통합적인 마케팅 캠페인을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로 기획하고 실행할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23" name="순서도: 대체 처리 22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순서도: 대체 처리 23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  <a:noFill/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  <a:noFill/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  <a:noFill/>
        </p:spPr>
      </p:pic>
      <p:sp>
        <p:nvSpPr>
          <p:cNvPr id="33" name="TextBox 3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10Hr.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CA0709-5AE9-0461-D2E5-AB385A48B639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86C9CD01-3E2E-6180-202B-DC914F7812CB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모서리가 둥근 직사각형 31">
            <a:extLst>
              <a:ext uri="{FF2B5EF4-FFF2-40B4-BE49-F238E27FC236}">
                <a16:creationId xmlns:a16="http://schemas.microsoft.com/office/drawing/2014/main" id="{6443387B-6D82-991B-A6C0-53AF76CA5C27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7" name="모서리가 둥근 직사각형 32">
            <a:extLst>
              <a:ext uri="{FF2B5EF4-FFF2-40B4-BE49-F238E27FC236}">
                <a16:creationId xmlns:a16="http://schemas.microsoft.com/office/drawing/2014/main" id="{1852BAD4-E532-CB6E-2609-C845EABF49A3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7D1EC8CB-1CE1-8DD2-DEA7-5E4FA8C23AA7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91782090-F19A-491C-A714-4AAFE7243B06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CE730F-FDE6-7C6D-02E7-6546DA9A1373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503F96C-251E-5479-FE84-D1C3D5BD7007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1D6F51-8933-3681-C561-603B13CF153E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20A1EA-2313-8903-5106-3659C0A2F5D0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E687AE1-2A1D-0291-DF86-A233A61F94AE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09E8478-85C5-C06F-249D-2A0A84515B41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76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E3BC2F1-29EA-8D37-F686-412079B2836B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709F02-D2C8-74AF-7FB5-60E58067A51B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20667C-006C-8A74-CD47-3EFD6FC2563F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AAFFEB2-CE79-3004-3E31-3F6606E553F6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76703-2667-C24C-A865-D7E19C381785}"/>
              </a:ext>
            </a:extLst>
          </p:cNvPr>
          <p:cNvSpPr txBox="1"/>
          <p:nvPr/>
        </p:nvSpPr>
        <p:spPr>
          <a:xfrm>
            <a:off x="4492072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714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4105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[AX]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ChatEXONE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이해 및 활용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2000" b="1" dirty="0" err="1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엑사원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53804" y="1739472"/>
            <a:ext cx="4702671" cy="44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LG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그룹에서 개발한 자체 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LLM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모델인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ChatEXAONE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에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대해 이해하고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다양한 활용방법을 학습할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7897"/>
              </p:ext>
            </p:extLst>
          </p:nvPr>
        </p:nvGraphicFramePr>
        <p:xfrm>
          <a:off x="1370471" y="2812434"/>
          <a:ext cx="6732000" cy="1855374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2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817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ChatEXONE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 및 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1. LG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의 거대 언어 모델 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ChatEXAONE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소개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2. ChatEXAONE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의 주요 기능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3. ChatEXAONE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의 다양한 활용 사례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4. ChatEXAONE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의 사용자 경험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090048" y="6161755"/>
            <a:ext cx="3257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Smart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명으로 검색할 수 있음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804798" y="6083633"/>
            <a:ext cx="29312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Smart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인화원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Qrius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 컨텐츠를 링크하여 소개한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로서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구성원 누구나 수강신청없이 상시적으로 접속하여 자율 학습할 수 있음</a:t>
            </a:r>
          </a:p>
        </p:txBody>
      </p:sp>
      <p:sp>
        <p:nvSpPr>
          <p:cNvPr id="42" name="순서도: 대체 처리 41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순서도: 대체 처리 42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3365" y="520287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1199555" y="5365309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12391" y="5460730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인화원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en-US" altLang="ko-KR" sz="10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Qrius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영상 컨텐츠 링크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그림 6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9" name="그림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96454" y="1801212"/>
            <a:ext cx="542026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sz="1100">
                <a:ea typeface="LG스마트체2.0 Regular" panose="020B0600000101010101" pitchFamily="50" charset="-127"/>
              </a:rPr>
              <a:t>자율수강</a:t>
            </a:r>
            <a:endParaRPr lang="ko-KR" altLang="en-US" sz="1100" dirty="0">
              <a:ea typeface="LG스마트체2.0 Regular" panose="020B0600000101010101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9C432D4-2993-FCBE-411A-96077343195B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6656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978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완전 정복 시리즈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99524" y="1715049"/>
            <a:ext cx="3957208" cy="63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생성형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특히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EXAONE)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에 대한 이해와 다양한 활용사례를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학습함으로써 업무 전반의 효율화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자동화와 혁신을 실천할 수 있는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역량을 갖출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187262"/>
              </p:ext>
            </p:extLst>
          </p:nvPr>
        </p:nvGraphicFramePr>
        <p:xfrm>
          <a:off x="1370471" y="2812434"/>
          <a:ext cx="6732000" cy="2381577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6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9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생성형 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완전 정복 시리즈 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1. EXAONE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Start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프롬프트 엔지니어링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생성형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BP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사례 따라해 보기 ① 영업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마케팅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/Staff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직군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생성형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BP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사례 따라해 보기 ②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R&amp;D/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공정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장비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생산지원 직군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5.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프롬프팅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상담소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6. Hi-D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특집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 자동화 따라하기 ① 데이터 가공 자동화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8. 25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년도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AX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헤커톤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특집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 자동화 따라하기 ② 데이터 분석 자동화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10.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 자동화 따라하기 ③ 문서 편집 자동화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75798" y="6127465"/>
            <a:ext cx="32575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개인별 관심있는 주제의 이러닝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(1~2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시간 분량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을 선택하여 수강신청해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보시기 바랍니다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827319" y="6107977"/>
            <a:ext cx="293123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Virtual Class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녹화영상으로 구성된 내용이며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주제별 이러닝 과정 형태로 운영될 예정임</a:t>
            </a:r>
          </a:p>
        </p:txBody>
      </p:sp>
      <p:sp>
        <p:nvSpPr>
          <p:cNvPr id="42" name="순서도: 대체 처리 41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순서도: 대체 처리 42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3365" y="520287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1199555" y="5365309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12391" y="5460730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각 주제별 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888921" y="2271333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12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</a:t>
            </a:r>
          </a:p>
        </p:txBody>
      </p:sp>
      <p:sp>
        <p:nvSpPr>
          <p:cNvPr id="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93B0E8D-EE51-48BD-0F21-EA09851A0B6A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4F0F57-3D41-25A0-51A9-56C2AFB1B30C}"/>
              </a:ext>
            </a:extLst>
          </p:cNvPr>
          <p:cNvSpPr/>
          <p:nvPr/>
        </p:nvSpPr>
        <p:spPr>
          <a:xfrm>
            <a:off x="2593910" y="3321698"/>
            <a:ext cx="5365102" cy="9472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이러닝으로 등록 필요 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과정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1071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75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업무 활용 기초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804" y="1707320"/>
            <a:ext cx="454577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생성형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를 활용해 업무 자동화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효율화하는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일하는 방식을 이해하고 활용할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49442"/>
              </p:ext>
            </p:extLst>
          </p:nvPr>
        </p:nvGraphicFramePr>
        <p:xfrm>
          <a:off x="1370471" y="2812434"/>
          <a:ext cx="6732000" cy="2407266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61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77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생성형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 기초 스킬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GenAI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플랫폼 소개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자주 쓰는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용어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프롬프트 스킬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스마트한 활용법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자주 하는 실수와 피할 행동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맛보기 실습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3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생성형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 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입문 사례 실습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입문사례 소개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단계별 접근 방법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함수로 접근하기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VBA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로 접근하기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생성형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활용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응용 사례 실습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응용사례 소개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종합 실습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090048" y="6161755"/>
            <a:ext cx="3257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난이도는 입문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 수준으로</a:t>
            </a:r>
            <a:endParaRPr lang="en-US" altLang="ko-KR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실습위주로 운영함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804798" y="6153803"/>
            <a:ext cx="29312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사용경험이 많지 않고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기초적인 개념 및</a:t>
            </a:r>
            <a:endParaRPr lang="en-US" altLang="ko-KR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및 도구 활용방법을 학습하고 싶은 분에게 적합함</a:t>
            </a:r>
          </a:p>
        </p:txBody>
      </p:sp>
      <p:sp>
        <p:nvSpPr>
          <p:cNvPr id="42" name="순서도: 대체 처리 41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순서도: 대체 처리 42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67956" y="281924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3365" y="527188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1199555" y="5434319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312391" y="5529740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생성형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AI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활용 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그림 57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2587" y="1805838"/>
            <a:ext cx="756638" cy="26161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Off-Line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8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78FB52C-DC6A-DA48-709A-AF4DB19B3F07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4B9899-83BD-F851-028F-C07855210850}"/>
              </a:ext>
            </a:extLst>
          </p:cNvPr>
          <p:cNvSpPr/>
          <p:nvPr/>
        </p:nvSpPr>
        <p:spPr>
          <a:xfrm>
            <a:off x="6216971" y="5368543"/>
            <a:ext cx="5365102" cy="9472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’26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 운영여부 검토 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기본역량개발팀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027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1" y="230475"/>
            <a:ext cx="2664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ChatGPT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개발 활용 초급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89344" y="1684428"/>
            <a:ext cx="4731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transformer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와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GPT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및 </a:t>
            </a:r>
            <a:r>
              <a:rPr lang="en-US" altLang="ko-KR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chatGPT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의 기본적인 원리를 설명할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OpenAI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API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이용해서 문장 생성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질의 응답 생성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요약 등의 서비스를 구현할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ChatGPT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이용해서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PDF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문서 처리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tutor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서비스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mate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서비스 등의 어플리케이션을</a:t>
            </a:r>
            <a:b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구현할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101122"/>
              </p:ext>
            </p:extLst>
          </p:nvPr>
        </p:nvGraphicFramePr>
        <p:xfrm>
          <a:off x="1370471" y="2812434"/>
          <a:ext cx="6732000" cy="2468693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9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ChatGPT 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개발 활용 초급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언어 지능과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LLM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GPT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원리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Prompt Engineering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Prompt Engineering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심화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OpenAI API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OpenAI API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OpenAI API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심화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Fine Tuning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Embedding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OpenAI API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응용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11. RAG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12. RAG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수행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순서도: 대체 처리 33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순서도: 대체 처리 34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0" name="직선 연결선 39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96454" y="1801212"/>
              <a:ext cx="542026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r>
                <a:rPr lang="en-US" altLang="ko-KR" dirty="0">
                  <a:ea typeface="LG스마트체2.0 Regular" panose="020B0600000101010101" pitchFamily="50" charset="-127"/>
                </a:rPr>
                <a:t>12 Hr.</a:t>
              </a:r>
              <a:endParaRPr lang="ko-KR" altLang="en-US" dirty="0">
                <a:ea typeface="LG스마트체2.0 Regular" panose="020B0600000101010101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52" name="그림 51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842587" y="1721200"/>
              <a:ext cx="756638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On-Line</a:t>
              </a:r>
              <a:b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</a:br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92A0665-B972-E1E8-8A32-B40AD73688D9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2C89D292-1E1E-86D8-0458-295CEC640463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31">
            <a:extLst>
              <a:ext uri="{FF2B5EF4-FFF2-40B4-BE49-F238E27FC236}">
                <a16:creationId xmlns:a16="http://schemas.microsoft.com/office/drawing/2014/main" id="{82E3C648-4EA6-55A8-261C-577AB6277760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3" name="모서리가 둥근 직사각형 32">
            <a:extLst>
              <a:ext uri="{FF2B5EF4-FFF2-40B4-BE49-F238E27FC236}">
                <a16:creationId xmlns:a16="http://schemas.microsoft.com/office/drawing/2014/main" id="{BAC8388B-706E-34D6-D947-5C064AF31EC2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D25B706-6B46-E032-BA94-483D1EEA5C3F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C6A5D22B-C2CB-1B34-BEBB-746080691DA8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2DAB894-A613-BFE4-DA73-C66FE71DFDA5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4B9FA2-FA98-13B1-98DA-D6201597582F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A5C2B3-699D-B46D-605B-82693ABE729A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C8699E-DE7E-A47B-B843-7050474D7012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42286F6-53DC-11F6-1B07-3BB727C3F130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2044921-8E80-11C1-C42D-B469D0DA46CD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82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C93BEAB-409F-B4E8-A4F6-83800053B17D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65B50C-AD08-6F15-0668-6DE882BEA68F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02A1DC-3082-450C-FCE4-C53DFE1EB11A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8C52393-D5C7-05BA-5E4F-579E2B08C388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797D9-935C-B50E-F537-99FBD21BD0AF}"/>
              </a:ext>
            </a:extLst>
          </p:cNvPr>
          <p:cNvSpPr txBox="1"/>
          <p:nvPr/>
        </p:nvSpPr>
        <p:spPr>
          <a:xfrm>
            <a:off x="3188341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065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1" y="230475"/>
            <a:ext cx="593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ChatGPT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와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TRIZ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활용한 문제해결 및 혁신제품 콘셉트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9734" y="1684428"/>
            <a:ext cx="4580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창의 문제 해결 기법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TRIZ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기반의 문제 해결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혁신제품 콘셉트 개발 로드맵과</a:t>
            </a:r>
            <a:b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기초 기법 습득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로드맵 내 여러 곳의 정보수집 단계에서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ChatGPT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활용한 정보수집 및 검증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도출된 아이디어들을 결합 및 구체화하여 최적 제품 콘셉트 디자인 도출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sp>
        <p:nvSpPr>
          <p:cNvPr id="34" name="순서도: 대체 처리 33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순서도: 대체 처리 34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13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4F2C8-15A1-3F20-1D73-99FB2C5D48B9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530C049-449D-A78D-205F-FE3FEB5986CD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31">
            <a:extLst>
              <a:ext uri="{FF2B5EF4-FFF2-40B4-BE49-F238E27FC236}">
                <a16:creationId xmlns:a16="http://schemas.microsoft.com/office/drawing/2014/main" id="{43E98549-4915-1F90-F288-A29FD30954A1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모서리가 둥근 직사각형 32">
            <a:extLst>
              <a:ext uri="{FF2B5EF4-FFF2-40B4-BE49-F238E27FC236}">
                <a16:creationId xmlns:a16="http://schemas.microsoft.com/office/drawing/2014/main" id="{49C3B9A8-753F-A376-2333-12FB779ACD34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91D1056-BAB2-5201-4816-EF3EF0094A1A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18310D4-6A50-C4D1-2D92-371473E52A50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1E998E-05D7-6245-CA5B-9ED138CC1737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C5A83-6C37-5386-5471-1048300243DC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81881E-01CB-31F0-00B5-E8767EBD576B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AFAE23-95A7-2FAD-82B6-AE6D3023253E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0BD4D2C-CD84-8000-E8BC-BBAA2A382F5B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192B778-B5E9-C4FC-B330-99F25F4FB81B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40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1FA7AB0-E2F7-104D-C35B-6C6401F96A8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809B09-0000-8679-E3F9-D7BB96A9832D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D0697A-8F95-FE7A-0E6D-A5FF3FAB8016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D3C6AD2-470B-0F9B-09F7-CACFE2A68F20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graphicFrame>
        <p:nvGraphicFramePr>
          <p:cNvPr id="69" name="Group 58">
            <a:extLst>
              <a:ext uri="{FF2B5EF4-FFF2-40B4-BE49-F238E27FC236}">
                <a16:creationId xmlns:a16="http://schemas.microsoft.com/office/drawing/2014/main" id="{F6AD5BEC-0C07-B2F0-C739-4512AE1FF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889530"/>
              </p:ext>
            </p:extLst>
          </p:nvPr>
        </p:nvGraphicFramePr>
        <p:xfrm>
          <a:off x="1370471" y="2812434"/>
          <a:ext cx="6732000" cy="2544720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9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ChatGPT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TRIZ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를 활용한 </a:t>
                      </a:r>
                      <a:endParaRPr lang="en-US" altLang="ko-KR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문제해결 및 혁신제품 콘셉트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제품 콘셉트와 문제 해결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 인식과 목표 설정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원인 분석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 해결안 도출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기술적 모순과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40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 발명 원리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 해결안 도출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물리적 모순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분리 원리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기능지향검색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 해결안 도출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- 76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가지 표준해결책과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ARIZ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ChatGPT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소개 및 활용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ChatGPT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고급 활용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ChatGPT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사례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ChatGPT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TRIZ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통합 활용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시장 조사와 아이디어 생성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제품 콘셉트 모델링 및 시제품 제작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제품 콘셉트 상업화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06D8837C-6C23-4E94-2AE7-53B1FC3C1258}"/>
              </a:ext>
            </a:extLst>
          </p:cNvPr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591768-AF18-4D78-E3DD-09E2C3709750}"/>
              </a:ext>
            </a:extLst>
          </p:cNvPr>
          <p:cNvSpPr txBox="1"/>
          <p:nvPr/>
        </p:nvSpPr>
        <p:spPr>
          <a:xfrm>
            <a:off x="6455050" y="276195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3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4019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Coreman Basic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구독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2" name="순서도: 대체 처리 41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순서도: 대체 처리 42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67956" y="281924"/>
            <a:ext cx="564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그림 57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100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376A21C-4186-18E3-CB12-E4179A1F005B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45966-AEC0-F42B-4DD2-D33AA8059F5B}"/>
              </a:ext>
            </a:extLst>
          </p:cNvPr>
          <p:cNvSpPr txBox="1"/>
          <p:nvPr/>
        </p:nvSpPr>
        <p:spPr>
          <a:xfrm>
            <a:off x="649918" y="2493600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161C935-D302-42C2-9902-346998E1D532}"/>
              </a:ext>
            </a:extLst>
          </p:cNvPr>
          <p:cNvCxnSpPr/>
          <p:nvPr/>
        </p:nvCxnSpPr>
        <p:spPr>
          <a:xfrm>
            <a:off x="1186108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5266C40-F08A-7381-4573-6CDF0312B245}"/>
              </a:ext>
            </a:extLst>
          </p:cNvPr>
          <p:cNvSpPr txBox="1"/>
          <p:nvPr/>
        </p:nvSpPr>
        <p:spPr>
          <a:xfrm>
            <a:off x="663365" y="521491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5ADEB3-47A8-D4F2-1E6F-C11E23F41725}"/>
              </a:ext>
            </a:extLst>
          </p:cNvPr>
          <p:cNvCxnSpPr/>
          <p:nvPr/>
        </p:nvCxnSpPr>
        <p:spPr>
          <a:xfrm>
            <a:off x="1199555" y="537734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7B9B6D8-874A-4E8C-2D5D-AC79212EA1FB}"/>
              </a:ext>
            </a:extLst>
          </p:cNvPr>
          <p:cNvCxnSpPr/>
          <p:nvPr/>
        </p:nvCxnSpPr>
        <p:spPr>
          <a:xfrm>
            <a:off x="1199555" y="5817291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32">
            <a:extLst>
              <a:ext uri="{FF2B5EF4-FFF2-40B4-BE49-F238E27FC236}">
                <a16:creationId xmlns:a16="http://schemas.microsoft.com/office/drawing/2014/main" id="{FFC6DF13-4D42-258C-0908-0036AF841092}"/>
              </a:ext>
            </a:extLst>
          </p:cNvPr>
          <p:cNvSpPr/>
          <p:nvPr/>
        </p:nvSpPr>
        <p:spPr>
          <a:xfrm>
            <a:off x="1515382" y="6019019"/>
            <a:ext cx="3213052" cy="646331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모서리가 둥근 직사각형 33">
            <a:extLst>
              <a:ext uri="{FF2B5EF4-FFF2-40B4-BE49-F238E27FC236}">
                <a16:creationId xmlns:a16="http://schemas.microsoft.com/office/drawing/2014/main" id="{7C012626-B40D-5395-1508-408A1358C53C}"/>
              </a:ext>
            </a:extLst>
          </p:cNvPr>
          <p:cNvSpPr/>
          <p:nvPr/>
        </p:nvSpPr>
        <p:spPr>
          <a:xfrm>
            <a:off x="5053804" y="6034525"/>
            <a:ext cx="3213052" cy="630825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7AA94C3-69B9-B0DF-0720-0C468DFED611}"/>
              </a:ext>
            </a:extLst>
          </p:cNvPr>
          <p:cNvSpPr/>
          <p:nvPr/>
        </p:nvSpPr>
        <p:spPr>
          <a:xfrm>
            <a:off x="1370471" y="5936744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84DE5FD-6B8A-0575-E788-FB85E14F7C8A}"/>
              </a:ext>
            </a:extLst>
          </p:cNvPr>
          <p:cNvSpPr/>
          <p:nvPr/>
        </p:nvSpPr>
        <p:spPr>
          <a:xfrm>
            <a:off x="4900856" y="5949689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952A1-5FB3-23A5-A837-95DBDAF95180}"/>
              </a:ext>
            </a:extLst>
          </p:cNvPr>
          <p:cNvSpPr txBox="1"/>
          <p:nvPr/>
        </p:nvSpPr>
        <p:spPr>
          <a:xfrm>
            <a:off x="1329386" y="597825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591752-EC8B-6663-C0F7-011E888C43D6}"/>
              </a:ext>
            </a:extLst>
          </p:cNvPr>
          <p:cNvSpPr txBox="1"/>
          <p:nvPr/>
        </p:nvSpPr>
        <p:spPr>
          <a:xfrm>
            <a:off x="4859771" y="5988272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FBED83-9FB1-D504-5134-30D762FF4068}"/>
              </a:ext>
            </a:extLst>
          </p:cNvPr>
          <p:cNvSpPr/>
          <p:nvPr/>
        </p:nvSpPr>
        <p:spPr>
          <a:xfrm>
            <a:off x="1785376" y="6020753"/>
            <a:ext cx="2943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Udemy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보유한 생성형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프로그래밍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 분석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 등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1,300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여개의 이러닝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한글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영어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영어외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을 기간 내 무제한으로 학습할 수 있음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일반 직무교육 포함 시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30,000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여개 과정 제공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F31E50-C321-78C5-31E8-EDF65072A6D1}"/>
              </a:ext>
            </a:extLst>
          </p:cNvPr>
          <p:cNvSpPr txBox="1"/>
          <p:nvPr/>
        </p:nvSpPr>
        <p:spPr>
          <a:xfrm>
            <a:off x="663365" y="565485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3985F9-E71B-4705-5948-E6A3CAD78066}"/>
              </a:ext>
            </a:extLst>
          </p:cNvPr>
          <p:cNvSpPr txBox="1"/>
          <p:nvPr/>
        </p:nvSpPr>
        <p:spPr>
          <a:xfrm>
            <a:off x="1312390" y="5472767"/>
            <a:ext cx="5666907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글로벌 이러닝 업체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Udemy (9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개월 이러닝 구독 방식으로 기간 내 희망하는 모든 과정 무제한 수강 가능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)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3100E3-3F9A-A692-6545-77609C09E04F}"/>
              </a:ext>
            </a:extLst>
          </p:cNvPr>
          <p:cNvSpPr txBox="1"/>
          <p:nvPr/>
        </p:nvSpPr>
        <p:spPr>
          <a:xfrm>
            <a:off x="5320143" y="6020753"/>
            <a:ext cx="3467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센터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그룹 또는 사업부 직속 기획팀을 통해 대상자 선정하여 운영되는 과정이며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이수요건은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100hr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수강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+ AX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제안서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제출해야 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(AX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50hr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수강 경우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나머지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50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시간은 일반 직무교육 수강하더라도 인정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 *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미이수패널티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급여공제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만원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22" name="Group 58">
            <a:extLst>
              <a:ext uri="{FF2B5EF4-FFF2-40B4-BE49-F238E27FC236}">
                <a16:creationId xmlns:a16="http://schemas.microsoft.com/office/drawing/2014/main" id="{4319C411-0DF9-4DAB-E54B-75447083F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216024"/>
              </p:ext>
            </p:extLst>
          </p:nvPr>
        </p:nvGraphicFramePr>
        <p:xfrm>
          <a:off x="1370471" y="2812434"/>
          <a:ext cx="6732000" cy="2445985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6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431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리터러시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&amp;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마인드셋</a:t>
                      </a: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AI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역사와 정의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기업의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AX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전환 사례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AI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윤리와 보안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기반 의사결정 기초</a:t>
                      </a: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63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생성형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이해 및 업무 자동화</a:t>
                      </a: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ChatGPT, Claude, Midjourney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프롬프트 엔지니어링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바이브코딩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커서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No-code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Zapier, n8n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연동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LangChain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RAG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이해 등</a:t>
                      </a: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531176"/>
                  </a:ext>
                </a:extLst>
              </a:tr>
              <a:tr h="410141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 분석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&amp;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시각화</a:t>
                      </a: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SQL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Tableau/Power BI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데이터 시각화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Excel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을 활용한 데이터 분석 통계</a:t>
                      </a: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780384"/>
                  </a:ext>
                </a:extLst>
              </a:tr>
              <a:tr h="52945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기술 심화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(ML/DL)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Python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프로그래밍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알고리즘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회귀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분류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딥러닝 프레임워크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PyTorch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TensorFlow)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등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52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직무 지식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스킬 전반</a:t>
                      </a: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소프트웨어 엔지니어링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경영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재무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마케팅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관리 등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프로젝트 매니지먼트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리더십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문제해결 등 직무공통 이러닝 등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87259" marR="87259" marT="58173" marB="58173" anchor="ctr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304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1FCE444-D57E-FF5B-86B4-7EEDAD242A5E}"/>
              </a:ext>
            </a:extLst>
          </p:cNvPr>
          <p:cNvSpPr txBox="1"/>
          <p:nvPr/>
        </p:nvSpPr>
        <p:spPr>
          <a:xfrm>
            <a:off x="6782207" y="5494233"/>
            <a:ext cx="950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57908" latinLnBrk="1"/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 ‘26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 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월 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예정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F84220-0B2A-E951-896B-32EDFFFB1522}"/>
              </a:ext>
            </a:extLst>
          </p:cNvPr>
          <p:cNvSpPr txBox="1"/>
          <p:nvPr/>
        </p:nvSpPr>
        <p:spPr>
          <a:xfrm>
            <a:off x="5117996" y="1712392"/>
            <a:ext cx="4116074" cy="816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0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ea typeface="LG스마트체2.0 Regular" panose="020B0600000101010101" pitchFamily="50" charset="-127"/>
              </a:rPr>
              <a:t>생성형 </a:t>
            </a:r>
            <a:r>
              <a:rPr lang="en-US" altLang="ko-KR" dirty="0">
                <a:ea typeface="LG스마트체2.0 Regular" panose="020B0600000101010101" pitchFamily="50" charset="-127"/>
              </a:rPr>
              <a:t>AI, </a:t>
            </a:r>
            <a:r>
              <a:rPr lang="ko-KR" altLang="en-US" dirty="0">
                <a:ea typeface="LG스마트체2.0 Regular" panose="020B0600000101010101" pitchFamily="50" charset="-127"/>
              </a:rPr>
              <a:t>데이터분석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 err="1">
                <a:ea typeface="LG스마트체2.0 Regular" panose="020B0600000101010101" pitchFamily="50" charset="-127"/>
              </a:rPr>
              <a:t>머신러닝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딥러닝 등 다양한 </a:t>
            </a: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기술에 대한 집중적인 학습을 통해 실무에 적합한 </a:t>
            </a: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도구를 선택</a:t>
            </a:r>
            <a:r>
              <a:rPr lang="en-US" altLang="ko-KR" dirty="0">
                <a:ea typeface="LG스마트체2.0 Regular" panose="020B0600000101010101" pitchFamily="50" charset="-127"/>
              </a:rPr>
              <a:t>·</a:t>
            </a:r>
            <a:r>
              <a:rPr lang="ko-KR" altLang="en-US" dirty="0">
                <a:ea typeface="LG스마트체2.0 Regular" panose="020B0600000101010101" pitchFamily="50" charset="-127"/>
              </a:rPr>
              <a:t>활용할 수 있으며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현업의 업무 프로세스에서 </a:t>
            </a: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기반으로 효율화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자동화할 수 있는 구체적인 아이디어를 도출할 수 있다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45954A-01E2-3EB2-2221-FB14793BC48D}"/>
              </a:ext>
            </a:extLst>
          </p:cNvPr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</p:spTree>
    <p:extLst>
      <p:ext uri="{BB962C8B-B14F-4D97-AF65-F5344CB8AC3E}">
        <p14:creationId xmlns:p14="http://schemas.microsoft.com/office/powerpoint/2010/main" val="3431162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4919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비개발자를 위한 </a:t>
            </a:r>
            <a:r>
              <a:rPr lang="ko-KR" altLang="en-US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업무자동화 실무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6610" y="1614057"/>
            <a:ext cx="4622966" cy="816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0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- </a:t>
            </a:r>
            <a:r>
              <a:rPr lang="ko-KR" altLang="en-US" dirty="0" err="1">
                <a:ea typeface="LG스마트체2.0 Regular" panose="020B0600000101010101" pitchFamily="50" charset="-127"/>
              </a:rPr>
              <a:t>바이브코딩의</a:t>
            </a:r>
            <a:r>
              <a:rPr lang="ko-KR" altLang="en-US" dirty="0">
                <a:ea typeface="LG스마트체2.0 Regular" panose="020B0600000101010101" pitchFamily="50" charset="-127"/>
              </a:rPr>
              <a:t> 구조와 기본 개념을 이해하고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이를 활용하여 업무 자동화 스킬을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 습득한다</a:t>
            </a:r>
            <a:r>
              <a:rPr lang="en-US" altLang="ko-KR" dirty="0">
                <a:ea typeface="LG스마트체2.0 Regular" panose="020B0600000101010101" pitchFamily="50" charset="-127"/>
              </a:rPr>
              <a:t>. </a:t>
            </a:r>
          </a:p>
          <a:p>
            <a:r>
              <a:rPr lang="en-US" altLang="ko-KR" dirty="0">
                <a:ea typeface="LG스마트체2.0 Regular" panose="020B0600000101010101" pitchFamily="50" charset="-127"/>
              </a:rPr>
              <a:t>- Excel/CSV </a:t>
            </a:r>
            <a:r>
              <a:rPr lang="ko-KR" altLang="en-US" dirty="0">
                <a:ea typeface="LG스마트체2.0 Regular" panose="020B0600000101010101" pitchFamily="50" charset="-127"/>
              </a:rPr>
              <a:t>데이터 처리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문서 자동 생성 등 다양한 자동화 실습을 통해 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개인별  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  </a:t>
            </a:r>
            <a:r>
              <a:rPr lang="ko-KR" altLang="en-US" dirty="0">
                <a:ea typeface="LG스마트체2.0 Regular" panose="020B0600000101010101" pitchFamily="50" charset="-127"/>
              </a:rPr>
              <a:t>직무에서 창의적 문제 해결 아이디어를 도출할 수 있다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796043"/>
              </p:ext>
            </p:extLst>
          </p:nvPr>
        </p:nvGraphicFramePr>
        <p:xfrm>
          <a:off x="1370471" y="2812435"/>
          <a:ext cx="6732000" cy="2387591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90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바이브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코딩 이해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바이브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코딩 설치 및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 이해</a:t>
                      </a:r>
                      <a:endParaRPr lang="en-US" altLang="ko-KR" sz="1000" b="0" i="0" dirty="0">
                        <a:solidFill>
                          <a:srgbClr val="333333"/>
                        </a:solidFill>
                        <a:effectLst/>
                        <a:highlight>
                          <a:srgbClr val="FFFFFF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사용방법 실습 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간단 자동화 예제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파일명 자동 변경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요약 등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자동화 실습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Excel/CSV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데이터 처리 자동화</a:t>
                      </a:r>
                      <a:endParaRPr lang="en-US" altLang="ko-KR" sz="1000" b="0" i="0" dirty="0">
                        <a:solidFill>
                          <a:srgbClr val="333333"/>
                        </a:solidFill>
                        <a:effectLst/>
                        <a:highlight>
                          <a:srgbClr val="FFFFFF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문서 자동 생성 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 요약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 작성 등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1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자동화 실습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 </a:t>
                      </a:r>
                      <a:r>
                        <a:rPr lang="ko-KR" altLang="en-US" sz="1000" b="0" i="0" dirty="0" err="1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크롤링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요약 자동화 실습</a:t>
                      </a:r>
                      <a:endParaRPr lang="en-US" altLang="ko-KR" sz="1000" b="0" i="0" dirty="0">
                        <a:solidFill>
                          <a:srgbClr val="333333"/>
                        </a:solidFill>
                        <a:effectLst/>
                        <a:highlight>
                          <a:srgbClr val="FFFFFF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간단한 </a:t>
                      </a:r>
                      <a:r>
                        <a:rPr lang="ko-KR" altLang="en-US" sz="1000" b="0" i="0" dirty="0" err="1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제작 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(Open AI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 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 수행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개인별 생성형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과제 아이디어 도출 및 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  <a:endParaRPr lang="en-US" altLang="ko-KR" sz="1000" b="0" i="0" dirty="0">
                        <a:solidFill>
                          <a:srgbClr val="333333"/>
                        </a:solidFill>
                        <a:effectLst/>
                        <a:highlight>
                          <a:srgbClr val="FFFFFF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 (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자동화 미니프로젝트 구현 및 결과 공유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37698" y="6076030"/>
            <a:ext cx="3501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외부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바이브코딩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커서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AI)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활용할 예정이며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 클라우드내 사용할 수 있는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바이브코딩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(Hi-D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코드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와</a:t>
            </a:r>
            <a:endParaRPr lang="en-US" altLang="ko-KR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사용방법 유사함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*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스킬 학습 후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Hi-D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코드 활용 용이하도록 함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804798" y="6087128"/>
            <a:ext cx="29312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Staff/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영마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기획 부서내 생성형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활용경험이 잇는 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Target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으로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바이브코딩을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활용하여 업무 효율화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자동화할 수 있는 방법 학습하는 프로그램임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2" name="순서도: 대체 처리 41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순서도: 대체 처리 42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3365" y="517699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1199555" y="5339431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12391" y="5434852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바이브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코딩 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2587" y="1805838"/>
            <a:ext cx="756638" cy="26161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Off-Line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16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</a:t>
            </a:r>
          </a:p>
        </p:txBody>
      </p:sp>
      <p:sp>
        <p:nvSpPr>
          <p:cNvPr id="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3EB2A47-7243-EC3A-3549-B2D9417A64FB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008290-485D-6EA0-FC88-85212A438525}"/>
              </a:ext>
            </a:extLst>
          </p:cNvPr>
          <p:cNvSpPr/>
          <p:nvPr/>
        </p:nvSpPr>
        <p:spPr>
          <a:xfrm>
            <a:off x="5218779" y="3741618"/>
            <a:ext cx="5365102" cy="9472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신규개발 예정으로 내용 변동 가능함</a:t>
            </a:r>
          </a:p>
        </p:txBody>
      </p:sp>
    </p:spTree>
    <p:extLst>
      <p:ext uri="{BB962C8B-B14F-4D97-AF65-F5344CB8AC3E}">
        <p14:creationId xmlns:p14="http://schemas.microsoft.com/office/powerpoint/2010/main" val="1743615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058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프로그래밍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(2024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53804" y="1641929"/>
            <a:ext cx="3957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: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Git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을 사용해 프로젝트의 역사를 기록하고 관리할 수 있다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여러 </a:t>
            </a:r>
            <a:r>
              <a:rPr lang="ko-KR" altLang="en-US" sz="1000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브랜치를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만들어 프로젝트 개발의 흐름을 관리할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원격 저장소를 사용해 다른 사람과 함께 작업할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962591"/>
              </p:ext>
            </p:extLst>
          </p:nvPr>
        </p:nvGraphicFramePr>
        <p:xfrm>
          <a:off x="1370471" y="2812434"/>
          <a:ext cx="6732000" cy="2365782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6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Git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이란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?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Git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Git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특징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Git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저장소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Git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시작하기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Git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파일 생성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Git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저장소 반영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Git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관리 상태 확인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Git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가지 치기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Git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Branch,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F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ast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Forwad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Git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Merge 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Conflict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해결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3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Git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원격 저장소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원격 저장소 받아오기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원격 저장소 동기화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Origin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이란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?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부록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 </a:t>
                      </a: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Git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파고들기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부록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Git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파고들기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45956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그림 9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155" y="3037011"/>
            <a:ext cx="207010" cy="207010"/>
          </a:xfrm>
          <a:prstGeom prst="rect">
            <a:avLst/>
          </a:prstGeom>
        </p:spPr>
      </p:pic>
      <p:pic>
        <p:nvPicPr>
          <p:cNvPr id="94" name="그림 9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155" y="3430915"/>
            <a:ext cx="207010" cy="207010"/>
          </a:xfrm>
          <a:prstGeom prst="rect">
            <a:avLst/>
          </a:prstGeom>
        </p:spPr>
      </p:pic>
      <p:pic>
        <p:nvPicPr>
          <p:cNvPr id="95" name="그림 9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155" y="3808282"/>
            <a:ext cx="207010" cy="207010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155" y="4377680"/>
            <a:ext cx="207010" cy="207010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536" y="4918271"/>
            <a:ext cx="207010" cy="20701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20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C04D9E-41EE-F94E-8A1B-CE1B53B851BA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519A978-90FA-2180-8605-2F487A6E043D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모서리가 둥근 직사각형 31">
            <a:extLst>
              <a:ext uri="{FF2B5EF4-FFF2-40B4-BE49-F238E27FC236}">
                <a16:creationId xmlns:a16="http://schemas.microsoft.com/office/drawing/2014/main" id="{4127D20C-3B44-3463-0685-400D54389EF7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0" name="모서리가 둥근 직사각형 32">
            <a:extLst>
              <a:ext uri="{FF2B5EF4-FFF2-40B4-BE49-F238E27FC236}">
                <a16:creationId xmlns:a16="http://schemas.microsoft.com/office/drawing/2014/main" id="{8E86FB5B-912D-1A5B-EB8C-7AF6CDEF9F46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F149F8E-6035-2044-56BA-7369441FD78F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0931A17-4562-0A14-17CA-D1CA06BC8F7F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F26AAF-4D43-7600-C3F1-7DFF7CE7122A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8F607C-F26E-4EDB-CD35-52A705244AED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9EBC77-EA8B-4B0C-770E-3776AAFA50F4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15841F-B82E-F787-74E8-8482B50DEAC6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5E7AD2F-A533-0431-CFEB-E2AC026B0B89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668ECFC-8A55-02B7-FA17-0BD8233A28D3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29" name="실행 단추: 홈 66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7535E2A-73EA-0137-F78A-2A3A45A6916D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F4807-3F25-69F7-D42E-42E1525D94F0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9BA151-B333-9168-038D-05B310D5A1D4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8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9CA18FE-676F-23C1-DED6-29D385E2E9B6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613042-99B6-BDA1-598B-FADAFC2E8F5B}"/>
              </a:ext>
            </a:extLst>
          </p:cNvPr>
          <p:cNvSpPr txBox="1"/>
          <p:nvPr/>
        </p:nvSpPr>
        <p:spPr>
          <a:xfrm>
            <a:off x="3659386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45" name="순서도: 대체 처리 44">
            <a:extLst>
              <a:ext uri="{FF2B5EF4-FFF2-40B4-BE49-F238E27FC236}">
                <a16:creationId xmlns:a16="http://schemas.microsoft.com/office/drawing/2014/main" id="{A288141E-8C63-4AB0-4602-5DBBA5E8C9DC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순서도: 대체 처리 45">
            <a:extLst>
              <a:ext uri="{FF2B5EF4-FFF2-40B4-BE49-F238E27FC236}">
                <a16:creationId xmlns:a16="http://schemas.microsoft.com/office/drawing/2014/main" id="{2B50E0E7-FFB2-54AB-1665-2E6F77DCED5B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EB52BA-C8DA-FD39-A2ED-85BDFB0A2F67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3C8D7B6-71AC-2C9B-D47A-972A959753C3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087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587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[AX] C++ </a:t>
            </a:r>
            <a:r>
              <a:rPr lang="ko-KR" altLang="en-US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코딩스킬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기본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70" name="직선 연결선 6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74" name="직선 연결선 73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모서리가 둥근 직사각형 74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295200" y="6107965"/>
            <a:ext cx="35882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[K-MOOC] C++ 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프로그래밍 기초 사외 이러닝은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  <a:p>
            <a:r>
              <a:rPr kumimoji="1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www.kmooc.or.kr</a:t>
            </a:r>
            <a:r>
              <a:rPr kumimoji="1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 사이트 회원가입 후 수강 가능</a:t>
            </a:r>
            <a:br>
              <a:rPr kumimoji="1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</a:br>
            <a:r>
              <a:rPr kumimoji="1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1000" b="0" i="0" u="none" strike="noStrike" kern="120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비용없음</a:t>
            </a:r>
            <a:r>
              <a:rPr kumimoji="1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, </a:t>
            </a:r>
            <a:r>
              <a:rPr kumimoji="1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사외위탁교육 참가품의</a:t>
            </a:r>
            <a:r>
              <a:rPr kumimoji="1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결과보고 시 교육이력 등록됨</a:t>
            </a:r>
            <a:r>
              <a:rPr kumimoji="1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)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804798" y="6091221"/>
            <a:ext cx="29312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Smart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명 검색 가능하며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별도의 수강신청이나 시간제한 없이 자율적으로 학습할 수 있음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3365" y="527368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87" name="직선 연결선 86"/>
          <p:cNvCxnSpPr/>
          <p:nvPr/>
        </p:nvCxnSpPr>
        <p:spPr>
          <a:xfrm>
            <a:off x="1199555" y="543611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312391" y="5531536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000" noProof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noProof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</a:t>
            </a:r>
            <a:r>
              <a:rPr kumimoji="1" lang="en-US" altLang="ko-KR" sz="1000" noProof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KMOOC </a:t>
            </a:r>
            <a:r>
              <a:rPr kumimoji="1" lang="ko-KR" altLang="en-US" sz="1000" noProof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이러닝 사이트 </a:t>
            </a:r>
            <a:r>
              <a:rPr kumimoji="1" lang="en-US" altLang="ko-KR" sz="1000" noProof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/ </a:t>
            </a:r>
            <a:r>
              <a:rPr kumimoji="1" lang="ko-KR" altLang="en-US" sz="1000" noProof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강의 녹화 영상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93" name="직선 연결선 92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그림 94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42587" y="170327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(On-Line)</a:t>
            </a:r>
            <a:endParaRPr lang="ko-KR" altLang="en-US" sz="1100" b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98" name="그림 9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99" name="그림 9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100" name="그림 9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78524" y="1711565"/>
            <a:ext cx="542026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dirty="0">
                <a:ea typeface="LG스마트체2.0 Regular" panose="020B0600000101010101" pitchFamily="50" charset="-127"/>
              </a:rPr>
              <a:t>자율</a:t>
            </a:r>
            <a:endParaRPr lang="en-US" altLang="ko-KR" dirty="0">
              <a:ea typeface="LG스마트체2.0 Regular" panose="020B0600000101010101" pitchFamily="50" charset="-127"/>
            </a:endParaRPr>
          </a:p>
          <a:p>
            <a:r>
              <a:rPr lang="ko-KR" altLang="en-US" dirty="0">
                <a:ea typeface="LG스마트체2.0 Regular" panose="020B0600000101010101" pitchFamily="50" charset="-127"/>
              </a:rPr>
              <a:t>수강</a:t>
            </a:r>
            <a:endParaRPr lang="en-US" altLang="ko-KR" dirty="0">
              <a:ea typeface="LG스마트체2.0 Regular" panose="020B0600000101010101" pitchFamily="50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981866" y="1747802"/>
            <a:ext cx="4550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lnSpc>
                <a:spcPct val="120000"/>
              </a:lnSpc>
              <a:defRPr/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C++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의 구조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환경에 대한 이해를 바탕으로 기초적인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Coding Skill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을 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  <a:p>
            <a:pPr marL="90488" indent="-90488">
              <a:lnSpc>
                <a:spcPct val="120000"/>
              </a:lnSpc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습득하고 활용할 수 있다</a:t>
            </a: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08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619593"/>
              </p:ext>
            </p:extLst>
          </p:nvPr>
        </p:nvGraphicFramePr>
        <p:xfrm>
          <a:off x="1370471" y="2812434"/>
          <a:ext cx="6756492" cy="2524676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2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0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C++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기초 강의 영상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2765" marR="276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[K-MOOC] C++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프로그래밍 기초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선문대학교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문찬승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교수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54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C++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실무 및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PJT</a:t>
                      </a:r>
                    </a:p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(11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 사내 강의 영상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2765" marR="276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C++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개요 및 문법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(3hr)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</a:b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</a:b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C++ Coding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기초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(5hr)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</a:b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</a:b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C++ Coding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응용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(8hr)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3205179" y="284936"/>
            <a:ext cx="14125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dirty="0">
                <a:latin typeface="Arial Narrow" panose="020B0606020202030204" pitchFamily="34" charset="0"/>
              </a:rPr>
              <a:t>* </a:t>
            </a:r>
            <a:r>
              <a:rPr lang="ko-KR" altLang="en-US" dirty="0">
                <a:latin typeface="Arial Narrow" panose="020B0606020202030204" pitchFamily="34" charset="0"/>
              </a:rPr>
              <a:t>온라인 상시학습 </a:t>
            </a:r>
            <a:r>
              <a:rPr lang="en-US" altLang="ko-KR" dirty="0">
                <a:latin typeface="Arial Narrow" panose="020B0606020202030204" pitchFamily="34" charset="0"/>
              </a:rPr>
              <a:t>LETO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2" name="실행 단추: 홈 66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478E063B-9A50-23F6-93B5-058AE27C59D7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2DD58-805E-B3A4-A623-D0A5F001373F}"/>
              </a:ext>
            </a:extLst>
          </p:cNvPr>
          <p:cNvSpPr txBox="1"/>
          <p:nvPr/>
        </p:nvSpPr>
        <p:spPr>
          <a:xfrm>
            <a:off x="4728434" y="3453042"/>
            <a:ext cx="23272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C, C++, Visual C++, MFC </a:t>
            </a:r>
            <a:r>
              <a:rPr lang="ko-KR" altLang="en-US" dirty="0">
                <a:latin typeface="Arial Narrow" panose="020B0606020202030204" pitchFamily="34" charset="0"/>
              </a:rPr>
              <a:t>의 차이점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메모리 관리의 기초 및 문법 실습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클래스 및 상속 개념에 대한 이해 및 문법 실습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300F3-CC84-AEFE-6353-87D12DDC8451}"/>
              </a:ext>
            </a:extLst>
          </p:cNvPr>
          <p:cNvSpPr txBox="1"/>
          <p:nvPr/>
        </p:nvSpPr>
        <p:spPr>
          <a:xfrm>
            <a:off x="4728434" y="3942866"/>
            <a:ext cx="219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간단한 </a:t>
            </a:r>
            <a:r>
              <a:rPr lang="en-US" altLang="ko-KR" dirty="0">
                <a:latin typeface="Arial Narrow" panose="020B0606020202030204" pitchFamily="34" charset="0"/>
              </a:rPr>
              <a:t>CSV </a:t>
            </a:r>
            <a:r>
              <a:rPr lang="ko-KR" altLang="en-US" dirty="0">
                <a:latin typeface="Arial Narrow" panose="020B0606020202030204" pitchFamily="34" charset="0"/>
              </a:rPr>
              <a:t>파일 입</a:t>
            </a:r>
            <a:r>
              <a:rPr lang="en-US" altLang="ko-KR" dirty="0">
                <a:latin typeface="Arial Narrow" panose="020B0606020202030204" pitchFamily="34" charset="0"/>
              </a:rPr>
              <a:t>/</a:t>
            </a:r>
            <a:r>
              <a:rPr lang="ko-KR" altLang="en-US" dirty="0">
                <a:latin typeface="Arial Narrow" panose="020B0606020202030204" pitchFamily="34" charset="0"/>
              </a:rPr>
              <a:t>출력 실습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Log </a:t>
            </a:r>
            <a:r>
              <a:rPr lang="ko-KR" altLang="en-US" dirty="0">
                <a:latin typeface="Arial Narrow" panose="020B0606020202030204" pitchFamily="34" charset="0"/>
              </a:rPr>
              <a:t>파일 생성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Histogram </a:t>
            </a:r>
            <a:r>
              <a:rPr lang="ko-KR" altLang="en-US" dirty="0">
                <a:latin typeface="Arial Narrow" panose="020B0606020202030204" pitchFamily="34" charset="0"/>
              </a:rPr>
              <a:t>생성 및 </a:t>
            </a:r>
            <a:r>
              <a:rPr lang="en-US" altLang="ko-KR" dirty="0">
                <a:latin typeface="Arial Narrow" panose="020B0606020202030204" pitchFamily="34" charset="0"/>
              </a:rPr>
              <a:t>USL/LSL Data </a:t>
            </a:r>
            <a:r>
              <a:rPr lang="ko-KR" altLang="en-US" dirty="0">
                <a:latin typeface="Arial Narrow" panose="020B0606020202030204" pitchFamily="34" charset="0"/>
              </a:rPr>
              <a:t>추출 실습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Thread </a:t>
            </a:r>
            <a:r>
              <a:rPr lang="ko-KR" altLang="en-US" dirty="0">
                <a:latin typeface="Arial Narrow" panose="020B0606020202030204" pitchFamily="34" charset="0"/>
              </a:rPr>
              <a:t>이해와  활용 실습</a:t>
            </a:r>
            <a:r>
              <a:rPr lang="en-US" altLang="ko-KR" dirty="0">
                <a:latin typeface="Arial Narrow" panose="020B0606020202030204" pitchFamily="34" charset="0"/>
              </a:rPr>
              <a:t>(</a:t>
            </a:r>
            <a:r>
              <a:rPr lang="ko-KR" altLang="en-US" dirty="0">
                <a:latin typeface="Arial Narrow" panose="020B0606020202030204" pitchFamily="34" charset="0"/>
              </a:rPr>
              <a:t>컴파일러 내장함수</a:t>
            </a:r>
            <a:r>
              <a:rPr lang="en-US" altLang="ko-KR" dirty="0">
                <a:latin typeface="Arial Narrow" panose="020B0606020202030204" pitchFamily="34" charset="0"/>
              </a:rPr>
              <a:t>)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6D4F9-58AF-2B38-4FB3-65A537FC6E6B}"/>
              </a:ext>
            </a:extLst>
          </p:cNvPr>
          <p:cNvSpPr txBox="1"/>
          <p:nvPr/>
        </p:nvSpPr>
        <p:spPr>
          <a:xfrm>
            <a:off x="3323254" y="4647576"/>
            <a:ext cx="473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dirty="0">
                <a:latin typeface="Arial Narrow" panose="020B0606020202030204" pitchFamily="34" charset="0"/>
              </a:rPr>
              <a:t>&lt;</a:t>
            </a:r>
            <a:r>
              <a:rPr lang="ko-KR" altLang="en-US" dirty="0">
                <a:latin typeface="Arial Narrow" panose="020B0606020202030204" pitchFamily="34" charset="0"/>
              </a:rPr>
              <a:t>파일처리 </a:t>
            </a:r>
            <a:r>
              <a:rPr lang="en-US" altLang="ko-KR" dirty="0">
                <a:latin typeface="Arial Narrow" panose="020B0606020202030204" pitchFamily="34" charset="0"/>
              </a:rPr>
              <a:t>(Batch Process) </a:t>
            </a:r>
            <a:r>
              <a:rPr lang="ko-KR" altLang="en-US" dirty="0">
                <a:latin typeface="Arial Narrow" panose="020B0606020202030204" pitchFamily="34" charset="0"/>
              </a:rPr>
              <a:t>실습</a:t>
            </a:r>
            <a:r>
              <a:rPr lang="en-US" altLang="ko-KR" dirty="0">
                <a:latin typeface="Arial Narrow" panose="020B0606020202030204" pitchFamily="34" charset="0"/>
              </a:rPr>
              <a:t>&gt;</a:t>
            </a:r>
          </a:p>
          <a:p>
            <a:r>
              <a:rPr lang="en-US" altLang="ko-KR" dirty="0">
                <a:latin typeface="Arial Narrow" panose="020B0606020202030204" pitchFamily="34" charset="0"/>
              </a:rPr>
              <a:t>  : big data</a:t>
            </a:r>
            <a:r>
              <a:rPr lang="ko-KR" altLang="en-US" dirty="0">
                <a:latin typeface="Arial Narrow" panose="020B0606020202030204" pitchFamily="34" charset="0"/>
              </a:rPr>
              <a:t>처리를 위한 자동 파일 입</a:t>
            </a:r>
            <a:r>
              <a:rPr lang="en-US" altLang="ko-KR" dirty="0">
                <a:latin typeface="Arial Narrow" panose="020B0606020202030204" pitchFamily="34" charset="0"/>
              </a:rPr>
              <a:t>/</a:t>
            </a:r>
            <a:r>
              <a:rPr lang="ko-KR" altLang="en-US" dirty="0">
                <a:latin typeface="Arial Narrow" panose="020B0606020202030204" pitchFamily="34" charset="0"/>
              </a:rPr>
              <a:t>출력 및 </a:t>
            </a:r>
            <a:r>
              <a:rPr lang="en-US" altLang="ko-KR" dirty="0">
                <a:latin typeface="Arial Narrow" panose="020B0606020202030204" pitchFamily="34" charset="0"/>
              </a:rPr>
              <a:t>Data </a:t>
            </a:r>
            <a:r>
              <a:rPr lang="ko-KR" altLang="en-US" dirty="0">
                <a:latin typeface="Arial Narrow" panose="020B0606020202030204" pitchFamily="34" charset="0"/>
              </a:rPr>
              <a:t>처리 </a:t>
            </a:r>
            <a:r>
              <a:rPr lang="en-US" altLang="ko-KR" dirty="0">
                <a:latin typeface="Arial Narrow" panose="020B0606020202030204" pitchFamily="34" charset="0"/>
              </a:rPr>
              <a:t>Routine</a:t>
            </a:r>
            <a:r>
              <a:rPr lang="ko-KR" altLang="en-US" dirty="0">
                <a:latin typeface="Arial Narrow" panose="020B0606020202030204" pitchFamily="34" charset="0"/>
              </a:rPr>
              <a:t>을 구현하여 방대한  </a:t>
            </a:r>
            <a:r>
              <a:rPr lang="en-US" altLang="ko-KR" dirty="0">
                <a:latin typeface="Arial Narrow" panose="020B0606020202030204" pitchFamily="34" charset="0"/>
              </a:rPr>
              <a:t> data</a:t>
            </a:r>
            <a:r>
              <a:rPr lang="ko-KR" altLang="en-US" dirty="0">
                <a:latin typeface="Arial Narrow" panose="020B0606020202030204" pitchFamily="34" charset="0"/>
              </a:rPr>
              <a:t>를 효율적으로 처리하는 방법 실습</a:t>
            </a:r>
            <a:endParaRPr lang="en-US" altLang="ko-KR" dirty="0">
              <a:latin typeface="Arial Narrow" panose="020B0606020202030204" pitchFamily="34" charset="0"/>
            </a:endParaRPr>
          </a:p>
          <a:p>
            <a:r>
              <a:rPr lang="en-US" altLang="ko-KR" dirty="0">
                <a:latin typeface="Arial Narrow" panose="020B0606020202030204" pitchFamily="34" charset="0"/>
              </a:rPr>
              <a:t>&lt;DLL </a:t>
            </a:r>
            <a:r>
              <a:rPr lang="ko-KR" altLang="en-US" dirty="0">
                <a:latin typeface="Arial Narrow" panose="020B0606020202030204" pitchFamily="34" charset="0"/>
              </a:rPr>
              <a:t>생성 및 연동 실습</a:t>
            </a:r>
            <a:r>
              <a:rPr lang="en-US" altLang="ko-KR" dirty="0">
                <a:latin typeface="Arial Narrow" panose="020B0606020202030204" pitchFamily="34" charset="0"/>
              </a:rPr>
              <a:t>&gt; : DLL</a:t>
            </a:r>
            <a:r>
              <a:rPr lang="ko-KR" altLang="en-US" dirty="0">
                <a:latin typeface="Arial Narrow" panose="020B0606020202030204" pitchFamily="34" charset="0"/>
              </a:rPr>
              <a:t>생성을 통한 알고리즘 </a:t>
            </a:r>
            <a:r>
              <a:rPr lang="ko-KR" altLang="en-US" dirty="0" err="1">
                <a:latin typeface="Arial Narrow" panose="020B0606020202030204" pitchFamily="34" charset="0"/>
              </a:rPr>
              <a:t>블럭화</a:t>
            </a:r>
            <a:r>
              <a:rPr lang="en-US" altLang="ko-KR" dirty="0">
                <a:latin typeface="Arial Narrow" panose="020B0606020202030204" pitchFamily="34" charset="0"/>
              </a:rPr>
              <a:t>(DLL) </a:t>
            </a:r>
            <a:r>
              <a:rPr lang="ko-KR" altLang="en-US" dirty="0">
                <a:latin typeface="Arial Narrow" panose="020B0606020202030204" pitchFamily="34" charset="0"/>
              </a:rPr>
              <a:t>및 </a:t>
            </a:r>
            <a:r>
              <a:rPr lang="ko-KR" altLang="en-US" dirty="0" err="1">
                <a:latin typeface="Arial Narrow" panose="020B0606020202030204" pitchFamily="34" charset="0"/>
              </a:rPr>
              <a:t>실행부</a:t>
            </a:r>
            <a:r>
              <a:rPr lang="en-US" altLang="ko-KR" dirty="0">
                <a:latin typeface="Arial Narrow" panose="020B0606020202030204" pitchFamily="34" charset="0"/>
              </a:rPr>
              <a:t>(exe)</a:t>
            </a:r>
            <a:r>
              <a:rPr lang="ko-KR" altLang="en-US" dirty="0">
                <a:latin typeface="Arial Narrow" panose="020B0606020202030204" pitchFamily="34" charset="0"/>
              </a:rPr>
              <a:t>를 분리 운영하는 방법 실습</a:t>
            </a:r>
            <a:r>
              <a:rPr lang="en-US" altLang="ko-KR" dirty="0">
                <a:latin typeface="Arial Narrow" panose="020B0606020202030204" pitchFamily="34" charset="0"/>
              </a:rPr>
              <a:t>.  </a:t>
            </a:r>
          </a:p>
          <a:p>
            <a:r>
              <a:rPr lang="en-US" altLang="ko-KR" dirty="0">
                <a:latin typeface="Arial Narrow" panose="020B0606020202030204" pitchFamily="34" charset="0"/>
              </a:rPr>
              <a:t>&lt;</a:t>
            </a:r>
            <a:r>
              <a:rPr lang="ko-KR" altLang="en-US" dirty="0">
                <a:latin typeface="Arial Narrow" panose="020B0606020202030204" pitchFamily="34" charset="0"/>
              </a:rPr>
              <a:t>간단한 병렬처리 </a:t>
            </a:r>
            <a:r>
              <a:rPr lang="en-US" altLang="ko-KR" dirty="0">
                <a:latin typeface="Arial Narrow" panose="020B0606020202030204" pitchFamily="34" charset="0"/>
              </a:rPr>
              <a:t>Process </a:t>
            </a:r>
            <a:r>
              <a:rPr lang="ko-KR" altLang="en-US" dirty="0">
                <a:latin typeface="Arial Narrow" panose="020B0606020202030204" pitchFamily="34" charset="0"/>
              </a:rPr>
              <a:t>구현 실습</a:t>
            </a:r>
            <a:r>
              <a:rPr lang="en-US" altLang="ko-KR" dirty="0">
                <a:latin typeface="Arial Narrow" panose="020B0606020202030204" pitchFamily="34" charset="0"/>
              </a:rPr>
              <a:t>&gt; </a:t>
            </a:r>
            <a:r>
              <a:rPr lang="ko-KR" altLang="en-US" dirty="0">
                <a:latin typeface="Arial Narrow" panose="020B0606020202030204" pitchFamily="34" charset="0"/>
              </a:rPr>
              <a:t>컴파일러 내장함수</a:t>
            </a:r>
            <a:r>
              <a:rPr lang="en-US" altLang="ko-KR" dirty="0">
                <a:latin typeface="Arial Narrow" panose="020B0606020202030204" pitchFamily="34" charset="0"/>
              </a:rPr>
              <a:t>: </a:t>
            </a:r>
            <a:r>
              <a:rPr lang="ko-KR" altLang="en-US" dirty="0">
                <a:latin typeface="Arial Narrow" panose="020B0606020202030204" pitchFamily="34" charset="0"/>
              </a:rPr>
              <a:t> </a:t>
            </a:r>
            <a:r>
              <a:rPr lang="en-US" altLang="ko-KR" dirty="0">
                <a:latin typeface="Arial Narrow" panose="020B0606020202030204" pitchFamily="34" charset="0"/>
              </a:rPr>
              <a:t>: </a:t>
            </a:r>
            <a:r>
              <a:rPr lang="ko-KR" altLang="en-US" dirty="0">
                <a:latin typeface="Arial Narrow" panose="020B0606020202030204" pitchFamily="34" charset="0"/>
              </a:rPr>
              <a:t>병렬처리 방법을 이용하여 효율적인 파일처리 구현실습</a:t>
            </a:r>
          </a:p>
        </p:txBody>
      </p:sp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36E22AAE-6FA9-3B33-B1FE-5C91355E8CA5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6" name="순서도: 대체 처리 15">
            <a:extLst>
              <a:ext uri="{FF2B5EF4-FFF2-40B4-BE49-F238E27FC236}">
                <a16:creationId xmlns:a16="http://schemas.microsoft.com/office/drawing/2014/main" id="{8EB72147-74F8-4381-38BB-4E8EE990F38D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51CA61-CB17-FA66-A308-D35EC7C080DA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B9B249-0AB0-E4EF-B72F-217621EAE871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7314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179696" y="6107965"/>
            <a:ext cx="3257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코딩기초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강의영상은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edwith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싸이트에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등록된 자료로</a:t>
            </a:r>
            <a:endParaRPr lang="en-US" altLang="ko-KR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네이버 로그인 또는 회원가입 필요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804798" y="6091221"/>
            <a:ext cx="29312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Smart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명 검색 가능하며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별도의 수강신청이나 시간제한 없이 자율적으로 학습할 수 있음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365" y="527368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1199555" y="543611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12391" y="5549466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000" noProof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noProof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강의 녹화 영상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2587" y="170327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(On-Line)</a:t>
            </a:r>
            <a:endParaRPr lang="ko-KR" altLang="en-US" sz="1100" b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8524" y="1711565"/>
            <a:ext cx="542026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dirty="0">
                <a:ea typeface="LG스마트체2.0 Regular" panose="020B0600000101010101" pitchFamily="50" charset="-127"/>
              </a:rPr>
              <a:t>자율</a:t>
            </a:r>
            <a:endParaRPr lang="en-US" altLang="ko-KR" dirty="0">
              <a:ea typeface="LG스마트체2.0 Regular" panose="020B0600000101010101" pitchFamily="50" charset="-127"/>
            </a:endParaRPr>
          </a:p>
          <a:p>
            <a:r>
              <a:rPr lang="ko-KR" altLang="en-US" dirty="0">
                <a:ea typeface="LG스마트체2.0 Regular" panose="020B0600000101010101" pitchFamily="50" charset="-127"/>
              </a:rPr>
              <a:t>수강</a:t>
            </a:r>
            <a:endParaRPr lang="en-US" altLang="ko-KR" dirty="0">
              <a:ea typeface="LG스마트체2.0 Regular" panose="020B0600000101010101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81866" y="1747802"/>
            <a:ext cx="4550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lnSpc>
                <a:spcPct val="120000"/>
              </a:lnSpc>
              <a:defRPr/>
            </a:pPr>
            <a:r>
              <a:rPr lang="en-US" altLang="ko-KR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Matlab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의 구조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환경에 대한 이해를 바탕으로 기초적인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Coding Skill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을 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  <a:p>
            <a:pPr marL="90488" indent="-90488">
              <a:lnSpc>
                <a:spcPct val="120000"/>
              </a:lnSpc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습득하고 활용할 수 있다</a:t>
            </a: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3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83654"/>
              </p:ext>
            </p:extLst>
          </p:nvPr>
        </p:nvGraphicFramePr>
        <p:xfrm>
          <a:off x="1370471" y="2812434"/>
          <a:ext cx="6732000" cy="2336698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0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42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MATLAB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기본 및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PJT</a:t>
                      </a:r>
                    </a:p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(18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 사내 강의 영상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2765" marR="276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MATLAB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구조 및 환경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MATLAB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기초 코딩 스킬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MATLAB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응용 코딩 스킬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666901" y="230475"/>
            <a:ext cx="3069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[AX] MATLAB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코딩스킬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 기본</a:t>
            </a:r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77742" y="284936"/>
            <a:ext cx="1412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온라인 상시학습 </a:t>
            </a:r>
            <a:r>
              <a:rPr lang="en-US" altLang="ko-KR" sz="1000" dirty="0">
                <a:latin typeface="Arial Narrow" panose="020B0606020202030204" pitchFamily="34" charset="0"/>
              </a:rPr>
              <a:t>LETO</a:t>
            </a:r>
            <a:endParaRPr lang="ko-KR" altLang="en-US" sz="1000" dirty="0">
              <a:latin typeface="Arial Narrow" panose="020B0606020202030204" pitchFamily="34" charset="0"/>
            </a:endParaRPr>
          </a:p>
        </p:txBody>
      </p:sp>
      <p:sp>
        <p:nvSpPr>
          <p:cNvPr id="49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4F2CA80-9B29-D123-D8AF-A43D861A550F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AA668B-3323-8A17-4AE5-A2BA6CDB7410}"/>
              </a:ext>
            </a:extLst>
          </p:cNvPr>
          <p:cNvSpPr txBox="1"/>
          <p:nvPr/>
        </p:nvSpPr>
        <p:spPr>
          <a:xfrm>
            <a:off x="4746914" y="3099155"/>
            <a:ext cx="33555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MABTLAB </a:t>
            </a:r>
            <a:r>
              <a:rPr lang="ko-KR" altLang="en-US" dirty="0">
                <a:latin typeface="Arial Narrow" panose="020B0606020202030204" pitchFamily="34" charset="0"/>
              </a:rPr>
              <a:t>언어 소개 </a:t>
            </a:r>
            <a:r>
              <a:rPr lang="en-US" altLang="ko-KR" dirty="0">
                <a:latin typeface="Arial Narrow" panose="020B0606020202030204" pitchFamily="34" charset="0"/>
              </a:rPr>
              <a:t>/ </a:t>
            </a:r>
            <a:r>
              <a:rPr lang="ko-KR" altLang="en-US" dirty="0">
                <a:latin typeface="Arial Narrow" panose="020B0606020202030204" pitchFamily="34" charset="0"/>
              </a:rPr>
              <a:t>개발환경 및 이해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기본 명령어 이해 </a:t>
            </a:r>
            <a:r>
              <a:rPr lang="en-US" altLang="ko-KR" dirty="0">
                <a:latin typeface="Arial Narrow" panose="020B0606020202030204" pitchFamily="34" charset="0"/>
              </a:rPr>
              <a:t>/ </a:t>
            </a:r>
            <a:r>
              <a:rPr lang="ko-KR" altLang="en-US" dirty="0">
                <a:latin typeface="Arial Narrow" panose="020B0606020202030204" pitchFamily="34" charset="0"/>
              </a:rPr>
              <a:t>데이터 타입의 이해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문자열</a:t>
            </a:r>
            <a:r>
              <a:rPr lang="en-US" altLang="ko-KR" dirty="0">
                <a:latin typeface="Arial Narrow" panose="020B0606020202030204" pitchFamily="34" charset="0"/>
              </a:rPr>
              <a:t>(String) </a:t>
            </a:r>
            <a:r>
              <a:rPr lang="ko-KR" altLang="en-US" dirty="0">
                <a:latin typeface="Arial Narrow" panose="020B0606020202030204" pitchFamily="34" charset="0"/>
              </a:rPr>
              <a:t>이해와 응용 </a:t>
            </a:r>
            <a:r>
              <a:rPr lang="en-US" altLang="ko-KR" dirty="0">
                <a:latin typeface="Arial Narrow" panose="020B0606020202030204" pitchFamily="34" charset="0"/>
              </a:rPr>
              <a:t>/ </a:t>
            </a:r>
            <a:r>
              <a:rPr lang="ko-KR" altLang="en-US" dirty="0">
                <a:latin typeface="Arial Narrow" panose="020B0606020202030204" pitchFamily="34" charset="0"/>
              </a:rPr>
              <a:t>행렬 연산 기초 </a:t>
            </a:r>
            <a:r>
              <a:rPr lang="en-US" altLang="ko-KR" dirty="0">
                <a:latin typeface="Arial Narrow" panose="020B0606020202030204" pitchFamily="34" charset="0"/>
              </a:rPr>
              <a:t>/ </a:t>
            </a:r>
            <a:r>
              <a:rPr lang="ko-KR" altLang="en-US" dirty="0">
                <a:latin typeface="Arial Narrow" panose="020B0606020202030204" pitchFamily="34" charset="0"/>
              </a:rPr>
              <a:t>행렬 연산 응용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연산자</a:t>
            </a:r>
            <a:r>
              <a:rPr lang="en-US" altLang="ko-KR" dirty="0">
                <a:latin typeface="Arial Narrow" panose="020B0606020202030204" pitchFamily="34" charset="0"/>
              </a:rPr>
              <a:t>(Operators) </a:t>
            </a:r>
            <a:r>
              <a:rPr lang="ko-KR" altLang="en-US" dirty="0">
                <a:latin typeface="Arial Narrow" panose="020B0606020202030204" pitchFamily="34" charset="0"/>
              </a:rPr>
              <a:t>이해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dirty="0">
              <a:latin typeface="Arial Narrow" panose="020B0606020202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M-file </a:t>
            </a:r>
            <a:r>
              <a:rPr lang="ko-KR" altLang="en-US" dirty="0">
                <a:latin typeface="Arial Narrow" panose="020B0606020202030204" pitchFamily="34" charset="0"/>
              </a:rPr>
              <a:t>작성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함수</a:t>
            </a:r>
            <a:r>
              <a:rPr lang="en-US" altLang="ko-KR" dirty="0">
                <a:latin typeface="Arial Narrow" panose="020B0606020202030204" pitchFamily="34" charset="0"/>
              </a:rPr>
              <a:t>(Function) </a:t>
            </a:r>
            <a:r>
              <a:rPr lang="ko-KR" altLang="en-US" dirty="0">
                <a:latin typeface="Arial Narrow" panose="020B0606020202030204" pitchFamily="34" charset="0"/>
              </a:rPr>
              <a:t>파일 작성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명령어의 </a:t>
            </a:r>
            <a:r>
              <a:rPr lang="ko-KR" altLang="en-US" dirty="0" err="1">
                <a:latin typeface="Arial Narrow" panose="020B0606020202030204" pitchFamily="34" charset="0"/>
              </a:rPr>
              <a:t>제어문</a:t>
            </a:r>
            <a:r>
              <a:rPr lang="ko-KR" altLang="en-US" dirty="0">
                <a:latin typeface="Arial Narrow" panose="020B0606020202030204" pitchFamily="34" charset="0"/>
              </a:rPr>
              <a:t> </a:t>
            </a:r>
            <a:r>
              <a:rPr lang="en-US" altLang="ko-KR" dirty="0">
                <a:latin typeface="Arial Narrow" panose="020B0606020202030204" pitchFamily="34" charset="0"/>
              </a:rPr>
              <a:t>(IF, SWTICH, FOR, WHILE)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다차원 배열 </a:t>
            </a:r>
            <a:r>
              <a:rPr lang="en-US" altLang="ko-KR" dirty="0">
                <a:latin typeface="Arial Narrow" panose="020B0606020202030204" pitchFamily="34" charset="0"/>
              </a:rPr>
              <a:t>(Multidimensional Array) /</a:t>
            </a:r>
            <a:r>
              <a:rPr lang="ko-KR" altLang="en-US" dirty="0">
                <a:latin typeface="Arial Narrow" panose="020B0606020202030204" pitchFamily="34" charset="0"/>
              </a:rPr>
              <a:t>다차원 배열 응용 </a:t>
            </a:r>
            <a:r>
              <a:rPr lang="en-US" altLang="ko-KR" dirty="0">
                <a:latin typeface="Arial Narrow" panose="020B0606020202030204" pitchFamily="34" charset="0"/>
              </a:rPr>
              <a:t>/ </a:t>
            </a:r>
            <a:r>
              <a:rPr lang="ko-KR" altLang="en-US" dirty="0">
                <a:latin typeface="Arial Narrow" panose="020B0606020202030204" pitchFamily="34" charset="0"/>
              </a:rPr>
              <a:t>색 공간</a:t>
            </a:r>
            <a:r>
              <a:rPr lang="en-US" altLang="ko-KR" dirty="0">
                <a:latin typeface="Arial Narrow" panose="020B0606020202030204" pitchFamily="34" charset="0"/>
              </a:rPr>
              <a:t>(Color Space) </a:t>
            </a:r>
            <a:r>
              <a:rPr lang="ko-KR" altLang="en-US" dirty="0">
                <a:latin typeface="Arial Narrow" panose="020B0606020202030204" pitchFamily="34" charset="0"/>
              </a:rPr>
              <a:t>이해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dirty="0">
              <a:latin typeface="Arial Narrow" panose="020B0606020202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Point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Histogram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Area Processing (Convolution, Embossing, Blurring, Sharpening)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실제 사례를 통한 </a:t>
            </a:r>
            <a:r>
              <a:rPr lang="en-US" altLang="ko-KR" dirty="0">
                <a:latin typeface="Arial Narrow" panose="020B0606020202030204" pitchFamily="34" charset="0"/>
              </a:rPr>
              <a:t>Image Processing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52" name="순서도: 대체 처리 51">
            <a:extLst>
              <a:ext uri="{FF2B5EF4-FFF2-40B4-BE49-F238E27FC236}">
                <a16:creationId xmlns:a16="http://schemas.microsoft.com/office/drawing/2014/main" id="{C6BA61C0-0C96-2063-76F3-561804746BA8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3" name="순서도: 대체 처리 52">
            <a:extLst>
              <a:ext uri="{FF2B5EF4-FFF2-40B4-BE49-F238E27FC236}">
                <a16:creationId xmlns:a16="http://schemas.microsoft.com/office/drawing/2014/main" id="{4B8D6BF7-70F4-9A7F-8B72-5F9D2EE45786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804FDF-42D1-1CD0-9B30-865242FAF4BB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4A5ACB-371F-D5C0-7EA2-C7AA4DF0CA57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053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932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정형데이터 분석의 모든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804" y="1681359"/>
            <a:ext cx="4235959" cy="632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90488" indent="-90488">
              <a:lnSpc>
                <a:spcPct val="120000"/>
              </a:lnSpc>
              <a:defRPr sz="1000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defRPr>
            </a:lvl1pPr>
          </a:lstStyle>
          <a:p>
            <a:r>
              <a:rPr lang="en-US" altLang="ko-KR" dirty="0">
                <a:latin typeface="Arial Narrow" panose="020B0606020202030204" pitchFamily="34" charset="0"/>
              </a:rPr>
              <a:t>- </a:t>
            </a:r>
            <a:r>
              <a:rPr lang="ko-KR" altLang="en-US" dirty="0">
                <a:latin typeface="Arial Narrow" panose="020B0606020202030204" pitchFamily="34" charset="0"/>
              </a:rPr>
              <a:t>정형 데이터의 일반적인 형태와 속성</a:t>
            </a:r>
            <a:r>
              <a:rPr lang="en-US" altLang="ko-KR" dirty="0">
                <a:latin typeface="Arial Narrow" panose="020B0606020202030204" pitchFamily="34" charset="0"/>
              </a:rPr>
              <a:t>, </a:t>
            </a:r>
            <a:r>
              <a:rPr lang="ko-KR" altLang="en-US" dirty="0">
                <a:latin typeface="Arial Narrow" panose="020B0606020202030204" pitchFamily="34" charset="0"/>
              </a:rPr>
              <a:t>용도 등에 대해 이해한다</a:t>
            </a:r>
            <a:r>
              <a:rPr lang="en-US" altLang="ko-KR" dirty="0">
                <a:latin typeface="Arial Narrow" panose="020B0606020202030204" pitchFamily="34" charset="0"/>
              </a:rPr>
              <a:t>.</a:t>
            </a:r>
          </a:p>
          <a:p>
            <a:r>
              <a:rPr lang="en-US" altLang="ko-KR" dirty="0">
                <a:latin typeface="Arial Narrow" panose="020B0606020202030204" pitchFamily="34" charset="0"/>
              </a:rPr>
              <a:t>- </a:t>
            </a:r>
            <a:r>
              <a:rPr lang="ko-KR" altLang="en-US" dirty="0">
                <a:latin typeface="Arial Narrow" panose="020B0606020202030204" pitchFamily="34" charset="0"/>
              </a:rPr>
              <a:t>정형 데이터 분석 단계를 설명할 수 있다</a:t>
            </a:r>
            <a:r>
              <a:rPr lang="en-US" altLang="ko-KR" dirty="0">
                <a:latin typeface="Arial Narrow" panose="020B0606020202030204" pitchFamily="34" charset="0"/>
              </a:rPr>
              <a:t>.</a:t>
            </a:r>
          </a:p>
          <a:p>
            <a:r>
              <a:rPr lang="en-US" altLang="ko-KR" dirty="0">
                <a:latin typeface="Arial Narrow" panose="020B0606020202030204" pitchFamily="34" charset="0"/>
              </a:rPr>
              <a:t>- </a:t>
            </a:r>
            <a:r>
              <a:rPr lang="ko-KR" altLang="en-US" dirty="0">
                <a:latin typeface="Arial Narrow" panose="020B0606020202030204" pitchFamily="34" charset="0"/>
              </a:rPr>
              <a:t>정형 데이터 분석을 위한 </a:t>
            </a:r>
            <a:r>
              <a:rPr lang="ko-KR" altLang="en-US" dirty="0" err="1">
                <a:latin typeface="Arial Narrow" panose="020B0606020202030204" pitchFamily="34" charset="0"/>
              </a:rPr>
              <a:t>전처리</a:t>
            </a:r>
            <a:r>
              <a:rPr lang="en-US" altLang="ko-KR" dirty="0">
                <a:latin typeface="Arial Narrow" panose="020B0606020202030204" pitchFamily="34" charset="0"/>
              </a:rPr>
              <a:t>, EDA, </a:t>
            </a:r>
            <a:r>
              <a:rPr lang="ko-KR" altLang="en-US" dirty="0">
                <a:latin typeface="Arial Narrow" panose="020B0606020202030204" pitchFamily="34" charset="0"/>
              </a:rPr>
              <a:t>모델링 방법 기초를 학습한다</a:t>
            </a:r>
            <a:r>
              <a:rPr lang="en-US" altLang="ko-KR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888921" y="2262002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4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21" name="Group 58">
            <a:extLst>
              <a:ext uri="{FF2B5EF4-FFF2-40B4-BE49-F238E27FC236}">
                <a16:creationId xmlns:a16="http://schemas.microsoft.com/office/drawing/2014/main" id="{00A5D761-D2DF-DA1F-A0BA-90CF780C8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647495"/>
              </p:ext>
            </p:extLst>
          </p:nvPr>
        </p:nvGraphicFramePr>
        <p:xfrm>
          <a:off x="1370471" y="2812434"/>
          <a:ext cx="6732000" cy="1406718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521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431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정형데이터 분석의 모든 것</a:t>
                      </a:r>
                    </a:p>
                    <a:p>
                      <a:pPr lvl="0" algn="ctr">
                        <a:defRPr/>
                      </a:pPr>
                      <a:endParaRPr lang="ko-KR" altLang="en-US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정형 데이터의 유형과 속성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정형 데이터 분석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단계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정형 데이터 전처리와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EDA	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정형 데이터 분석 및 활용 예제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68C8FFE-60A2-3334-7CD2-7E7D413206D0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1871A19-B55B-9585-0BAC-9384B23070E1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31">
            <a:extLst>
              <a:ext uri="{FF2B5EF4-FFF2-40B4-BE49-F238E27FC236}">
                <a16:creationId xmlns:a16="http://schemas.microsoft.com/office/drawing/2014/main" id="{F75A50B1-1583-0E5C-4CC7-29518EB18013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모서리가 둥근 직사각형 32">
            <a:extLst>
              <a:ext uri="{FF2B5EF4-FFF2-40B4-BE49-F238E27FC236}">
                <a16:creationId xmlns:a16="http://schemas.microsoft.com/office/drawing/2014/main" id="{4B9F8BDB-1693-0813-0294-0EA7E52161E2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7864E1E-E74F-2D1E-38AC-2C8B17EA264F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832F942-3589-E6EB-0E21-E1C7AA7116B4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7A8D8A-866D-1E94-1DA7-BD7A1BDF55B8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56A2B0-94DF-0320-AD29-26D220197616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89750E-D1E2-1BDB-44F0-9EEFBF50B564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FEC2B0-1820-13F1-68A8-F6D925CEFC18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7AA9CCC-9EA1-191E-DF71-00FDCD5CBC5D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564D563-AFA3-F726-ACA8-6DA36F614D9A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4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4C13478-C8C0-FDFC-C1C5-C3F6A6150BBB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DE7825-AFC0-06EB-307D-8A724E4E4374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C9FC9C-6AEE-51B5-A0A6-542FBBBDB819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66D3902-AFAC-33DB-440A-B3ED76E4CC89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ED9C7-F230-F6BA-80DE-832A320F3B32}"/>
              </a:ext>
            </a:extLst>
          </p:cNvPr>
          <p:cNvSpPr txBox="1"/>
          <p:nvPr/>
        </p:nvSpPr>
        <p:spPr>
          <a:xfrm>
            <a:off x="3556653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B90D84FD-DFF5-C046-0593-BE65C570BCB3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0751E051-02C9-0AF6-3655-77291E4C6A95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99A01-0EB3-2AB6-5902-5E21BEEAE13B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5943F2-85FE-0C77-E7E2-B3F36D0BD15C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73688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382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R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비즈니스 분석 기초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804" y="1652485"/>
            <a:ext cx="4235959" cy="816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R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프로그래밍을 위한 환경 구축 및 사용법을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R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프로그래밍에 사용되는 데이터 유형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기본 함수를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R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프로그래밍을 위한 데이터 변환 및 가공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시각화를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데이터 분석 기법을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R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프로그래밍 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888921" y="2262002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15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21" name="Group 58">
            <a:extLst>
              <a:ext uri="{FF2B5EF4-FFF2-40B4-BE49-F238E27FC236}">
                <a16:creationId xmlns:a16="http://schemas.microsoft.com/office/drawing/2014/main" id="{00A5D761-D2DF-DA1F-A0BA-90CF780C8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60520"/>
              </p:ext>
            </p:extLst>
          </p:nvPr>
        </p:nvGraphicFramePr>
        <p:xfrm>
          <a:off x="1370471" y="2812434"/>
          <a:ext cx="6732000" cy="2548838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55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비즈니스 분석 기초</a:t>
                      </a:r>
                    </a:p>
                    <a:p>
                      <a:pPr lvl="0" algn="ctr">
                        <a:defRPr/>
                      </a:pPr>
                      <a:endParaRPr lang="ko-KR" altLang="en-US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시작하기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기본 사용 방법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타입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기본 함수 다루기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전처리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단일 변수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다중 변수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기본 함수 다루기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데이터테이블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/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분할표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디버깅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수치 분석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시각화 기법 및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ggplot2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시각화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(ggplot2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그래프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ggplot2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심화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지도상에 데이터 표현하기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분류 및 군집화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회귀 분석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의사 결정 트리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랜덤 포레스트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베이지안 해석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68C8FFE-60A2-3334-7CD2-7E7D413206D0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1871A19-B55B-9585-0BAC-9384B23070E1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31">
            <a:extLst>
              <a:ext uri="{FF2B5EF4-FFF2-40B4-BE49-F238E27FC236}">
                <a16:creationId xmlns:a16="http://schemas.microsoft.com/office/drawing/2014/main" id="{F75A50B1-1583-0E5C-4CC7-29518EB18013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모서리가 둥근 직사각형 32">
            <a:extLst>
              <a:ext uri="{FF2B5EF4-FFF2-40B4-BE49-F238E27FC236}">
                <a16:creationId xmlns:a16="http://schemas.microsoft.com/office/drawing/2014/main" id="{4B9F8BDB-1693-0813-0294-0EA7E52161E2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7864E1E-E74F-2D1E-38AC-2C8B17EA264F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832F942-3589-E6EB-0E21-E1C7AA7116B4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7A8D8A-866D-1E94-1DA7-BD7A1BDF55B8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56A2B0-94DF-0320-AD29-26D220197616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89750E-D1E2-1BDB-44F0-9EEFBF50B564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FEC2B0-1820-13F1-68A8-F6D925CEFC18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7AA9CCC-9EA1-191E-DF71-00FDCD5CBC5D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564D563-AFA3-F726-ACA8-6DA36F614D9A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4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4C13478-C8C0-FDFC-C1C5-C3F6A6150BBB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DE7825-AFC0-06EB-307D-8A724E4E4374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C9FC9C-6AEE-51B5-A0A6-542FBBBDB819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66D3902-AFAC-33DB-440A-B3ED76E4CC89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F88B4-0A1F-3781-07EA-CEA1AC4DB2CF}"/>
              </a:ext>
            </a:extLst>
          </p:cNvPr>
          <p:cNvSpPr txBox="1"/>
          <p:nvPr/>
        </p:nvSpPr>
        <p:spPr>
          <a:xfrm>
            <a:off x="3027262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21280DC4-B806-1189-07A6-8A38185EA335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F0793F02-17D0-F090-E959-BCC949BF9647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2C351F-3DBD-397F-D34F-E5515C511515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C4935-05D6-7015-D1F9-4DB3A34FEF38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12A3F-3271-7365-FADD-9587F48ACF1B}"/>
              </a:ext>
            </a:extLst>
          </p:cNvPr>
          <p:cNvSpPr txBox="1"/>
          <p:nvPr/>
        </p:nvSpPr>
        <p:spPr>
          <a:xfrm>
            <a:off x="5502831" y="4969706"/>
            <a:ext cx="2588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 dirty="0">
                <a:latin typeface="Arial Narrow" panose="020B0606020202030204" pitchFamily="34" charset="0"/>
              </a:rPr>
              <a:t>* Smart HRD </a:t>
            </a:r>
            <a:r>
              <a:rPr lang="ko-KR" altLang="en-US" sz="1000" dirty="0">
                <a:latin typeface="Arial Narrow" panose="020B0606020202030204" pitchFamily="34" charset="0"/>
              </a:rPr>
              <a:t>에서도</a:t>
            </a:r>
            <a:r>
              <a:rPr lang="en-US" altLang="ko-KR" sz="1000" dirty="0">
                <a:latin typeface="Arial Narrow" panose="020B0606020202030204" pitchFamily="34" charset="0"/>
              </a:rPr>
              <a:t> ‘[AX] R </a:t>
            </a:r>
            <a:r>
              <a:rPr lang="ko-KR" altLang="en-US" sz="1000" dirty="0">
                <a:latin typeface="Arial Narrow" panose="020B0606020202030204" pitchFamily="34" charset="0"/>
              </a:rPr>
              <a:t>프로그래밍 자율 학습 컨텐츠</a:t>
            </a:r>
            <a:r>
              <a:rPr lang="en-US" altLang="ko-KR" sz="1000" dirty="0">
                <a:latin typeface="Arial Narrow" panose="020B0606020202030204" pitchFamily="34" charset="0"/>
              </a:rPr>
              <a:t>’ </a:t>
            </a:r>
            <a:br>
              <a:rPr lang="en-US" altLang="ko-KR" sz="1000" dirty="0">
                <a:latin typeface="Arial Narrow" panose="020B0606020202030204" pitchFamily="34" charset="0"/>
              </a:rPr>
            </a:br>
            <a:r>
              <a:rPr lang="en-US" altLang="ko-KR" sz="1000" dirty="0">
                <a:latin typeface="Arial Narrow" panose="020B0606020202030204" pitchFamily="34" charset="0"/>
              </a:rPr>
              <a:t>    LETO</a:t>
            </a:r>
            <a:r>
              <a:rPr lang="ko-KR" altLang="en-US" sz="1000" dirty="0">
                <a:latin typeface="Arial Narrow" panose="020B0606020202030204" pitchFamily="34" charset="0"/>
              </a:rPr>
              <a:t> 검색하여 </a:t>
            </a:r>
            <a:r>
              <a:rPr lang="en-US" altLang="ko-KR" sz="1000" dirty="0">
                <a:latin typeface="Arial Narrow" panose="020B0606020202030204" pitchFamily="34" charset="0"/>
              </a:rPr>
              <a:t>R </a:t>
            </a:r>
            <a:r>
              <a:rPr lang="ko-KR" altLang="en-US" sz="1000" dirty="0">
                <a:latin typeface="Arial Narrow" panose="020B0606020202030204" pitchFamily="34" charset="0"/>
              </a:rPr>
              <a:t>프로그래밍 기초 학습 가능함</a:t>
            </a:r>
            <a:r>
              <a:rPr lang="en-US" altLang="ko-KR" sz="10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7637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실행 단추: 홈 68">
            <a:hlinkClick r:id="rId2" action="ppaction://hlinksldjump" highlightClick="1"/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66900" y="230475"/>
            <a:ext cx="4320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[K-MOOC]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빅데이터의 세계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원리와 응용</a:t>
            </a:r>
            <a:endParaRPr lang="en-US" altLang="ko-KR" b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4" name="직선 연결선 73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79" name="직선 연결선 78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63365" y="530472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81" name="직선 연결선 80"/>
          <p:cNvCxnSpPr/>
          <p:nvPr/>
        </p:nvCxnSpPr>
        <p:spPr>
          <a:xfrm>
            <a:off x="1199555" y="546716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그룹 81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83" name="그림 8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85" name="그림 8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86" name="TextBox 85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196454" y="1785823"/>
              <a:ext cx="542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31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사무직</a:t>
              </a:r>
            </a:p>
          </p:txBody>
        </p:sp>
        <p:pic>
          <p:nvPicPr>
            <p:cNvPr id="97" name="그림 96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이화여자대학교 신경식 교수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101" name="직선 연결선 100"/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101"/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329386" y="606807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1774064" y="6029364"/>
            <a:ext cx="2954370" cy="7848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K-MOOC</a:t>
            </a:r>
            <a:r>
              <a:rPr lang="ko-KR" altLang="en-US" dirty="0">
                <a:ea typeface="LG스마트체2.0 Regular" panose="020B0600000101010101" pitchFamily="50" charset="-127"/>
              </a:rPr>
              <a:t> 사외 무료 이러닝으로 </a:t>
            </a:r>
            <a:r>
              <a:rPr lang="en-US" altLang="ko-KR" dirty="0">
                <a:ea typeface="LG스마트체2.0 Regular" panose="020B0600000101010101" pitchFamily="50" charset="-127"/>
                <a:hlinkClick r:id="rId6"/>
              </a:rPr>
              <a:t>https://www.kmooc.kr/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로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접속하여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회원가입하여 수강해야 하는 과정임</a:t>
            </a:r>
            <a:r>
              <a:rPr lang="en-US" altLang="ko-KR" dirty="0">
                <a:ea typeface="LG스마트체2.0 Regular" panose="020B0600000101010101" pitchFamily="50" charset="-127"/>
              </a:rPr>
              <a:t>.(</a:t>
            </a:r>
            <a:r>
              <a:rPr lang="ko-KR" altLang="en-US" dirty="0">
                <a:ea typeface="LG스마트체2.0 Regular" panose="020B0600000101010101" pitchFamily="50" charset="-127"/>
              </a:rPr>
              <a:t>사내 과정 아님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</a:p>
          <a:p>
            <a:r>
              <a:rPr lang="ko-KR" altLang="en-US" dirty="0">
                <a:ea typeface="LG스마트체2.0 Regular" panose="020B0600000101010101" pitchFamily="50" charset="-127"/>
              </a:rPr>
              <a:t>신경식 교수는 지주사 경영진 대상 빅데이터를 주제로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특강을 진행한 경험이 있는 빅데이터 전문가임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5342136" y="6015832"/>
            <a:ext cx="34185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최근 빅데이터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인공지능에 대한 관심도가 높아지는 상황에서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 입문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 단계의 구성원에게 적합한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교육임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→ 본 과정 수강 후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 분석을 통해 해결 필요한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현업 문제를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발굴할 수 있는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인사이트를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얻고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나아가 사내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 조직과 협업하여 해결방안 도출할 수 있도록 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111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798167"/>
              </p:ext>
            </p:extLst>
          </p:nvPr>
        </p:nvGraphicFramePr>
        <p:xfrm>
          <a:off x="1370471" y="2812434"/>
          <a:ext cx="6732000" cy="2602248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82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74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빅데이터의 세계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원리와 응용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 데이터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(Big Data)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란 무엇인가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?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 활용전략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빅데이터의 수집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저장 및 처리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분석이란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?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군집화 방법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연관규칙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도출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회귀분석과 예측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중간고사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(Mid-Term)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기계학습과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인공신경망</a:t>
                      </a:r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기계학습과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의사결정나무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텍스트 분석 기법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전처리와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키워드 분석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텍스트 분석 기법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군집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토픽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감성 분석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13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시각화의 미래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14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빅데이터의 미래</a:t>
                      </a:r>
                    </a:p>
                    <a:p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15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기말고사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(Final exam)</a:t>
                      </a:r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직사각형 112"/>
          <p:cNvSpPr/>
          <p:nvPr/>
        </p:nvSpPr>
        <p:spPr>
          <a:xfrm>
            <a:off x="5031508" y="1596174"/>
            <a:ext cx="4542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 데이터의 정의와 특징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최신 동향 및 전략적 활용방안에 대해 이해하고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  <a:b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 데이터 분석 및 활용을 위한 기반 기술 및 데이터 분석 방법론을 학습함으로써</a:t>
            </a:r>
            <a:endParaRPr lang="en-US" altLang="ko-KR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실제 문제와 데이터에 기반한 실습을 통해 핵심 방법론에 대한 이해를 제고하고 </a:t>
            </a:r>
            <a:b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현업에서 빅데이터 분석을 통한 문제를 발굴할 수 있는 능력을 배양함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095332" y="5579615"/>
            <a:ext cx="472189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링크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 : https://www.kmooc.kr/view/course/detail/11557?tm=20240320134011</a:t>
            </a:r>
            <a:endParaRPr lang="ko-KR" altLang="en-US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932795" y="286867"/>
            <a:ext cx="2688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900" dirty="0"/>
              <a:t>* </a:t>
            </a:r>
            <a:r>
              <a:rPr lang="ko-KR" altLang="en-US" sz="900" dirty="0"/>
              <a:t>사외 이러닝</a:t>
            </a:r>
            <a:r>
              <a:rPr lang="en-US" altLang="ko-KR" sz="900" dirty="0"/>
              <a:t>(</a:t>
            </a:r>
            <a:r>
              <a:rPr lang="ko-KR" altLang="en-US" sz="900" dirty="0"/>
              <a:t>무료</a:t>
            </a:r>
            <a:r>
              <a:rPr lang="en-US" altLang="ko-KR" sz="900" dirty="0"/>
              <a:t>)</a:t>
            </a:r>
            <a:r>
              <a:rPr lang="ko-KR" altLang="en-US" sz="900" dirty="0"/>
              <a:t>이며</a:t>
            </a:r>
            <a:r>
              <a:rPr lang="en-US" altLang="ko-KR" sz="900" dirty="0"/>
              <a:t>, </a:t>
            </a:r>
            <a:r>
              <a:rPr lang="ko-KR" altLang="en-US" sz="900" dirty="0"/>
              <a:t>교육이력등록 및 </a:t>
            </a:r>
            <a:r>
              <a:rPr lang="en-US" altLang="ko-KR" sz="900" dirty="0"/>
              <a:t>IDP </a:t>
            </a:r>
            <a:r>
              <a:rPr lang="ko-KR" altLang="en-US" sz="900" dirty="0"/>
              <a:t>등록을 </a:t>
            </a:r>
            <a:br>
              <a:rPr lang="en-US" altLang="ko-KR" sz="900" dirty="0"/>
            </a:br>
            <a:r>
              <a:rPr lang="en-US" altLang="ko-KR" sz="900" dirty="0"/>
              <a:t>  </a:t>
            </a:r>
            <a:r>
              <a:rPr lang="ko-KR" altLang="en-US" sz="900" dirty="0"/>
              <a:t>위해선</a:t>
            </a:r>
            <a:r>
              <a:rPr lang="en-US" altLang="ko-KR" sz="900" dirty="0"/>
              <a:t> </a:t>
            </a:r>
            <a:r>
              <a:rPr lang="ko-KR" altLang="en-US" sz="900" dirty="0"/>
              <a:t>유첨 참가 </a:t>
            </a:r>
            <a:r>
              <a:rPr lang="en-US" altLang="ko-KR" sz="900" dirty="0"/>
              <a:t>Process </a:t>
            </a:r>
            <a:r>
              <a:rPr lang="ko-KR" altLang="en-US" sz="900" dirty="0"/>
              <a:t>참고바랍니다</a:t>
            </a:r>
            <a:r>
              <a:rPr lang="en-US" altLang="ko-KR" sz="900" dirty="0"/>
              <a:t>. </a:t>
            </a:r>
            <a:endParaRPr lang="ko-KR" altLang="en-US" sz="900" dirty="0"/>
          </a:p>
        </p:txBody>
      </p:sp>
      <p:sp>
        <p:nvSpPr>
          <p:cNvPr id="2" name="실행 단추: 앞으로 또는 다음 5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2EB5B2C-1B07-B0A3-043E-D7053CA7A197}"/>
              </a:ext>
            </a:extLst>
          </p:cNvPr>
          <p:cNvSpPr/>
          <p:nvPr/>
        </p:nvSpPr>
        <p:spPr>
          <a:xfrm>
            <a:off x="6991873" y="498513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CED298CC-ED6C-9769-389B-1554838CA08B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C355C348-4767-CBBE-BEFE-29AAB9A4D50E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4800B-8ADF-66A0-FBCD-5E96EC6A6753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D3039-E4B7-54F4-73D9-E88B7318B899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2943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13420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</a:t>
            </a:r>
            <a:r>
              <a:rPr kumimoji="0" lang="en-US" altLang="ko-KR" sz="2000" b="1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PJT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81866" y="1747802"/>
            <a:ext cx="4550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lnSpc>
                <a:spcPct val="120000"/>
              </a:lnSpc>
              <a:defRPr/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Python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의 구조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환경에 대한 이해를 바탕으로 기초적인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Coding Skill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을 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  <a:p>
            <a:pPr marL="90488" indent="-90488">
              <a:lnSpc>
                <a:spcPct val="120000"/>
              </a:lnSpc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습득하고 활용할 수 있다</a:t>
            </a: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  </a:t>
            </a:r>
            <a:r>
              <a:rPr kumimoji="1"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* </a:t>
            </a:r>
            <a:r>
              <a:rPr kumimoji="1"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입문 수준의 내용이 아닌 점 사전 참고 바랍니다</a:t>
            </a:r>
            <a:r>
              <a:rPr kumimoji="1"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  <a:endParaRPr lang="en-US" altLang="ko-KR" sz="1000" b="1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244573"/>
              </p:ext>
            </p:extLst>
          </p:nvPr>
        </p:nvGraphicFramePr>
        <p:xfrm>
          <a:off x="1370471" y="2812434"/>
          <a:ext cx="6732000" cy="2815434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5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Python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기초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(4hr)</a:t>
                      </a:r>
                    </a:p>
                  </a:txBody>
                  <a:tcPr marL="2765" marR="276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파이썬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기초 문법에 대한 복습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파이썬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기초 문법 응용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간단한 알고리즘 문제 해결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파이썬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유용한 기법들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780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람다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표현식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780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정규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표현식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Python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Coding 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기초 연습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(6hr)</a:t>
                      </a:r>
                    </a:p>
                  </a:txBody>
                  <a:tcPr marL="2765" marR="276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Numpy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패키지 기초 및 연습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780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배열 연산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Pandas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패키지 기초 및 연습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780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전처리 방법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780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시각화 라이브러리 사용법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Python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Coding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응용 실습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(6hr)</a:t>
                      </a:r>
                    </a:p>
                  </a:txBody>
                  <a:tcPr marL="2765" marR="276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데이터 전처리 및 분석 실습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780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결측치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처리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780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기초통계량 계산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간단한 머신 러닝 실습</a:t>
                      </a: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그림 58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16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</a:p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Virtual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1785376" y="6092467"/>
            <a:ext cx="28363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본 과정은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 기초지식이 있는 분을 대상으로 운영되며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입문자는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학습진도를 따라가기 어려우므로 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사전 학습을 충분히 하신 후 참가해 주시기 바랍니다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346895" y="6112738"/>
            <a:ext cx="28363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ctr" latinLnBrk="1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기초지식을 바탕으로 기본적인 </a:t>
            </a:r>
            <a:r>
              <a:rPr lang="en-US" altLang="ko-KR" sz="9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Numpy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/Pandas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 및 데이터 전처리 실습을 진행하는 </a:t>
            </a:r>
            <a:b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내용으로 구성됨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900" dirty="0">
              <a:solidFill>
                <a:srgbClr val="0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B573834-83AE-D9BB-A78C-4ED39A5664A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7F786C35-1EBD-0376-C367-54FBFCB536CF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48AAC4C5-7538-1F35-3ECC-D669D0F57261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904CA-8D45-6291-CDBC-470D831E6798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68624-A5DB-2776-E891-DE331E7B57F3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7666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5559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으로 배우는 </a:t>
            </a:r>
            <a:r>
              <a:rPr lang="ko-KR" altLang="en-US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머신러닝과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데이터 분석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(2024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53804" y="1623609"/>
            <a:ext cx="4235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파이썬 프로그램의 기본 구조와 문법을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 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파이썬을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이용하여 데이터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전처리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및 시각화를 수행할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 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파이썬을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이용하여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머신러닝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모델 및 통계 분석을 수행할 수 있다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14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21" name="Group 58">
            <a:extLst>
              <a:ext uri="{FF2B5EF4-FFF2-40B4-BE49-F238E27FC236}">
                <a16:creationId xmlns:a16="http://schemas.microsoft.com/office/drawing/2014/main" id="{00A5D761-D2DF-DA1F-A0BA-90CF780C8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42060"/>
              </p:ext>
            </p:extLst>
          </p:nvPr>
        </p:nvGraphicFramePr>
        <p:xfrm>
          <a:off x="1370471" y="2812434"/>
          <a:ext cx="6732000" cy="2294361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09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Python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으로 배우는 </a:t>
                      </a:r>
                      <a:r>
                        <a:rPr kumimoji="1" lang="ko-KR" altLang="en-US" sz="1000" kern="0" dirty="0" err="1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머신러닝과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데이터 분석 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(2024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년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endParaRPr lang="ko-KR" altLang="en-US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분석과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Python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개발환경 설정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탐색적 데이터 분석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1~4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전처리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머신러닝의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회귀 및 분류모델 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지도학습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모델링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분류모델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지도학습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모델링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회귀모델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모델 오류 및 운영환경 적용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68C8FFE-60A2-3334-7CD2-7E7D413206D0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1871A19-B55B-9585-0BAC-9384B23070E1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31">
            <a:extLst>
              <a:ext uri="{FF2B5EF4-FFF2-40B4-BE49-F238E27FC236}">
                <a16:creationId xmlns:a16="http://schemas.microsoft.com/office/drawing/2014/main" id="{F75A50B1-1583-0E5C-4CC7-29518EB18013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모서리가 둥근 직사각형 32">
            <a:extLst>
              <a:ext uri="{FF2B5EF4-FFF2-40B4-BE49-F238E27FC236}">
                <a16:creationId xmlns:a16="http://schemas.microsoft.com/office/drawing/2014/main" id="{4B9F8BDB-1693-0813-0294-0EA7E52161E2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7864E1E-E74F-2D1E-38AC-2C8B17EA264F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832F942-3589-E6EB-0E21-E1C7AA7116B4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7A8D8A-866D-1E94-1DA7-BD7A1BDF55B8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56A2B0-94DF-0320-AD29-26D220197616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89750E-D1E2-1BDB-44F0-9EEFBF50B564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FEC2B0-1820-13F1-68A8-F6D925CEFC18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7AA9CCC-9EA1-191E-DF71-00FDCD5CBC5D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564D563-AFA3-F726-ACA8-6DA36F614D9A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4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4C13478-C8C0-FDFC-C1C5-C3F6A6150BBB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DE7825-AFC0-06EB-307D-8A724E4E4374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C9FC9C-6AEE-51B5-A0A6-542FBBBDB819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66D3902-AFAC-33DB-440A-B3ED76E4CC89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FA5342-0CE1-A63F-B1DF-66ECC4B28F39}"/>
              </a:ext>
            </a:extLst>
          </p:cNvPr>
          <p:cNvSpPr txBox="1"/>
          <p:nvPr/>
        </p:nvSpPr>
        <p:spPr>
          <a:xfrm>
            <a:off x="6109809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74" name="순서도: 대체 처리 73">
            <a:extLst>
              <a:ext uri="{FF2B5EF4-FFF2-40B4-BE49-F238E27FC236}">
                <a16:creationId xmlns:a16="http://schemas.microsoft.com/office/drawing/2014/main" id="{6CE4124F-3CD3-69E0-71C1-0387F2A9BF35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순서도: 대체 처리 74">
            <a:extLst>
              <a:ext uri="{FF2B5EF4-FFF2-40B4-BE49-F238E27FC236}">
                <a16:creationId xmlns:a16="http://schemas.microsoft.com/office/drawing/2014/main" id="{24A0F0A8-8700-7454-D4D4-267ED3A87D85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630E202-7C98-BB0E-6E22-49928E7C6CD1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6775BA-8C75-3BEE-5BA3-42755E5595EC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4874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948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Numpy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활용한 데이터처리 및 연산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804" y="1572343"/>
            <a:ext cx="4378986" cy="1002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의 필수 데이터분석 라이브러리인 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NumPy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의 활용법을 학습함으로써</a:t>
            </a:r>
            <a:endParaRPr lang="en-US" altLang="ko-KR" sz="1000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 분석에 필요한 기술 역량을 키운다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• NumPy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의 기본 사용법과 활용법에 대해 설명할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• NumPy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활용하여 수치계산 및 데이터를 분석할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• NumPy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이용하여 데이터를 </a:t>
            </a:r>
            <a:r>
              <a:rPr lang="ko-KR" altLang="en-US" sz="1000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입출력할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888921" y="22612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10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22" name="Group 58">
            <a:extLst>
              <a:ext uri="{FF2B5EF4-FFF2-40B4-BE49-F238E27FC236}">
                <a16:creationId xmlns:a16="http://schemas.microsoft.com/office/drawing/2014/main" id="{85C68AB5-7993-BA94-297A-4EFD3C290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453514"/>
              </p:ext>
            </p:extLst>
          </p:nvPr>
        </p:nvGraphicFramePr>
        <p:xfrm>
          <a:off x="1370471" y="2812434"/>
          <a:ext cx="6732000" cy="2294361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09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Numpy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를 활용한 </a:t>
                      </a:r>
                      <a:b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데이터처리 및 연산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분석 실습 준비하기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NumPy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기본 익히기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다차원 배열 생성하기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배열 가공하기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배열 원소 빠르게 처리하기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배열을 사용한 데이터 처리하기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배열을 사용한 데이터 통계 처리하기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행렬과 벡터 익히기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행렬과 벡터 활용하기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NumPy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활용하기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7754EA9-2493-7B96-6585-8FC6D715920A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4E4B88B-89A1-E329-0C2C-A920527D3BB2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31">
            <a:extLst>
              <a:ext uri="{FF2B5EF4-FFF2-40B4-BE49-F238E27FC236}">
                <a16:creationId xmlns:a16="http://schemas.microsoft.com/office/drawing/2014/main" id="{9612AACB-6492-6F24-6988-695E033D1EF5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모서리가 둥근 직사각형 32">
            <a:extLst>
              <a:ext uri="{FF2B5EF4-FFF2-40B4-BE49-F238E27FC236}">
                <a16:creationId xmlns:a16="http://schemas.microsoft.com/office/drawing/2014/main" id="{0EE1C6A0-A8EA-838D-A15F-EA248D3425BD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DC13D27-9DA2-1F70-0B8D-3DD994A2ABB1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C9F8877-3F75-CF88-EDDB-AD7C4FBA2984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FADDB7-E5FB-FD5D-DD9C-4244DD1B6F76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8A224C-A11B-DABD-7302-7BD17305F131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65ABC5-CC61-2A61-3511-B8C3BFF9B3FD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F75FCE-3922-9D0D-C788-FBE7320C612B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951DA6A-8F35-010D-C929-CD51D1E03CA2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C1DA0CE-0DD5-0B23-B9CF-EB8449D7FF5E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70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419BDC1-FCE5-6BF0-8EE4-4C0225AD75C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1EDDEA-B16C-25DE-2B11-16BE69890B07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7F024A-71BE-06CE-FB78-B636702DC73E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4CBD385-6273-C2F9-278C-3FD28F556C39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74EA08-EAE1-47B8-1F84-0F05C0999B5A}"/>
              </a:ext>
            </a:extLst>
          </p:cNvPr>
          <p:cNvSpPr txBox="1"/>
          <p:nvPr/>
        </p:nvSpPr>
        <p:spPr>
          <a:xfrm>
            <a:off x="4700294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77" name="순서도: 대체 처리 76">
            <a:extLst>
              <a:ext uri="{FF2B5EF4-FFF2-40B4-BE49-F238E27FC236}">
                <a16:creationId xmlns:a16="http://schemas.microsoft.com/office/drawing/2014/main" id="{98E86B84-0653-7AC3-47D3-024DC4D10038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순서도: 대체 처리 78">
            <a:extLst>
              <a:ext uri="{FF2B5EF4-FFF2-40B4-BE49-F238E27FC236}">
                <a16:creationId xmlns:a16="http://schemas.microsoft.com/office/drawing/2014/main" id="{BD0FD808-8896-6599-041D-4A22992414AF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C6714E1-18D6-B789-1882-5BF3AB5DBE98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92A9BC-B2DE-784B-98BB-9583152F3402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6895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996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Pandas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활용한 데이터처리 및 연산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53804" y="1539290"/>
            <a:ext cx="4308857" cy="1002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Python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의 필수 데이터분석 라이브러리인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Pandas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의 활용법을 학습함으로써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데이터 분석에 필요한 기술 역량을 키운다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Pandas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의 기본 사용법과 활용법에 대해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수집 데이터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전처리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Pandas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를 활용하여 데이터를 분석할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Pandas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를 이용하여 데이터를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입출력할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  <a:endParaRPr lang="en-US" altLang="ko-KR" sz="1000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그림 57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10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9" name="Group 58">
            <a:extLst>
              <a:ext uri="{FF2B5EF4-FFF2-40B4-BE49-F238E27FC236}">
                <a16:creationId xmlns:a16="http://schemas.microsoft.com/office/drawing/2014/main" id="{566E8F89-06A6-0D16-497D-3128C7B32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161957"/>
              </p:ext>
            </p:extLst>
          </p:nvPr>
        </p:nvGraphicFramePr>
        <p:xfrm>
          <a:off x="1370471" y="2812434"/>
          <a:ext cx="6732000" cy="2294361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09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Pandas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를 활용한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데이터처리 및 연산</a:t>
                      </a:r>
                    </a:p>
                    <a:p>
                      <a:pPr lvl="0" algn="ctr">
                        <a:defRPr/>
                      </a:pPr>
                      <a:endParaRPr lang="ko-KR" altLang="en-US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분석 실습 준비하기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Pandas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자료구조 익히기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DataFrame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익히기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통계함수 익히기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Pandas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인덱스 익히기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산술 및 그룹 연산하기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사용자 함수 정의 및 매핑하기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전처리하기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입출력하기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Pandas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를 이용하여 데이터 분석하기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F8F6719-3F91-52CD-D75E-412D6AB0D8D5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9375BBA-9DC5-C95B-0C15-D1D9E5907ED3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31">
            <a:extLst>
              <a:ext uri="{FF2B5EF4-FFF2-40B4-BE49-F238E27FC236}">
                <a16:creationId xmlns:a16="http://schemas.microsoft.com/office/drawing/2014/main" id="{720A2CD9-D9F8-C6EA-EDBB-E886C531DACB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모서리가 둥근 직사각형 32">
            <a:extLst>
              <a:ext uri="{FF2B5EF4-FFF2-40B4-BE49-F238E27FC236}">
                <a16:creationId xmlns:a16="http://schemas.microsoft.com/office/drawing/2014/main" id="{10D7EDAC-A94B-85BC-7330-B73CA00E4CE6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77AC84C-8D71-4D23-67D4-29ED0C34F662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1ED46EC-FBBD-20D5-969B-CB51833C623F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7711E0-27C6-7E77-5285-8BDFFF43F933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07D497-89D7-1485-E980-D8620D63711A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30536-D3D7-8128-0323-A2D005C37962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57284-0C60-B389-2B81-402F31788977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E07D0F8-3476-1C71-B9BC-5669AC874ECD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3CDBD8B-3CDD-83C9-C29E-5D15FACED1BA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41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84872DE-CF67-A187-8FCB-4824969E0D70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B8FF82-AC2B-6DCD-CA18-87356ECF63D6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6F735D-2684-558E-C2B9-1454191323DA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D2F8BFD-ADDF-77F0-A697-64B29EC1619C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D27A06-5CD0-F99F-5AA6-A4483BFF3E3C}"/>
              </a:ext>
            </a:extLst>
          </p:cNvPr>
          <p:cNvSpPr txBox="1"/>
          <p:nvPr/>
        </p:nvSpPr>
        <p:spPr>
          <a:xfrm>
            <a:off x="4690669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74" name="순서도: 대체 처리 73">
            <a:extLst>
              <a:ext uri="{FF2B5EF4-FFF2-40B4-BE49-F238E27FC236}">
                <a16:creationId xmlns:a16="http://schemas.microsoft.com/office/drawing/2014/main" id="{BA480FD1-2929-6062-72B7-81230B146F6B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순서도: 대체 처리 74">
            <a:extLst>
              <a:ext uri="{FF2B5EF4-FFF2-40B4-BE49-F238E27FC236}">
                <a16:creationId xmlns:a16="http://schemas.microsoft.com/office/drawing/2014/main" id="{031F530F-8ECA-6D7C-7894-1CDB2F754FF7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EB19BF-A419-5EB7-79A0-18F12942DB77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085557-95D7-8BEC-D9AE-5C760FE6355A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5910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5581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Matplotlib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Seaborn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을 활용한 빅데이터 시각화 실무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53804" y="1662057"/>
            <a:ext cx="4476080" cy="632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프로그래밍을 통해서 데이터 시각화를 수행할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Matplotlib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라이브러리를 이용해서 다양한 데이터 시각화를 수행할 수 있다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Seaborn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라이브러리를 이용해서 다양한 데이터 시각화를 수행할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그림 57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18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29AE6CA0-70FB-8E86-EE8D-088D30D350CB}"/>
              </a:ext>
            </a:extLst>
          </p:cNvPr>
          <p:cNvSpPr/>
          <p:nvPr/>
        </p:nvSpPr>
        <p:spPr>
          <a:xfrm>
            <a:off x="824431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EF0030D6-ACE4-FC9E-4B4C-9130C1674D29}"/>
              </a:ext>
            </a:extLst>
          </p:cNvPr>
          <p:cNvSpPr/>
          <p:nvPr/>
        </p:nvSpPr>
        <p:spPr>
          <a:xfrm>
            <a:off x="824431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04446-7E21-7FE4-C20F-46488999F9CE}"/>
              </a:ext>
            </a:extLst>
          </p:cNvPr>
          <p:cNvSpPr txBox="1"/>
          <p:nvPr/>
        </p:nvSpPr>
        <p:spPr>
          <a:xfrm>
            <a:off x="869272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BE2CC-2579-19B9-8F4C-29058E4ACA3E}"/>
              </a:ext>
            </a:extLst>
          </p:cNvPr>
          <p:cNvSpPr txBox="1"/>
          <p:nvPr/>
        </p:nvSpPr>
        <p:spPr>
          <a:xfrm>
            <a:off x="8698473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기초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9" name="Group 58">
            <a:extLst>
              <a:ext uri="{FF2B5EF4-FFF2-40B4-BE49-F238E27FC236}">
                <a16:creationId xmlns:a16="http://schemas.microsoft.com/office/drawing/2014/main" id="{106F55F8-7754-A84C-BBF8-8787C31E8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631160"/>
              </p:ext>
            </p:extLst>
          </p:nvPr>
        </p:nvGraphicFramePr>
        <p:xfrm>
          <a:off x="1370471" y="2812434"/>
          <a:ext cx="6732000" cy="2459686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42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kumimoji="1" lang="ko-KR" altLang="en-US" sz="1000" kern="0" dirty="0" err="1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수학 </a:t>
                      </a:r>
                      <a:endParaRPr kumimoji="1" lang="en-US" altLang="ko-KR" sz="1000" kern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선형대수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확률통계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파이썬 기본 문법 및 자료 구조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NumPy &amp; SciPy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판다스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(Pandas)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Matplotlib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그래프 그리기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차트 그리기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Matplotlib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컬러 사용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주석 사용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그림 사용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결과 출력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Seaborn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Seaborn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그래프 그리기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범주형 다차원 데이터 시각화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수치형 다차원 데이터 시각화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다양한 데이터 시각화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공공 데이터 시각화 프로젝트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기업 데이터 시각화 프로젝트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A2D2B2F-2F84-BAB8-0846-241ECD2434FF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1EFD759-1CA8-A064-1AC5-4D0D4170DA4F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31">
            <a:extLst>
              <a:ext uri="{FF2B5EF4-FFF2-40B4-BE49-F238E27FC236}">
                <a16:creationId xmlns:a16="http://schemas.microsoft.com/office/drawing/2014/main" id="{6AA50894-3974-231C-4F32-19B5453C3846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4" name="모서리가 둥근 직사각형 32">
            <a:extLst>
              <a:ext uri="{FF2B5EF4-FFF2-40B4-BE49-F238E27FC236}">
                <a16:creationId xmlns:a16="http://schemas.microsoft.com/office/drawing/2014/main" id="{324F61D6-7D0D-19EA-8215-2CD299F2B8D9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8E86616-41F1-79E4-4518-C9DAF1775350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A31E8EE-CA18-F4B4-4A4B-D5DCBE9318AE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129E07-0FF5-D845-BF4C-5E7A71AF6AF9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9102BF-7E5F-F139-91E4-A45B54D72045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A825D7-F05A-BA50-5D77-38BCFE58227C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16F7CF-B232-B5F7-60F3-B36C36B4D81F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D633454-47A9-8FF2-94F2-3D3DC87E343B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F4C5DF7-D956-5F44-1364-F24177BDD315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23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44C0E45-E93E-23FE-F0EC-91E5C845B7D9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30CC2A-D5A3-6641-9D38-A47BF624B974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341526-5577-ACB6-EA8D-DFCE6D723941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FB8B20-7E15-6345-8C59-AFC401D65D5E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EFC4F7-7B8E-768D-31DF-851EB9E9BF0E}"/>
              </a:ext>
            </a:extLst>
          </p:cNvPr>
          <p:cNvSpPr txBox="1"/>
          <p:nvPr/>
        </p:nvSpPr>
        <p:spPr>
          <a:xfrm>
            <a:off x="6586851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903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4942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Scikit-learn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을 활용한 </a:t>
            </a:r>
            <a:r>
              <a:rPr lang="ko-KR" altLang="en-US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실습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기본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심화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488307"/>
              </p:ext>
            </p:extLst>
          </p:nvPr>
        </p:nvGraphicFramePr>
        <p:xfrm>
          <a:off x="1370470" y="2812434"/>
          <a:ext cx="7648401" cy="2468693"/>
        </p:xfrm>
        <a:graphic>
          <a:graphicData uri="http://schemas.openxmlformats.org/drawingml/2006/table">
            <a:tbl>
              <a:tblPr/>
              <a:tblGrid>
                <a:gridCol w="3711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Scikit-learn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을 활용한 </a:t>
                      </a:r>
                      <a:r>
                        <a:rPr lang="ko-KR" altLang="en-US" sz="10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실습 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기본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)_8hr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Scikit-learn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을 활용한 </a:t>
                      </a:r>
                      <a:r>
                        <a:rPr lang="ko-KR" altLang="en-US" sz="10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실습 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심화</a:t>
                      </a:r>
                      <a:r>
                        <a:rPr lang="en-US" altLang="ko-KR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)_8hr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9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위한 파이썬 기본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위한 파이썬 중급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Scikit-learn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형식인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NumPy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NumPy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메소드와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universal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함수의 이해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Scikit-learn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기본 구조의 이해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회귀 모델의 이해와 성능 향상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분류 모델의 이해와 성능 향상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비지도 학습 방법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심화 과정의 주요 내용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위한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NumPy Array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다루기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변환과 추출을 위한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Pandas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Scikit-learn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다양한 데이터 변환 방법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모델 튜닝과 성능 향상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model pipeline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비즈니스 요구에 따른 다양한 성능 평가 방법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데이터와 모델의 시각화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868408" y="1633453"/>
            <a:ext cx="473022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파이썬과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Scikit-learn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기본 클래스 구조를 이해하고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활용할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다양한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머신러닝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문제에 적절한 모델을 사용할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데이터 세트를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머신러닝에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적합한 입력 형태로 변환할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Scikit-learn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을 이용하여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머신러닝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기법들을 구현하고 목적에 맞게 수정할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  <a:noFill/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  <a:noFill/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  <a:noFill/>
        </p:spPr>
      </p:pic>
      <p:sp>
        <p:nvSpPr>
          <p:cNvPr id="55" name="TextBox 54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16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27BDA0-CF08-63A6-ADEE-363E1549754A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B5E44D1-0163-B726-8023-A55A96A6A06E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모서리가 둥근 직사각형 31">
            <a:extLst>
              <a:ext uri="{FF2B5EF4-FFF2-40B4-BE49-F238E27FC236}">
                <a16:creationId xmlns:a16="http://schemas.microsoft.com/office/drawing/2014/main" id="{050E0213-668F-49FD-BEEC-972730AAE83D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모서리가 둥근 직사각형 32">
            <a:extLst>
              <a:ext uri="{FF2B5EF4-FFF2-40B4-BE49-F238E27FC236}">
                <a16:creationId xmlns:a16="http://schemas.microsoft.com/office/drawing/2014/main" id="{85F5FFCA-FEA5-55FC-FDF6-5991380F8DDD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6731C5A-3192-12C5-8165-100D169EB260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47AA7AE-0796-D1A6-773A-4D8837E0C2F3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38E4DE-C742-D782-7E60-1A0B331AC706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34DD84-68A3-E925-7F48-890E30F39E31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D8E451-C51C-7D35-9665-6EB98708DA56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92BB05-AC61-964C-294A-3A6456F4AB1B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22C71DE-2FE1-9FBA-8AEE-6355A7F78C3B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CEB8311-4E8C-B41F-9152-32ABA04FDC73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72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49B485A-1A18-3F57-710C-835B95027E69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8E9BC3-8394-DB8F-667D-15A2F8809037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1FA622-6182-8189-A00E-9050FFB6E05C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2824A74-F98C-6E6F-ACE4-5F1D210E772D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410F0-7A47-57E9-0F49-59A0394D8941}"/>
              </a:ext>
            </a:extLst>
          </p:cNvPr>
          <p:cNvSpPr txBox="1"/>
          <p:nvPr/>
        </p:nvSpPr>
        <p:spPr>
          <a:xfrm>
            <a:off x="5932331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6E85FEB1-A670-19EF-AEB2-1EEF4AFB01FB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5AF682EF-6967-3C0F-068B-62409FCABAAD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1E2F80-0D17-A18C-3EB7-19B1BB80211A}"/>
              </a:ext>
            </a:extLst>
          </p:cNvPr>
          <p:cNvSpPr txBox="1"/>
          <p:nvPr/>
        </p:nvSpPr>
        <p:spPr>
          <a:xfrm>
            <a:off x="8696707" y="51196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FE647-C90F-762B-B2EE-B7881444C013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4131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실행 단추: 홈 68">
            <a:hlinkClick r:id="rId2" action="ppaction://hlinksldjump" highlightClick="1"/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66900" y="230475"/>
            <a:ext cx="4262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[K-MOOC]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빅데이터를 위한 확률과 통계</a:t>
            </a:r>
            <a:endParaRPr lang="en-US" altLang="ko-KR" b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4" name="직선 연결선 73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79" name="직선 연결선 78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63365" y="530472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81" name="직선 연결선 80"/>
          <p:cNvCxnSpPr/>
          <p:nvPr/>
        </p:nvCxnSpPr>
        <p:spPr>
          <a:xfrm>
            <a:off x="1199555" y="546716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그룹 81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83" name="그림 8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85" name="그림 8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86" name="TextBox 85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196454" y="1785823"/>
              <a:ext cx="542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15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사무직</a:t>
              </a:r>
            </a:p>
          </p:txBody>
        </p:sp>
        <p:pic>
          <p:nvPicPr>
            <p:cNvPr id="97" name="그림 96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고려사이버대학교 백창현 교수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101" name="직선 연결선 100"/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101"/>
          <p:cNvSpPr/>
          <p:nvPr/>
        </p:nvSpPr>
        <p:spPr>
          <a:xfrm>
            <a:off x="1515382" y="6048452"/>
            <a:ext cx="3213052" cy="54688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329386" y="606807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1774064" y="6029364"/>
            <a:ext cx="295437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K-MOOC</a:t>
            </a:r>
            <a:r>
              <a:rPr lang="ko-KR" altLang="en-US" dirty="0">
                <a:ea typeface="LG스마트체2.0 Regular" panose="020B0600000101010101" pitchFamily="50" charset="-127"/>
              </a:rPr>
              <a:t> 사외 무료 이러닝으로 </a:t>
            </a:r>
            <a:r>
              <a:rPr lang="en-US" altLang="ko-KR" dirty="0">
                <a:ea typeface="LG스마트체2.0 Regular" panose="020B0600000101010101" pitchFamily="50" charset="-127"/>
                <a:hlinkClick r:id="rId6"/>
              </a:rPr>
              <a:t>https://www.kmooc.kr/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로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접속하여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회원가입하여 수강해야 하는 과정임</a:t>
            </a:r>
            <a:r>
              <a:rPr lang="en-US" altLang="ko-KR" dirty="0">
                <a:ea typeface="LG스마트체2.0 Regular" panose="020B0600000101010101" pitchFamily="50" charset="-127"/>
              </a:rPr>
              <a:t>.(</a:t>
            </a:r>
            <a:r>
              <a:rPr lang="ko-KR" altLang="en-US" dirty="0">
                <a:ea typeface="LG스마트체2.0 Regular" panose="020B0600000101010101" pitchFamily="50" charset="-127"/>
              </a:rPr>
              <a:t>사내 과정 아님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5342136" y="6015832"/>
            <a:ext cx="34185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상시적으로 차수 오픈 되지 않으며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수강신청 기간 확인 후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기간내에 신청해야 참가 가능함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111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79557"/>
              </p:ext>
            </p:extLst>
          </p:nvPr>
        </p:nvGraphicFramePr>
        <p:xfrm>
          <a:off x="1370471" y="2812434"/>
          <a:ext cx="6732000" cy="2458084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47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과정명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6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빅데이터를 위한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확률과 통계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확률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확률분포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정규분포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기술통계학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표본분포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표본분포의 분포와 추정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추정 및 가설 설정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주차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평가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직사각형 112"/>
          <p:cNvSpPr/>
          <p:nvPr/>
        </p:nvSpPr>
        <p:spPr>
          <a:xfrm>
            <a:off x="5031508" y="1596174"/>
            <a:ext cx="4542798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lnSpc>
                <a:spcPct val="120000"/>
              </a:lnSpc>
            </a:pP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빅데이터 처리를 위한 기본개념인 확률의 개념 및 여러 확률분포를 </a:t>
            </a:r>
            <a:b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</a:br>
            <a:r>
              <a:rPr kumimoji="1"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설명할 수 있다</a:t>
            </a: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indent="-90488">
              <a:lnSpc>
                <a:spcPct val="120000"/>
              </a:lnSpc>
            </a:pP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빅데이터 분석을 위한 통계학 기초 이론을 습득하여 자료 분석 및 해석을 수행할 수 있다</a:t>
            </a:r>
            <a:r>
              <a:rPr kumimoji="1"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  <a:endParaRPr kumimoji="1" lang="ko-KR" altLang="en-US" sz="10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095332" y="5579615"/>
            <a:ext cx="472189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링크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 : https://www.kmooc.kr/view/course/detail/14369?tm=20251230171320</a:t>
            </a:r>
            <a:endParaRPr lang="ko-KR" altLang="en-US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240706" y="286867"/>
            <a:ext cx="2688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900" dirty="0"/>
              <a:t>* </a:t>
            </a:r>
            <a:r>
              <a:rPr lang="ko-KR" altLang="en-US" sz="900" dirty="0"/>
              <a:t>사외 이러닝</a:t>
            </a:r>
            <a:r>
              <a:rPr lang="en-US" altLang="ko-KR" sz="900" dirty="0"/>
              <a:t>(</a:t>
            </a:r>
            <a:r>
              <a:rPr lang="ko-KR" altLang="en-US" sz="900" dirty="0"/>
              <a:t>무료</a:t>
            </a:r>
            <a:r>
              <a:rPr lang="en-US" altLang="ko-KR" sz="900" dirty="0"/>
              <a:t>)</a:t>
            </a:r>
            <a:r>
              <a:rPr lang="ko-KR" altLang="en-US" sz="900" dirty="0"/>
              <a:t>이며</a:t>
            </a:r>
            <a:r>
              <a:rPr lang="en-US" altLang="ko-KR" sz="900" dirty="0"/>
              <a:t>, </a:t>
            </a:r>
            <a:r>
              <a:rPr lang="ko-KR" altLang="en-US" sz="900" dirty="0"/>
              <a:t>교육이력등록 및 </a:t>
            </a:r>
            <a:r>
              <a:rPr lang="en-US" altLang="ko-KR" sz="900" dirty="0"/>
              <a:t>IDP </a:t>
            </a:r>
            <a:r>
              <a:rPr lang="ko-KR" altLang="en-US" sz="900" dirty="0"/>
              <a:t>등록을 </a:t>
            </a:r>
            <a:br>
              <a:rPr lang="en-US" altLang="ko-KR" sz="900" dirty="0"/>
            </a:br>
            <a:r>
              <a:rPr lang="en-US" altLang="ko-KR" sz="900" dirty="0"/>
              <a:t>  </a:t>
            </a:r>
            <a:r>
              <a:rPr lang="ko-KR" altLang="en-US" sz="900" dirty="0"/>
              <a:t>위해선</a:t>
            </a:r>
            <a:r>
              <a:rPr lang="en-US" altLang="ko-KR" sz="900" dirty="0"/>
              <a:t> </a:t>
            </a:r>
            <a:r>
              <a:rPr lang="ko-KR" altLang="en-US" sz="900" dirty="0"/>
              <a:t>유첨 참가 </a:t>
            </a:r>
            <a:r>
              <a:rPr lang="en-US" altLang="ko-KR" sz="900" dirty="0"/>
              <a:t>Process </a:t>
            </a:r>
            <a:r>
              <a:rPr lang="ko-KR" altLang="en-US" sz="900" dirty="0"/>
              <a:t>참고바랍니다</a:t>
            </a:r>
            <a:r>
              <a:rPr lang="en-US" altLang="ko-KR" sz="900" dirty="0"/>
              <a:t>. </a:t>
            </a:r>
            <a:endParaRPr lang="ko-KR" altLang="en-US" sz="900" dirty="0"/>
          </a:p>
        </p:txBody>
      </p:sp>
      <p:sp>
        <p:nvSpPr>
          <p:cNvPr id="2" name="실행 단추: 앞으로 또는 다음 5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2EB5B2C-1B07-B0A3-043E-D7053CA7A197}"/>
              </a:ext>
            </a:extLst>
          </p:cNvPr>
          <p:cNvSpPr/>
          <p:nvPr/>
        </p:nvSpPr>
        <p:spPr>
          <a:xfrm>
            <a:off x="7299784" y="498513"/>
            <a:ext cx="111483" cy="1192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CED298CC-ED6C-9769-389B-1554838CA08B}"/>
              </a:ext>
            </a:extLst>
          </p:cNvPr>
          <p:cNvSpPr/>
          <p:nvPr/>
        </p:nvSpPr>
        <p:spPr>
          <a:xfrm>
            <a:off x="8242546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C355C348-4767-CBBE-BEFE-29AAB9A4D50E}"/>
              </a:ext>
            </a:extLst>
          </p:cNvPr>
          <p:cNvSpPr/>
          <p:nvPr/>
        </p:nvSpPr>
        <p:spPr>
          <a:xfrm>
            <a:off x="8242546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4800B-8ADF-66A0-FBCD-5E96EC6A6753}"/>
              </a:ext>
            </a:extLst>
          </p:cNvPr>
          <p:cNvSpPr txBox="1"/>
          <p:nvPr/>
        </p:nvSpPr>
        <p:spPr>
          <a:xfrm>
            <a:off x="8696707" y="511962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 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D3039-E4B7-54F4-73D9-E88B7318B899}"/>
              </a:ext>
            </a:extLst>
          </p:cNvPr>
          <p:cNvSpPr txBox="1"/>
          <p:nvPr/>
        </p:nvSpPr>
        <p:spPr>
          <a:xfrm>
            <a:off x="8690954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7257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489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수학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미분학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909806" y="1740129"/>
            <a:ext cx="4996194" cy="632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최적화의 개념을 예시를 통하여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일변수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다변수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함수를 미분할 수 있고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미분을 활용하여 함수 최솟값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최댓값 구할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경사하강법을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이해하고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알고리즘을 만들어 최솟값 및 최댓값을 구할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196454" y="1801212"/>
              <a:ext cx="542026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r>
                <a:rPr lang="en-US" altLang="ko-KR" dirty="0">
                  <a:ea typeface="LG스마트체2.0 Regular" panose="020B0600000101010101" pitchFamily="50" charset="-127"/>
                </a:rPr>
                <a:t>4 Hr.</a:t>
              </a:r>
              <a:endParaRPr lang="ko-KR" altLang="en-US" dirty="0">
                <a:ea typeface="LG스마트체2.0 Regular" panose="020B0600000101010101" pitchFamily="50" charset="-12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842587" y="1721200"/>
              <a:ext cx="756638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On-Line</a:t>
              </a:r>
              <a:b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</a:br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E36741BD-F742-90DB-7A71-487322CCCAF5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9890D9F9-3AB6-D854-23A5-A2A7B413C605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24858-AEDC-7A54-DD6A-EDCC3CF4237D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B7B3E-FE1C-69D2-CEC8-734382BB1D26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graphicFrame>
        <p:nvGraphicFramePr>
          <p:cNvPr id="20" name="Group 58">
            <a:extLst>
              <a:ext uri="{FF2B5EF4-FFF2-40B4-BE49-F238E27FC236}">
                <a16:creationId xmlns:a16="http://schemas.microsoft.com/office/drawing/2014/main" id="{80058126-AF79-2DC1-E8AF-8B8AFADC0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771453"/>
              </p:ext>
            </p:extLst>
          </p:nvPr>
        </p:nvGraphicFramePr>
        <p:xfrm>
          <a:off x="1370471" y="2812434"/>
          <a:ext cx="6732000" cy="1321027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76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kumimoji="1" lang="ko-KR" altLang="en-US" sz="1000" kern="0" dirty="0" err="1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수학 </a:t>
                      </a:r>
                      <a:endParaRPr kumimoji="1" lang="en-US" altLang="ko-KR" sz="1000" kern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미분학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머신러닝과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미분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다변수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함수의 미분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경사하강법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다층 구조의 미분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3989456-4511-BEDC-7824-CD4E367BBA97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B8560D7-3EFD-903B-03F9-7817D62B225C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31">
            <a:extLst>
              <a:ext uri="{FF2B5EF4-FFF2-40B4-BE49-F238E27FC236}">
                <a16:creationId xmlns:a16="http://schemas.microsoft.com/office/drawing/2014/main" id="{4AFD4F4B-79F7-1D5E-5053-7EE7413FCF12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모서리가 둥근 직사각형 32">
            <a:extLst>
              <a:ext uri="{FF2B5EF4-FFF2-40B4-BE49-F238E27FC236}">
                <a16:creationId xmlns:a16="http://schemas.microsoft.com/office/drawing/2014/main" id="{2BD20F4B-80B8-B0D5-3E4F-B2C88F0D76CB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D3D91A3-4B29-C4AB-7E93-679684633FD9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9C73078-3805-1CEE-7CC7-299023BFE386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CCBAD1-6E7C-7FB5-A631-20DAF36F145F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1A30E6-505C-7829-92D7-26286D4CC4FC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C92C7D-F226-6CF1-231A-806DC1FE2191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6B652B-F9CD-3704-2E52-ADFAF5388A3F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2FADD10-3B4F-01D0-928E-B2B3B5183BC3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D29EAE6-2A24-30E3-6778-84437B7FE2E8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72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43C2346-BC2E-C146-3F24-0EB04B0958B6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EA772F-DDDF-33A8-426D-151A777679EE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0B4842-5453-9B24-4BCA-226385FD01B4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DA4A2B5-161B-7587-C58F-56F3AC92E150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3ADEE-E1B2-B6D3-3562-970D36E655D5}"/>
              </a:ext>
            </a:extLst>
          </p:cNvPr>
          <p:cNvSpPr txBox="1"/>
          <p:nvPr/>
        </p:nvSpPr>
        <p:spPr>
          <a:xfrm>
            <a:off x="3189125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7169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842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수학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선형대수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확률통계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909806" y="1631601"/>
            <a:ext cx="4368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머신러닝과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관련된 확률 및 확률변수에 대하여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머신러닝과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관련된 벡터공간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행렬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고윳값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고유벡터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벡터공간에서의 직교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직교대각화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이차형식에 대하여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특이값분해와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PCA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에 대하여 설명할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  <a:endParaRPr lang="en-US" altLang="ko-KR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196454" y="1801212"/>
              <a:ext cx="542026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r>
                <a:rPr lang="en-US" altLang="ko-KR" dirty="0">
                  <a:ea typeface="LG스마트체2.0 Regular" panose="020B0600000101010101" pitchFamily="50" charset="-127"/>
                </a:rPr>
                <a:t>8 Hr.</a:t>
              </a:r>
              <a:endParaRPr lang="ko-KR" altLang="en-US" dirty="0">
                <a:ea typeface="LG스마트체2.0 Regular" panose="020B0600000101010101" pitchFamily="50" charset="-12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842587" y="1721200"/>
              <a:ext cx="756638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On-Line</a:t>
              </a:r>
              <a:b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</a:br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E36741BD-F742-90DB-7A71-487322CCCAF5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9890D9F9-3AB6-D854-23A5-A2A7B413C605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24858-AEDC-7A54-DD6A-EDCC3CF4237D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B7B3E-FE1C-69D2-CEC8-734382BB1D26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graphicFrame>
        <p:nvGraphicFramePr>
          <p:cNvPr id="20" name="Group 58">
            <a:extLst>
              <a:ext uri="{FF2B5EF4-FFF2-40B4-BE49-F238E27FC236}">
                <a16:creationId xmlns:a16="http://schemas.microsoft.com/office/drawing/2014/main" id="{80058126-AF79-2DC1-E8AF-8B8AFADC0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200164"/>
              </p:ext>
            </p:extLst>
          </p:nvPr>
        </p:nvGraphicFramePr>
        <p:xfrm>
          <a:off x="1370471" y="2812434"/>
          <a:ext cx="6732000" cy="2294361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09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kumimoji="1" lang="ko-KR" altLang="en-US" sz="1000" kern="0" dirty="0" err="1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수학 </a:t>
                      </a:r>
                      <a:endParaRPr kumimoji="1" lang="en-US" altLang="ko-KR" sz="1000" kern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선형대수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확률통계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확률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확률변수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벡터공간과 부분공간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행렬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행렬의 대각화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고윳값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고유벡터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벡터공간에서의 직교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직교대각화와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특이값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분해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이차형식과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PCA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3989456-4511-BEDC-7824-CD4E367BBA97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B8560D7-3EFD-903B-03F9-7817D62B225C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31">
            <a:extLst>
              <a:ext uri="{FF2B5EF4-FFF2-40B4-BE49-F238E27FC236}">
                <a16:creationId xmlns:a16="http://schemas.microsoft.com/office/drawing/2014/main" id="{4AFD4F4B-79F7-1D5E-5053-7EE7413FCF12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모서리가 둥근 직사각형 32">
            <a:extLst>
              <a:ext uri="{FF2B5EF4-FFF2-40B4-BE49-F238E27FC236}">
                <a16:creationId xmlns:a16="http://schemas.microsoft.com/office/drawing/2014/main" id="{2BD20F4B-80B8-B0D5-3E4F-B2C88F0D76CB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D3D91A3-4B29-C4AB-7E93-679684633FD9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9C73078-3805-1CEE-7CC7-299023BFE386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CCBAD1-6E7C-7FB5-A631-20DAF36F145F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1A30E6-505C-7829-92D7-26286D4CC4FC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C92C7D-F226-6CF1-231A-806DC1FE2191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6B652B-F9CD-3704-2E52-ADFAF5388A3F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2FADD10-3B4F-01D0-928E-B2B3B5183BC3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D29EAE6-2A24-30E3-6778-84437B7FE2E8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EA772F-DDDF-33A8-426D-151A777679EE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5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0B4842-5453-9B24-4BCA-226385FD01B4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DA4A2B5-161B-7587-C58F-56F3AC92E150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76" name="실행 단추: 홈 6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F3356281-097A-2673-3EB7-C078078C3486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16C13D-5B65-0246-7860-85F5108FEF78}"/>
              </a:ext>
            </a:extLst>
          </p:cNvPr>
          <p:cNvSpPr txBox="1"/>
          <p:nvPr/>
        </p:nvSpPr>
        <p:spPr>
          <a:xfrm>
            <a:off x="4450037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301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045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이산수학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(2023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01535" y="1652585"/>
            <a:ext cx="4510212" cy="816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컴퓨터 프로그래밍 분야에서 기본적으로 사용되는 이산 데이터 객체들의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수학 모델 구성과 컴퓨터 논리 표현을 위한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개본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수학 개념을 학습한다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 </a:t>
            </a:r>
          </a:p>
          <a:p>
            <a:pPr marL="90488" marR="0" lvl="0" indent="-904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부울대수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논리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집합 및 관계이론 등의 학습을 통해 효율적인 알고리즘 선택과 디지털 논리 회로 등의 응용 방법에 대한 능력을 함양할 수 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 </a:t>
            </a:r>
            <a:endParaRPr lang="en-US" altLang="ko-KR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960836"/>
              </p:ext>
            </p:extLst>
          </p:nvPr>
        </p:nvGraphicFramePr>
        <p:xfrm>
          <a:off x="1370471" y="2812434"/>
          <a:ext cx="6732000" cy="2450355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70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이산수학 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(2023</a:t>
                      </a:r>
                      <a:r>
                        <a:rPr kumimoji="1" lang="ko-KR" altLang="en-US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kumimoji="1" lang="en-US" altLang="ko-KR" sz="1000" kern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수학적으로 말하기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명제와 논리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논증과 추론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한정화 명제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직접증명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간접증명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수열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수학적 귀납법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재귀적 정의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집합론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집합의 논증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함수의 기본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단사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전사 그리고 역함수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합성함수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관계의 기본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관계의 성질과 동치관계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계수 및 확률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순열과 조합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기댓값과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조건부확률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그래프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트리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알고리즘 복잡도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알고리즘의 효율성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효율적인 알고리즘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형식언어와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정규식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유한 오토마타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순서도: 대체 처리 41"/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순서도: 대체 처리 42"/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26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424D9E-5974-1826-8644-A6D6C238D5A3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F705C86-0F97-CE39-C439-01183A3F7AAB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128D709A-1FA7-CC35-C846-2741E9A65547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1" name="모서리가 둥근 직사각형 32">
            <a:extLst>
              <a:ext uri="{FF2B5EF4-FFF2-40B4-BE49-F238E27FC236}">
                <a16:creationId xmlns:a16="http://schemas.microsoft.com/office/drawing/2014/main" id="{C436C109-A463-7853-83AF-22C1274E40B7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990F21A-354B-0F81-F182-B3D026E78957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39118F6-43CC-7A12-0ABA-4DC0D914F78F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7BBE92-8E66-FA5E-543C-EA21CD25884A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E73ECC-3E9A-E693-02F7-39FCDF4CED7F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57E824-7A92-232B-FE66-B3C9344BF7CE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E46935-293D-10A5-6397-534BE4B98287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728576D-BEA9-5AF7-981D-E9F764921905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4BA7C51-D8D2-F16A-874C-403ACBF8890F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892594-4F4B-F5F3-F9C7-2B7E34E2DFD0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5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31231E-8149-B1C5-1ACF-F9E79472FD3B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7653C24-228A-BE41-6F99-DA6487105337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46" name="실행 단추: 홈 6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D6AE14B-ECBA-6F4B-D73A-C9705925AFA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3D234E-6B5D-A6BD-0DA9-758119DAB07D}"/>
              </a:ext>
            </a:extLst>
          </p:cNvPr>
          <p:cNvSpPr txBox="1"/>
          <p:nvPr/>
        </p:nvSpPr>
        <p:spPr>
          <a:xfrm>
            <a:off x="2852243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8854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0" y="230475"/>
            <a:ext cx="4610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수학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통계 기반 </a:t>
            </a:r>
            <a:r>
              <a:rPr lang="ko-KR" altLang="en-US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알고리즘 이해</a:t>
            </a:r>
            <a:endParaRPr lang="en-US" altLang="ko-KR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31443" y="1712391"/>
            <a:ext cx="4329798" cy="874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 및 인공지능</a:t>
            </a: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(AI) </a:t>
            </a: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 중급 인원을 대상으로 </a:t>
            </a: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수행 시</a:t>
            </a: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kumimoji="1" lang="ko-KR" altLang="en-US" sz="1000" dirty="0" err="1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머신러닝의</a:t>
            </a: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근본적인 이론적 의미</a:t>
            </a: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수학</a:t>
            </a: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통계를 기반으로 한 실무적  접근 방법론을 이해함으로써 </a:t>
            </a: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ML </a:t>
            </a: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및 </a:t>
            </a: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DL </a:t>
            </a: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모델 성능을 향상 시킬 수 있는 </a:t>
            </a:r>
            <a:r>
              <a:rPr kumimoji="1" lang="ko-KR" altLang="en-US" sz="1000" dirty="0" err="1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인사이트를</a:t>
            </a:r>
            <a:r>
              <a:rPr kumimoji="1" lang="ko-KR" altLang="en-US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제공하기 위함</a:t>
            </a:r>
            <a:r>
              <a:rPr kumimoji="1" lang="en-US" altLang="ko-KR" sz="1000" dirty="0">
                <a:solidFill>
                  <a:srgbClr val="231F2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3365" y="53585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199555" y="55209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96453" y="1785823"/>
              <a:ext cx="635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21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사무직</a:t>
              </a:r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송영원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자문  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* LG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에너지솔루션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AI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과제 자문경력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모서리가 둥근 직사각형 26"/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29386" y="606807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1747169" y="6056258"/>
            <a:ext cx="3562245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ea typeface="LG스마트체2.0 Regular" panose="020B0600000101010101" pitchFamily="50" charset="-127"/>
              </a:rPr>
              <a:t>본 프로그램은 </a:t>
            </a:r>
            <a:r>
              <a:rPr lang="en-US" altLang="ko-KR" dirty="0">
                <a:ea typeface="LG스마트체2.0 Regular" panose="020B0600000101010101" pitchFamily="50" charset="-127"/>
              </a:rPr>
              <a:t>LG</a:t>
            </a:r>
            <a:r>
              <a:rPr lang="ko-KR" altLang="en-US" dirty="0" err="1">
                <a:ea typeface="LG스마트체2.0 Regular" panose="020B0600000101010101" pitchFamily="50" charset="-127"/>
              </a:rPr>
              <a:t>엔솔에서</a:t>
            </a:r>
            <a:r>
              <a:rPr lang="ko-KR" altLang="en-US" dirty="0">
                <a:ea typeface="LG스마트체2.0 Regular" panose="020B0600000101010101" pitchFamily="50" charset="-127"/>
              </a:rPr>
              <a:t> </a:t>
            </a: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기술 과제를 수년간 자문해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오신 사외 강사를 통해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과제 수행 시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모델 성능평가를 위한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수학적 전개와 알고리즘 모델에 대해 깊이 있게 이해하기 위한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내용 중심 강의 </a:t>
            </a:r>
            <a:r>
              <a:rPr lang="en-US" altLang="ko-KR" dirty="0">
                <a:ea typeface="LG스마트체2.0 Regular" panose="020B0600000101010101" pitchFamily="50" charset="-127"/>
              </a:rPr>
              <a:t>(</a:t>
            </a:r>
            <a:r>
              <a:rPr lang="ko-KR" altLang="en-US" dirty="0">
                <a:ea typeface="LG스마트체2.0 Regular" panose="020B0600000101010101" pitchFamily="50" charset="-127"/>
              </a:rPr>
              <a:t>강의녹화 영상으로 이러닝 전환함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5440751" y="6051692"/>
            <a:ext cx="291898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인공지능기술 중급 수준 내용으로 구성되어 있으며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과제를 직간접적으로 수행한 경험이 있는 분에게 적합한 내용이며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머신러닝에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대한 기본지식을 보유한 분이 수강신청 필요함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 수준 인원은 내용 이해 어려울 수 있음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36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844205"/>
              </p:ext>
            </p:extLst>
          </p:nvPr>
        </p:nvGraphicFramePr>
        <p:xfrm>
          <a:off x="1370471" y="2812434"/>
          <a:ext cx="6732000" cy="2550213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82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68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기술이해와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대표적 수학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통계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(6hr)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기술의 이해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(AI, DS, ML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차이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Beyes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’ Rule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Log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함수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, Entropy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Statistical hypothesis test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방법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Log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함수와 물리적 의미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/Entropy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와 물리적 의미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/Statistical hypothesis test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이해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z-score statistic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이해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t-value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와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t-score statistic model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t-value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t-score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ANOVA model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algorithm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F-ratio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정의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F-distribution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One-way ANOVA algorithm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Two-way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multivariate ANOVA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LOF model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algorithm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Local outlier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개념과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outlier detection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기술 개요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LOF algorithm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적용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formulas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LOF formulas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수학적 표현과 해석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208029"/>
                  </a:ext>
                </a:extLst>
              </a:tr>
              <a:tr h="3456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PCA model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algorithm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PCA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개념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Objective function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과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optimal solution / Eigenvalues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와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Eigenvectors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계산 예시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PCA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적용 예시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028014"/>
                  </a:ext>
                </a:extLst>
              </a:tr>
              <a:tr h="3316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SVD model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algorithm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SVD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수학적 전개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SVD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계산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algorithm / SVD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계산 예시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SVD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기하학적 해석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81990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0B99E1E7-9041-6201-F454-352FA034BE8C}"/>
              </a:ext>
            </a:extLst>
          </p:cNvPr>
          <p:cNvSpPr txBox="1"/>
          <p:nvPr/>
        </p:nvSpPr>
        <p:spPr>
          <a:xfrm>
            <a:off x="5313608" y="281924"/>
            <a:ext cx="224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ko-KR" altLang="en-US" dirty="0">
                <a:latin typeface="Arial Narrow" panose="020B0606020202030204" pitchFamily="34" charset="0"/>
              </a:rPr>
              <a:t>☞ 강의 녹화 영상</a:t>
            </a:r>
            <a:r>
              <a:rPr lang="en-US" altLang="ko-KR" dirty="0">
                <a:latin typeface="Arial Narrow" panose="020B0606020202030204" pitchFamily="34" charset="0"/>
              </a:rPr>
              <a:t>(AI </a:t>
            </a:r>
            <a:r>
              <a:rPr lang="ko-KR" altLang="en-US" dirty="0">
                <a:latin typeface="Arial Narrow" panose="020B0606020202030204" pitchFamily="34" charset="0"/>
              </a:rPr>
              <a:t>기술 실무 </a:t>
            </a:r>
            <a:r>
              <a:rPr lang="en-US" altLang="ko-KR" dirty="0">
                <a:latin typeface="Arial Narrow" panose="020B0606020202030204" pitchFamily="34" charset="0"/>
              </a:rPr>
              <a:t>Master)</a:t>
            </a:r>
            <a:r>
              <a:rPr lang="ko-KR" altLang="en-US" dirty="0">
                <a:latin typeface="Arial Narrow" panose="020B0606020202030204" pitchFamily="34" charset="0"/>
              </a:rPr>
              <a:t>을 이러닝 전환함</a:t>
            </a:r>
            <a:br>
              <a:rPr lang="en-US" altLang="ko-KR" dirty="0">
                <a:latin typeface="Arial Narrow" panose="020B0606020202030204" pitchFamily="34" charset="0"/>
              </a:rPr>
            </a:br>
            <a:r>
              <a:rPr lang="en-US" altLang="ko-KR" dirty="0">
                <a:latin typeface="Arial Narrow" panose="020B0606020202030204" pitchFamily="34" charset="0"/>
              </a:rPr>
              <a:t>        ; </a:t>
            </a:r>
            <a:r>
              <a:rPr lang="ko-KR" altLang="en-US" dirty="0">
                <a:latin typeface="Arial Narrow" panose="020B0606020202030204" pitchFamily="34" charset="0"/>
              </a:rPr>
              <a:t>매월 차수 </a:t>
            </a:r>
            <a:r>
              <a:rPr lang="en-US" altLang="ko-KR" dirty="0">
                <a:latin typeface="Arial Narrow" panose="020B0606020202030204" pitchFamily="34" charset="0"/>
              </a:rPr>
              <a:t>Open</a:t>
            </a:r>
          </a:p>
        </p:txBody>
      </p:sp>
      <p:sp>
        <p:nvSpPr>
          <p:cNvPr id="42" name="순서도: 대체 처리 41">
            <a:extLst>
              <a:ext uri="{FF2B5EF4-FFF2-40B4-BE49-F238E27FC236}">
                <a16:creationId xmlns:a16="http://schemas.microsoft.com/office/drawing/2014/main" id="{CCD458E4-F1BC-6818-B31C-3DE13753A213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순서도: 대체 처리 43">
            <a:extLst>
              <a:ext uri="{FF2B5EF4-FFF2-40B4-BE49-F238E27FC236}">
                <a16:creationId xmlns:a16="http://schemas.microsoft.com/office/drawing/2014/main" id="{9F036C5A-7CCE-4210-73C2-6758D3EC5856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A796BD-ACEB-19E2-6626-4B547D22ED03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31F261-0EE4-202F-3CD3-76FBD22DA3C5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7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1DB18B6-DACE-2708-3DEC-9DA61358C998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646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Machine Learning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789" y="1745288"/>
            <a:ext cx="5263612" cy="263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lnSpc>
                <a:spcPct val="120000"/>
              </a:lnSpc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: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인공지능을 위한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수학기초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및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Machine Learning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기초 이론을 이해하고 활용할 수 있다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 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234238"/>
              </p:ext>
            </p:extLst>
          </p:nvPr>
        </p:nvGraphicFramePr>
        <p:xfrm>
          <a:off x="1370471" y="2812434"/>
          <a:ext cx="6732000" cy="2601391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81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인공지능을 위한 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수학기초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(2hr)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Vector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와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Matrix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미분과 최적화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확률 통계</a:t>
                      </a: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Linear/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Nonlinear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Model (6hr)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Linear Model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분류 및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회귀식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Non-linear Model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분류 및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회귀식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Python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실습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(3.5hr)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Machine Learning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 (8hr)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Machine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러닝 구성요소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확률적 의미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ML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의 대표 기법 이해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Machine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러닝 정규화 및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검증법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Python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실습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(3.5hr) 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Machine Learning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 (8hr)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Advanced regression &amp; </a:t>
                      </a:r>
                      <a:r>
                        <a:rPr kumimoji="1" lang="en-US" altLang="ko-KR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classfiication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Kernel Methods &amp; clustering /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딥러닝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프로그래밍을 위한 기초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Python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실습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(3.5hr) 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915111"/>
                  </a:ext>
                </a:extLst>
              </a:tr>
              <a:tr h="605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인공 신경망 및 </a:t>
                      </a:r>
                      <a:endParaRPr kumimoji="1" lang="en-US" altLang="ko-KR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심층 신경망 이해 </a:t>
                      </a:r>
                      <a:r>
                        <a:rPr kumimoji="1" lang="en-US" altLang="ko-KR" sz="10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(8hr)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인공 신경망 이론 이해하기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심층 신경망 훈련하기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신경망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하이퍼파라미터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튜닝하기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Gradient Descent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Overfitting / Python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실습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(2hr)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224219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63365" y="538402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8" name="직선 연결선 57"/>
          <p:cNvCxnSpPr/>
          <p:nvPr/>
        </p:nvCxnSpPr>
        <p:spPr>
          <a:xfrm>
            <a:off x="1199555" y="5546461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312391" y="5641882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서강대 조성인 교수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(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컴퓨터공학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)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그림 6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9" name="그림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32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</a:p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Virtual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6" name="직선 연결선 65"/>
          <p:cNvCxnSpPr/>
          <p:nvPr/>
        </p:nvCxnSpPr>
        <p:spPr>
          <a:xfrm>
            <a:off x="1199555" y="6030849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/>
          <p:cNvSpPr/>
          <p:nvPr/>
        </p:nvSpPr>
        <p:spPr>
          <a:xfrm>
            <a:off x="1515382" y="6163569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5053804" y="6179075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1370471" y="6081294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4900856" y="6094239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329386" y="612280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859771" y="6132822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809453" y="6177647"/>
            <a:ext cx="28363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Python PJT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이수한 인원 또는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코딩을 원활하게 사용할 수 있는 인원이면서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기본개념을 이해하고 있는 분이 참가 가능한 과정임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63365" y="587704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5386369" y="6183227"/>
            <a:ext cx="306886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코딩 실습이 많기 때문에 코딩 스킬이 미흡할 경우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 진행에 어려움 있으니 사전 참고하시기 바랍니다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및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PJT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 참여하거나 계획이 있는 분에게 적합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1FAC95F5-99AD-F8E5-D9A0-FD9EDA858045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2F90C703-8A23-635C-4FBE-52ECF1E58143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569BB-5EF1-635F-0A5B-3383F617F508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27995-B3CB-C27A-1374-5059BE208A76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E2EC2A-897C-C551-2BEE-E234DD3C4957}"/>
              </a:ext>
            </a:extLst>
          </p:cNvPr>
          <p:cNvSpPr txBox="1"/>
          <p:nvPr/>
        </p:nvSpPr>
        <p:spPr>
          <a:xfrm>
            <a:off x="6754577" y="482067"/>
            <a:ext cx="126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“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과정 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Revision 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예정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＂</a:t>
            </a:r>
          </a:p>
        </p:txBody>
      </p:sp>
      <p:sp>
        <p:nvSpPr>
          <p:cNvPr id="8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E3A587F-2F6E-553E-4DC3-5E0C227C3E48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3915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436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Deep Learning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기본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6839" y="1712709"/>
            <a:ext cx="4617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fontAlgn="base" latinLnBrk="1">
              <a:spcBef>
                <a:spcPct val="10000"/>
              </a:spcBef>
              <a:spcAft>
                <a:spcPct val="0"/>
              </a:spcAft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: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Deep Learning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의 핵심 이론 이해 및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Python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기반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Deep Learning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활용 알고리즘을 구현할 수 있다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115802"/>
              </p:ext>
            </p:extLst>
          </p:nvPr>
        </p:nvGraphicFramePr>
        <p:xfrm>
          <a:off x="1370471" y="2812434"/>
          <a:ext cx="6732000" cy="2213875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3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CNN</a:t>
                      </a:r>
                      <a:b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(8hr)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CNN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개념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CNN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적용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Python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실습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(3.5hr)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GAN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(8hr)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GAN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이해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GAN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구조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Advanced GAN Applications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Python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실습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(3.5hr)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RNN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(8hr)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RNN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구조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LSTM Applications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Python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실습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(2hr)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3365" y="497858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1199555" y="5141021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12391" y="5236442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서강대 조성인 교수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(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컴퓨터공학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)</a:t>
            </a:r>
            <a:endParaRPr kumimoji="1" lang="ko-KR" altLang="ko-KR" sz="1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그림 61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67" name="그림 6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24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</a:p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Virtual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1199555" y="585832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/>
          <p:cNvSpPr/>
          <p:nvPr/>
        </p:nvSpPr>
        <p:spPr>
          <a:xfrm>
            <a:off x="1515382" y="5991043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5053804" y="6006549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1370471" y="5908768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4900856" y="5921713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329386" y="595028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859771" y="596029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809453" y="5942368"/>
            <a:ext cx="2836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Python PJT,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기본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 과정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AI Machine Learning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과정을 이수한 인원이면서 기본적인 인공지능 지식과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코딩을 원활하게 사용할 수 있는 인원이 참가 가능한 과정임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3365" y="570451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5386369" y="6003933"/>
            <a:ext cx="30688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실습이 많기 때문에 코딩 스킬이 미흡할 경우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 진행에 어려움 있으니 사전 참고하시기 바랍니다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및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PJT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 참여하거나 계획이 있는 분에게 적합할 수 있음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B80AB53C-41AB-C8D6-CC1D-88DDB1932D52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13E4D1FA-2C7A-4FB5-8303-B958C5B351A2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5EBA1-FFAA-B315-8780-A3E4FDE43179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E9EDE-449F-F42B-6B13-3DE63C894467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D454C-3924-ADCF-B1C7-F9E6D4069887}"/>
              </a:ext>
            </a:extLst>
          </p:cNvPr>
          <p:cNvSpPr txBox="1"/>
          <p:nvPr/>
        </p:nvSpPr>
        <p:spPr>
          <a:xfrm>
            <a:off x="6754577" y="482067"/>
            <a:ext cx="126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“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과정 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Revision 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예정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</a:rPr>
              <a:t>＂</a:t>
            </a:r>
          </a:p>
        </p:txBody>
      </p:sp>
      <p:sp>
        <p:nvSpPr>
          <p:cNvPr id="9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2B0FA92-A090-839B-6869-36D40E80D787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78647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0" y="230475"/>
            <a:ext cx="3778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(e)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인공신경망 기반 </a:t>
            </a:r>
            <a:r>
              <a:rPr lang="ko-KR" altLang="en-US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이해</a:t>
            </a:r>
            <a:endParaRPr lang="en-US" altLang="ko-KR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31444" y="1712391"/>
            <a:ext cx="4400744" cy="874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231F2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과제에서 많이 활용하는 인공신경망 기반 </a:t>
            </a:r>
            <a:r>
              <a:rPr lang="ko-KR" altLang="en-US" dirty="0" err="1">
                <a:ea typeface="LG스마트체2.0 Regular" panose="020B0600000101010101" pitchFamily="50" charset="-127"/>
              </a:rPr>
              <a:t>머신러닝</a:t>
            </a:r>
            <a:r>
              <a:rPr lang="ko-KR" altLang="en-US" dirty="0">
                <a:ea typeface="LG스마트체2.0 Regular" panose="020B0600000101010101" pitchFamily="50" charset="-127"/>
              </a:rPr>
              <a:t> 모델 </a:t>
            </a:r>
            <a:r>
              <a:rPr lang="en-US" altLang="ko-KR" dirty="0">
                <a:ea typeface="LG스마트체2.0 Regular" panose="020B0600000101010101" pitchFamily="50" charset="-127"/>
              </a:rPr>
              <a:t>(</a:t>
            </a:r>
            <a:r>
              <a:rPr lang="ko-KR" altLang="en-US" dirty="0">
                <a:ea typeface="LG스마트체2.0 Regular" panose="020B0600000101010101" pitchFamily="50" charset="-127"/>
              </a:rPr>
              <a:t>딥러닝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  <a:r>
              <a:rPr lang="ko-KR" altLang="en-US" dirty="0">
                <a:ea typeface="LG스마트체2.0 Regular" panose="020B0600000101010101" pitchFamily="50" charset="-127"/>
              </a:rPr>
              <a:t>에 대해 이해하고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주요 </a:t>
            </a:r>
            <a:r>
              <a:rPr lang="ko-KR" altLang="en-US" dirty="0" err="1">
                <a:ea typeface="LG스마트체2.0 Regular" panose="020B0600000101010101" pitchFamily="50" charset="-127"/>
              </a:rPr>
              <a:t>모델별</a:t>
            </a:r>
            <a:r>
              <a:rPr lang="ko-KR" altLang="en-US" dirty="0">
                <a:ea typeface="LG스마트체2.0 Regular" panose="020B0600000101010101" pitchFamily="50" charset="-127"/>
              </a:rPr>
              <a:t> 개념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구조 및 수학적인 원리에 대해 깊이 있게 학습함으로써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과제 수행 시 문제점 확인 및 해결방법 도출에 </a:t>
            </a:r>
            <a:r>
              <a:rPr lang="ko-KR" altLang="en-US" dirty="0" err="1">
                <a:ea typeface="LG스마트체2.0 Regular" panose="020B0600000101010101" pitchFamily="50" charset="-127"/>
              </a:rPr>
              <a:t>인사이트를</a:t>
            </a:r>
            <a:r>
              <a:rPr lang="ko-KR" altLang="en-US" dirty="0">
                <a:ea typeface="LG스마트체2.0 Regular" panose="020B0600000101010101" pitchFamily="50" charset="-127"/>
              </a:rPr>
              <a:t> 제공함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3365" y="53585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199555" y="55209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96453" y="1785823"/>
              <a:ext cx="635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20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사무직</a:t>
              </a:r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312391" y="556258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송영원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자문   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* LG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에너지솔루션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AI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과제 자문경력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1199555" y="590710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모서리가 둥근 직사각형 26"/>
          <p:cNvSpPr/>
          <p:nvPr/>
        </p:nvSpPr>
        <p:spPr>
          <a:xfrm>
            <a:off x="1515382" y="6048452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053804" y="6063958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1370471" y="596617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4900856" y="597912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29386" y="606807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59771" y="601770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1747169" y="6056258"/>
            <a:ext cx="3562245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ea typeface="LG스마트체2.0 Regular" panose="020B0600000101010101" pitchFamily="50" charset="-127"/>
              </a:rPr>
              <a:t>인공신경망의 개념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구조와 함께 주요 </a:t>
            </a:r>
            <a:r>
              <a:rPr lang="ko-KR" altLang="en-US" dirty="0" err="1">
                <a:ea typeface="LG스마트체2.0 Regular" panose="020B0600000101010101" pitchFamily="50" charset="-127"/>
              </a:rPr>
              <a:t>딥러닝과</a:t>
            </a:r>
            <a:r>
              <a:rPr lang="ko-KR" altLang="en-US" dirty="0">
                <a:ea typeface="LG스마트체2.0 Regular" panose="020B0600000101010101" pitchFamily="50" charset="-127"/>
              </a:rPr>
              <a:t> 신경망 적용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생성 모델에 대해 소개하며</a:t>
            </a:r>
            <a:r>
              <a:rPr lang="en-US" altLang="ko-KR" dirty="0">
                <a:ea typeface="LG스마트체2.0 Regular" panose="020B0600000101010101" pitchFamily="50" charset="-127"/>
              </a:rPr>
              <a:t>, AI </a:t>
            </a:r>
            <a:r>
              <a:rPr lang="ko-KR" altLang="en-US" dirty="0">
                <a:ea typeface="LG스마트체2.0 Regular" panose="020B0600000101010101" pitchFamily="50" charset="-127"/>
              </a:rPr>
              <a:t>과제를 직간접적으로 수행 경험한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분에게 적합하며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 err="1">
                <a:ea typeface="LG스마트체2.0 Regular" panose="020B0600000101010101" pitchFamily="50" charset="-127"/>
              </a:rPr>
              <a:t>머신러닝</a:t>
            </a:r>
            <a:r>
              <a:rPr lang="ko-KR" altLang="en-US" dirty="0">
                <a:ea typeface="LG스마트체2.0 Regular" panose="020B0600000101010101" pitchFamily="50" charset="-127"/>
              </a:rPr>
              <a:t>  원리 및 수학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통계 지식 이 없을 경우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수학적 원리 내용 설명 시 이해에 어려움 있을 수 있음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5440751" y="6033762"/>
            <a:ext cx="2826105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선수학습 필요 지식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-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인공신경망의 기초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뉴런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시냅스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은닉층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등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벡터와 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행렬의 기본 연산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내적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미분 등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),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-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확률과 통계의 기초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베이즈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정리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랜덤 프로세스 등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※ 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기술실무이해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Master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시리즈 이수자 포함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endParaRPr lang="ko-KR" altLang="en-US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3365" y="574467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36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003697"/>
              </p:ext>
            </p:extLst>
          </p:nvPr>
        </p:nvGraphicFramePr>
        <p:xfrm>
          <a:off x="1370471" y="2812434"/>
          <a:ext cx="6732000" cy="2580926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3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NN(Neural Network)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universality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Perceptron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MLP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MLP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universality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Sigmoid neuron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FNN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기초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FNN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universal function approximation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2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FNN(Fully-connected Neural Network)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FNN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FP(Forward Propagation)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수학적 표현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SGD algorithm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FNN BP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수학적 전개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Overfitting &amp; Gradient vanishing issues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4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CNN(Convolutional Neural Network) </a:t>
                      </a:r>
                      <a:r>
                        <a:rPr lang="en-US" altLang="ko-KR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Ⅰ,Ⅱ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CNN model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구조 이해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CNN layer activations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에 대한 수학적 표현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CNN BP algorithm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수학적 전개와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model training algorithm, Deep learning model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  <a:tr h="3592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LSTM </a:t>
                      </a:r>
                      <a:r>
                        <a:rPr lang="en-US" altLang="ko-KR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Ⅰ,Ⅱ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(Long Short Term Memory)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LSTM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구성 및 개념 이해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LSTM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 cell activations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에 대한 수학적 표현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LSTM BP algorithm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수학적 전개와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model training, RNN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구조와 동작 이해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208029"/>
                  </a:ext>
                </a:extLst>
              </a:tr>
              <a:tr h="3848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VAE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Variational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Auto Encoder)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VAE model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수학적 표현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VAE model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encoder &amp; decoder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구조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VAE model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training algorithm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028014"/>
                  </a:ext>
                </a:extLst>
              </a:tr>
              <a:tr h="3692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GAN(Generative Adversarial Networks)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GAN model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수학적 표현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GAN model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encoder &amp; decoder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구조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GAN model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training algorithm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81990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FCC35EC7-CC26-D747-83A8-58B860F57DF3}"/>
              </a:ext>
            </a:extLst>
          </p:cNvPr>
          <p:cNvSpPr txBox="1"/>
          <p:nvPr/>
        </p:nvSpPr>
        <p:spPr>
          <a:xfrm>
            <a:off x="4287238" y="281924"/>
            <a:ext cx="2249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ko-KR" altLang="en-US" dirty="0">
                <a:latin typeface="Arial Narrow" panose="020B0606020202030204" pitchFamily="34" charset="0"/>
              </a:rPr>
              <a:t>☞ 강의 녹화 영상을 이러닝 전환함 </a:t>
            </a:r>
            <a:r>
              <a:rPr lang="en-US" altLang="ko-KR" dirty="0">
                <a:latin typeface="Arial Narrow" panose="020B0606020202030204" pitchFamily="34" charset="0"/>
              </a:rPr>
              <a:t>(</a:t>
            </a:r>
            <a:r>
              <a:rPr lang="ko-KR" altLang="en-US" dirty="0">
                <a:latin typeface="Arial Narrow" panose="020B0606020202030204" pitchFamily="34" charset="0"/>
              </a:rPr>
              <a:t>매월 차수 </a:t>
            </a:r>
            <a:r>
              <a:rPr lang="en-US" altLang="ko-KR" dirty="0">
                <a:latin typeface="Arial Narrow" panose="020B0606020202030204" pitchFamily="34" charset="0"/>
              </a:rPr>
              <a:t>Open)</a:t>
            </a:r>
          </a:p>
        </p:txBody>
      </p:sp>
      <p:sp>
        <p:nvSpPr>
          <p:cNvPr id="41" name="순서도: 대체 처리 40">
            <a:extLst>
              <a:ext uri="{FF2B5EF4-FFF2-40B4-BE49-F238E27FC236}">
                <a16:creationId xmlns:a16="http://schemas.microsoft.com/office/drawing/2014/main" id="{17EDED7F-57E5-4878-579D-3FC0CE789808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2" name="순서도: 대체 처리 41">
            <a:extLst>
              <a:ext uri="{FF2B5EF4-FFF2-40B4-BE49-F238E27FC236}">
                <a16:creationId xmlns:a16="http://schemas.microsoft.com/office/drawing/2014/main" id="{FAC5538B-7894-05B7-71EA-B61269ECA4BA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DF5946-4141-200C-9EB1-FEF0FC732960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DB1F01-0ABA-0E6A-382D-DE4CCE29D524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23F3D04-669B-8416-4BDB-49D26E02394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80642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930850"/>
              </p:ext>
            </p:extLst>
          </p:nvPr>
        </p:nvGraphicFramePr>
        <p:xfrm>
          <a:off x="1362434" y="2723018"/>
          <a:ext cx="6732000" cy="2709452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0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6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인공지능 소개 및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 과목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인공지능 소개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기계학습과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딥러닝의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차이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이해</a:t>
                      </a:r>
                      <a:endParaRPr lang="ko-KR" altLang="en-US" sz="10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0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컴퓨터 비전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 과목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컴퓨터 비전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CV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소개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Feature Detection, </a:t>
                      </a:r>
                      <a:r>
                        <a:rPr lang="en-US" altLang="ko-KR" sz="10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Multiview</a:t>
                      </a:r>
                      <a:r>
                        <a:rPr lang="en-US" altLang="ko-KR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geometry,</a:t>
                      </a:r>
                      <a:r>
                        <a:rPr lang="en-US" altLang="ko-KR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br>
                        <a:rPr lang="en-US" altLang="ko-KR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               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Convolutional Neural Network,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Object Recognition</a:t>
                      </a:r>
                      <a:endParaRPr lang="en-US" altLang="ko-KR" sz="10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r>
                        <a:rPr lang="ko-KR" altLang="en-US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퍼셉트론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다층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퍼셉트론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(MLP), Universal approximation theorem,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            </a:t>
                      </a:r>
                      <a:r>
                        <a:rPr lang="en-US" altLang="ko-KR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Back propagation and gradient descent, CNN</a:t>
                      </a:r>
                      <a:r>
                        <a:rPr lang="ko-KR" altLang="en-US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소개</a:t>
                      </a:r>
                      <a:r>
                        <a:rPr lang="en-US" altLang="ko-KR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Vision Transformer, </a:t>
                      </a:r>
                      <a:br>
                        <a:rPr lang="en-US" altLang="ko-KR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            </a:t>
                      </a:r>
                      <a:r>
                        <a:rPr lang="ko-KR" altLang="en-US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학습이론</a:t>
                      </a:r>
                      <a:r>
                        <a:rPr lang="en-US" altLang="ko-KR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신경망 구조</a:t>
                      </a:r>
                      <a:endParaRPr lang="ko-KR" altLang="en-US" sz="10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37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자연어 처리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개 과목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indent="-8890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자연어 처리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초거대 </a:t>
                      </a:r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언어모델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                    </a:t>
                      </a:r>
                      <a:r>
                        <a:rPr lang="ko-KR" altLang="en-US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텍스트 분류</a:t>
                      </a:r>
                      <a:r>
                        <a:rPr lang="en-US" altLang="ko-KR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기계독해</a:t>
                      </a:r>
                      <a:r>
                        <a:rPr lang="en-US" altLang="ko-KR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상식추론</a:t>
                      </a:r>
                      <a:r>
                        <a:rPr lang="en-US" altLang="ko-KR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트랜스포머</a:t>
                      </a:r>
                      <a:r>
                        <a:rPr lang="en-US" altLang="ko-KR" sz="10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언어모델</a:t>
                      </a:r>
                      <a:endParaRPr lang="ko-KR" altLang="en-US" sz="10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0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강화학습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이상탐지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 과목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강화학습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기초 및 응용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심층강화학습과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로봇학습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기계학습과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활용한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이상탐지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644265"/>
                  </a:ext>
                </a:extLst>
              </a:tr>
              <a:tr h="41200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최신 인공지능 동향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 과목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indent="-8890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Continual Learning, Neuroimaging Analyses and Applications</a:t>
                      </a:r>
                    </a:p>
                    <a:p>
                      <a:pPr marL="88900" indent="-8890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지식증류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기반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액티브러닝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부스터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6900" y="230475"/>
            <a:ext cx="26068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[AX]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인공지능기술 개론</a:t>
            </a:r>
            <a:endParaRPr lang="en-US" altLang="ko-KR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31444" y="1712391"/>
            <a:ext cx="4116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90488" marR="0" lvl="0" indent="-90488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ko-KR" altLang="en-US" dirty="0">
                <a:latin typeface="Arial Narrow" panose="020B0606020202030204" pitchFamily="34" charset="0"/>
              </a:rPr>
              <a:t>인공지능의 여러 하위 분야에 대한 기술적인 소개와 컴퓨터 비전</a:t>
            </a:r>
            <a:r>
              <a:rPr lang="en-US" altLang="ko-KR" dirty="0">
                <a:latin typeface="Arial Narrow" panose="020B0606020202030204" pitchFamily="34" charset="0"/>
              </a:rPr>
              <a:t>, </a:t>
            </a:r>
          </a:p>
          <a:p>
            <a:r>
              <a:rPr lang="ko-KR" altLang="en-US" dirty="0">
                <a:latin typeface="Arial Narrow" panose="020B0606020202030204" pitchFamily="34" charset="0"/>
              </a:rPr>
              <a:t>자연어 처리</a:t>
            </a:r>
            <a:r>
              <a:rPr lang="en-US" altLang="ko-KR" dirty="0">
                <a:latin typeface="Arial Narrow" panose="020B0606020202030204" pitchFamily="34" charset="0"/>
              </a:rPr>
              <a:t>, </a:t>
            </a:r>
            <a:r>
              <a:rPr lang="ko-KR" altLang="en-US" dirty="0">
                <a:latin typeface="Arial Narrow" panose="020B0606020202030204" pitchFamily="34" charset="0"/>
              </a:rPr>
              <a:t>데이터 분석과 더불어 인공지능을 가능하게 하는 </a:t>
            </a:r>
            <a:endParaRPr lang="en-US" altLang="ko-KR" dirty="0">
              <a:latin typeface="Arial Narrow" panose="020B0606020202030204" pitchFamily="34" charset="0"/>
            </a:endParaRPr>
          </a:p>
          <a:p>
            <a:r>
              <a:rPr lang="ko-KR" altLang="en-US" dirty="0">
                <a:latin typeface="Arial Narrow" panose="020B0606020202030204" pitchFamily="34" charset="0"/>
              </a:rPr>
              <a:t>핵심 응용기술을</a:t>
            </a:r>
            <a:r>
              <a:rPr lang="en-US" altLang="ko-KR" dirty="0">
                <a:latin typeface="Arial Narrow" panose="020B0606020202030204" pitchFamily="34" charset="0"/>
              </a:rPr>
              <a:t> </a:t>
            </a:r>
            <a:r>
              <a:rPr lang="ko-KR" altLang="en-US" dirty="0">
                <a:latin typeface="Arial Narrow" panose="020B0606020202030204" pitchFamily="34" charset="0"/>
              </a:rPr>
              <a:t>습득할 수 있음</a:t>
            </a:r>
            <a:endParaRPr lang="en-US" altLang="ko-KR" dirty="0">
              <a:latin typeface="Arial Narrow" panose="020B060602020203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63" name="직선 연결선 62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그림 8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96454" y="1708880"/>
            <a:ext cx="542026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13</a:t>
            </a:r>
            <a:r>
              <a:rPr lang="ko-KR" altLang="en-US" dirty="0">
                <a:ea typeface="LG스마트체2.0 Regular" panose="020B0600000101010101" pitchFamily="50" charset="-127"/>
              </a:rPr>
              <a:t>주</a:t>
            </a:r>
            <a:endParaRPr lang="en-US" altLang="ko-KR" dirty="0">
              <a:ea typeface="LG스마트체2.0 Regular" panose="020B0600000101010101" pitchFamily="50" charset="-127"/>
            </a:endParaRPr>
          </a:p>
          <a:p>
            <a:r>
              <a:rPr lang="en-US" altLang="ko-KR" dirty="0">
                <a:ea typeface="LG스마트체2.0 Regular" panose="020B0600000101010101" pitchFamily="50" charset="-127"/>
              </a:rPr>
              <a:t>(2.5hr/</a:t>
            </a:r>
            <a:r>
              <a:rPr lang="ko-KR" altLang="en-US" dirty="0">
                <a:ea typeface="LG스마트체2.0 Regular" panose="020B0600000101010101" pitchFamily="50" charset="-127"/>
              </a:rPr>
              <a:t>주</a:t>
            </a:r>
            <a:r>
              <a:rPr lang="en-US" altLang="ko-KR" dirty="0">
                <a:ea typeface="LG스마트체2.0 Regular" panose="020B0600000101010101" pitchFamily="50" charset="-127"/>
              </a:rPr>
              <a:t>)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049710" y="1636561"/>
            <a:ext cx="581747" cy="60016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직무</a:t>
            </a:r>
            <a:endParaRPr lang="en-US" altLang="ko-KR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</a:t>
            </a: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간접</a:t>
            </a:r>
            <a:endParaRPr lang="en-US" altLang="ko-KR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인력</a:t>
            </a:r>
            <a:endParaRPr lang="en-US" altLang="ko-KR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101" name="그림 100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3365" y="531352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1199555" y="547595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312391" y="5571376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연세대 인공지능대학원 교수진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73" name="직선 연결선 72"/>
          <p:cNvCxnSpPr/>
          <p:nvPr/>
        </p:nvCxnSpPr>
        <p:spPr>
          <a:xfrm>
            <a:off x="1199555" y="591590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둥근 직사각형 73"/>
          <p:cNvSpPr/>
          <p:nvPr/>
        </p:nvSpPr>
        <p:spPr>
          <a:xfrm>
            <a:off x="1515382" y="6035354"/>
            <a:ext cx="3213052" cy="706106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5053804" y="6035354"/>
            <a:ext cx="3830220" cy="706106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1370471" y="603535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4900856" y="604829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329386" y="607686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859771" y="608688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57468" y="6002818"/>
            <a:ext cx="3653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13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과목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(13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으로 구성하여 과목별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3hr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수업으로 진행되며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희망하는 과목을 선택적으로 수강 신청할 수 있음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※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비번 설정되어 있어 희망하시는 분은 담당자에게 연락필요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785376" y="6002818"/>
            <a:ext cx="3040035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LGD AMP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과정내 필수 공통 프로그램으로서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직무를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직간접적으로 수행하는 구성원도 과목별 수강 신청할 수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있도록 오픈한 과정이며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중급수준의 내용으로 기본적인 인공지능관련 지식을 가지고 있는 분에게 적합함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인공지능 입문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 수준의 인원에게는 어렵다는 반응 有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3365" y="575346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80656" y="261077"/>
            <a:ext cx="294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dirty="0">
                <a:latin typeface="Arial Narrow" panose="020B0606020202030204" pitchFamily="34" charset="0"/>
              </a:rPr>
              <a:t>*   (LGD AMP) </a:t>
            </a:r>
            <a:r>
              <a:rPr lang="ko-KR" altLang="en-US" dirty="0">
                <a:latin typeface="Arial Narrow" panose="020B0606020202030204" pitchFamily="34" charset="0"/>
              </a:rPr>
              <a:t>인공지능기술 </a:t>
            </a:r>
            <a:r>
              <a:rPr lang="en-US" altLang="ko-KR" dirty="0">
                <a:latin typeface="Arial Narrow" panose="020B0606020202030204" pitchFamily="34" charset="0"/>
              </a:rPr>
              <a:t>Virtual Class </a:t>
            </a:r>
            <a:r>
              <a:rPr lang="ko-KR" altLang="en-US" dirty="0">
                <a:latin typeface="Arial Narrow" panose="020B0606020202030204" pitchFamily="34" charset="0"/>
              </a:rPr>
              <a:t>녹화영상으로 </a:t>
            </a:r>
            <a:br>
              <a:rPr lang="en-US" altLang="ko-KR" dirty="0">
                <a:latin typeface="Arial Narrow" panose="020B0606020202030204" pitchFamily="34" charset="0"/>
              </a:rPr>
            </a:br>
            <a:r>
              <a:rPr lang="en-US" altLang="ko-KR" dirty="0">
                <a:latin typeface="Arial Narrow" panose="020B0606020202030204" pitchFamily="34" charset="0"/>
              </a:rPr>
              <a:t>   Smart</a:t>
            </a:r>
            <a:r>
              <a:rPr lang="ko-KR" altLang="en-US" dirty="0">
                <a:latin typeface="Arial Narrow" panose="020B0606020202030204" pitchFamily="34" charset="0"/>
              </a:rPr>
              <a:t> </a:t>
            </a:r>
            <a:r>
              <a:rPr lang="en-US" altLang="ko-KR" dirty="0">
                <a:latin typeface="Arial Narrow" panose="020B0606020202030204" pitchFamily="34" charset="0"/>
              </a:rPr>
              <a:t>HRD</a:t>
            </a:r>
            <a:r>
              <a:rPr lang="ko-KR" altLang="en-US" dirty="0">
                <a:latin typeface="Arial Narrow" panose="020B0606020202030204" pitchFamily="34" charset="0"/>
              </a:rPr>
              <a:t>에서   </a:t>
            </a:r>
            <a:r>
              <a:rPr lang="en-US" altLang="ko-KR" dirty="0">
                <a:latin typeface="Arial Narrow" panose="020B0606020202030204" pitchFamily="34" charset="0"/>
              </a:rPr>
              <a:t>LETO </a:t>
            </a:r>
            <a:r>
              <a:rPr lang="ko-KR" altLang="en-US" dirty="0">
                <a:latin typeface="Arial Narrow" panose="020B0606020202030204" pitchFamily="34" charset="0"/>
              </a:rPr>
              <a:t>명으로 검색하여 접속 가능함 </a:t>
            </a:r>
            <a:r>
              <a:rPr lang="en-US" altLang="ko-KR" dirty="0">
                <a:latin typeface="Arial Narrow" panose="020B0606020202030204" pitchFamily="34" charset="0"/>
              </a:rPr>
              <a:t>(</a:t>
            </a:r>
            <a:r>
              <a:rPr lang="ko-KR" altLang="en-US" dirty="0">
                <a:latin typeface="Arial Narrow" panose="020B0606020202030204" pitchFamily="34" charset="0"/>
              </a:rPr>
              <a:t>비번 있음</a:t>
            </a:r>
            <a:r>
              <a:rPr lang="en-US" altLang="ko-KR" dirty="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78468F8C-F400-B0FA-5010-E1AD7B2B48B3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2AF9FEBD-1D65-5B1A-5544-9BD3C76C2DD1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CB79C-E2BE-015C-B288-1E8EC01B7498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5438C-8AED-A0DB-AA4F-6E12930A8250}"/>
              </a:ext>
            </a:extLst>
          </p:cNvPr>
          <p:cNvSpPr txBox="1"/>
          <p:nvPr/>
        </p:nvSpPr>
        <p:spPr>
          <a:xfrm>
            <a:off x="8717723" y="511962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 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8E2D445-D22D-B127-6BAD-A1BE24873636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13AEFC9-9653-62F2-B1D0-0651ABDC84B5}"/>
              </a:ext>
            </a:extLst>
          </p:cNvPr>
          <p:cNvSpPr/>
          <p:nvPr/>
        </p:nvSpPr>
        <p:spPr>
          <a:xfrm>
            <a:off x="2626863" y="3325873"/>
            <a:ext cx="5365102" cy="9472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반영여부 검토 필요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86396-024A-C6BB-9A8A-AEF8CCEE95D5}"/>
              </a:ext>
            </a:extLst>
          </p:cNvPr>
          <p:cNvSpPr txBox="1"/>
          <p:nvPr/>
        </p:nvSpPr>
        <p:spPr>
          <a:xfrm>
            <a:off x="3842587" y="170327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(On-Line)</a:t>
            </a:r>
            <a:endParaRPr lang="ko-KR" altLang="en-US" sz="1100" b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89468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4815" y="230475"/>
            <a:ext cx="4455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Coreman Advanced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구독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17996" y="1712392"/>
            <a:ext cx="4414192" cy="81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0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ea typeface="LG스마트체2.0 Regular" panose="020B0600000101010101" pitchFamily="50" charset="-127"/>
              </a:rPr>
              <a:t>인공지능</a:t>
            </a:r>
            <a:r>
              <a:rPr lang="en-US" altLang="ko-KR" dirty="0">
                <a:ea typeface="LG스마트체2.0 Regular" panose="020B0600000101010101" pitchFamily="50" charset="-127"/>
              </a:rPr>
              <a:t>(AI) </a:t>
            </a:r>
            <a:r>
              <a:rPr lang="ko-KR" altLang="en-US" dirty="0">
                <a:ea typeface="LG스마트체2.0 Regular" panose="020B0600000101010101" pitchFamily="50" charset="-127"/>
              </a:rPr>
              <a:t>및 데이터 분석 분야 중급 이상 인원을 대상으로 </a:t>
            </a: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및</a:t>
            </a:r>
            <a:r>
              <a:rPr lang="en-US" altLang="ko-KR" dirty="0"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ea typeface="LG스마트체2.0 Regular" panose="020B0600000101010101" pitchFamily="50" charset="-127"/>
              </a:rPr>
              <a:t>데이터 사이언스 이론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실무에 대한 심화 학습 기회를 제공함으로써 조직내 </a:t>
            </a: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또는 빅데이터 분석 과제를 발굴하고 이를 실행할 수 있는 역량을 갖추도록 함</a:t>
            </a:r>
            <a:r>
              <a:rPr lang="en-US" altLang="ko-KR" dirty="0">
                <a:ea typeface="LG스마트체2.0 Regular" panose="020B0600000101010101" pitchFamily="50" charset="-127"/>
              </a:rPr>
              <a:t>.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 ; AI </a:t>
            </a:r>
            <a:r>
              <a:rPr lang="ko-KR" altLang="en-US" dirty="0">
                <a:ea typeface="LG스마트체2.0 Regular" panose="020B0600000101010101" pitchFamily="50" charset="-127"/>
              </a:rPr>
              <a:t>직무전환자 및 현업 </a:t>
            </a:r>
            <a:r>
              <a:rPr lang="en-US" altLang="ko-KR" dirty="0"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ea typeface="LG스마트체2.0 Regular" panose="020B0600000101010101" pitchFamily="50" charset="-127"/>
              </a:rPr>
              <a:t>과제 직</a:t>
            </a:r>
            <a:r>
              <a:rPr lang="en-US" altLang="ko-KR" dirty="0"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ea typeface="LG스마트체2.0 Regular" panose="020B0600000101010101" pitchFamily="50" charset="-127"/>
              </a:rPr>
              <a:t>간접 수행 인원에게 권장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919" y="1276319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6019" y="1270743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1186107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5041631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9918" y="2493600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1186108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/>
          <p:cNvGrpSpPr/>
          <p:nvPr/>
        </p:nvGrpSpPr>
        <p:grpSpPr>
          <a:xfrm>
            <a:off x="1186107" y="1550613"/>
            <a:ext cx="3399670" cy="929850"/>
            <a:chOff x="1199555" y="1550613"/>
            <a:chExt cx="3399670" cy="92985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96454" y="1684669"/>
              <a:ext cx="542026" cy="46166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r>
                <a:rPr lang="en-US" altLang="ko-KR" dirty="0">
                  <a:ea typeface="LG스마트체2.0 Regular" panose="020B0600000101010101" pitchFamily="50" charset="-127"/>
                </a:rPr>
                <a:t>100 Hr.</a:t>
              </a:r>
            </a:p>
            <a:p>
              <a:r>
                <a:rPr lang="en-US" altLang="ko-KR" dirty="0">
                  <a:ea typeface="LG스마트체2.0 Regular" panose="020B0600000101010101" pitchFamily="50" charset="-127"/>
                </a:rPr>
                <a:t>(3</a:t>
              </a:r>
              <a:r>
                <a:rPr lang="ko-KR" altLang="en-US" dirty="0">
                  <a:ea typeface="LG스마트체2.0 Regular" panose="020B0600000101010101" pitchFamily="50" charset="-127"/>
                </a:rPr>
                <a:t>개월</a:t>
              </a:r>
              <a:r>
                <a:rPr lang="en-US" altLang="ko-KR" dirty="0">
                  <a:ea typeface="LG스마트체2.0 Regular" panose="020B0600000101010101" pitchFamily="50" charset="-127"/>
                </a:rPr>
                <a:t>)</a:t>
              </a:r>
              <a:endParaRPr lang="ko-KR" altLang="en-US" dirty="0">
                <a:ea typeface="LG스마트체2.0 Regular" panose="020B06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49710" y="1721199"/>
              <a:ext cx="581747" cy="430887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AI </a:t>
              </a:r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중급</a:t>
              </a:r>
              <a:endPara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구성원</a:t>
              </a:r>
            </a:p>
          </p:txBody>
        </p:sp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On-Line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63365" y="521491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1199555" y="537734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12391" y="5472767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3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개월 이러닝 구독 서비스 방식으로 기간내 무제한 교육 수강 가능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(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패스트캠퍼스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)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1199555" y="5817291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모서리가 둥근 직사각형 32"/>
          <p:cNvSpPr/>
          <p:nvPr/>
        </p:nvSpPr>
        <p:spPr>
          <a:xfrm>
            <a:off x="1515382" y="6019019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053804" y="6034525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1370471" y="5936744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4900856" y="5949689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29386" y="597825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59771" y="5988272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57467" y="6041670"/>
            <a:ext cx="35625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개월 이러닝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100hr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수강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+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과제정의서 제출해야 이수가 되므로 단기간내 집중적으로 파이썬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데이터분석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 심화학습을 희망하시는 분에 한해 신청 권장함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 (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미이수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Penalty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급여공제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만원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785376" y="6020753"/>
            <a:ext cx="2800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현업의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Coreman (AX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수행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계획 인원 등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또는 사내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 분석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전문조직으로 직무 전환한 구성원을 대상으로 조기에 업무 적응을 지원할 수 있는 프로그램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3365" y="565485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graphicFrame>
        <p:nvGraphicFramePr>
          <p:cNvPr id="44" name="Group 58">
            <a:extLst>
              <a:ext uri="{FF2B5EF4-FFF2-40B4-BE49-F238E27FC236}">
                <a16:creationId xmlns:a16="http://schemas.microsoft.com/office/drawing/2014/main" id="{E8CD9E32-2C93-A980-0FD4-EEA85C8ED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256903"/>
              </p:ext>
            </p:extLst>
          </p:nvPr>
        </p:nvGraphicFramePr>
        <p:xfrm>
          <a:off x="1370471" y="2812434"/>
          <a:ext cx="6732000" cy="2478208"/>
        </p:xfrm>
        <a:graphic>
          <a:graphicData uri="http://schemas.openxmlformats.org/drawingml/2006/table">
            <a:tbl>
              <a:tblPr/>
              <a:tblGrid>
                <a:gridCol w="18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7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3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프로그래밍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(179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파이썬 기초 및 데이터분석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시각화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파이썬 프로젝트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실습예제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수행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C++, JAVA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등 프로그래밍 언어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한번에 끝내는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AWS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시리즈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대용량 처리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컴퓨터 공학 기초 등 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4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데이터사이언스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머신러닝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딥러닝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(115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데이터분석 이해 및 기초통계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데이터분석 </a:t>
                      </a:r>
                      <a:r>
                        <a:rPr lang="en-US" altLang="ko-KR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Mastet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클래스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 to Z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심화학습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 기반 시계열 데이터 분석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컴퓨터 비전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자연어 처리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강화학습 등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빅데이터 및 통계분석 등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생성형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(83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ChatGPT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스킬업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데이터분석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업무자동화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프롬프트 엔지니어링 기반 프로덕트 개발 등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직무별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ChatGPT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 등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38782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C5ABA445-6124-18DD-CFC6-83E4C6388CFE}"/>
              </a:ext>
            </a:extLst>
          </p:cNvPr>
          <p:cNvSpPr txBox="1"/>
          <p:nvPr/>
        </p:nvSpPr>
        <p:spPr>
          <a:xfrm>
            <a:off x="5662531" y="5494233"/>
            <a:ext cx="8723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57908" latinLnBrk="1"/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 4 or 5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월 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예정</a:t>
            </a: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F53343C2-8E83-6B11-1A8C-5E9F6B531023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순서도: 대체 처리 27">
            <a:extLst>
              <a:ext uri="{FF2B5EF4-FFF2-40B4-BE49-F238E27FC236}">
                <a16:creationId xmlns:a16="http://schemas.microsoft.com/office/drawing/2014/main" id="{8B7D489A-4F7D-FD99-AE2C-93DA8402F2B5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549C5A-D335-BCAC-F1C5-058B8FA9E199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B82F00-3186-C27A-4E0A-5B1894C478A3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7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D4D39BA-2610-CAC6-8320-4A9A01FECCF5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3051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0" y="230475"/>
            <a:ext cx="4602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머신러닝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Master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31443" y="1712391"/>
            <a:ext cx="44289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커서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(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바이브코딩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활용하여 파이썬 기반 데이터 분석 및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전처리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모델링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성능 향상 등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프로세스를 실습하고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 기반 문제 해결 능력과 기초적인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머신러닝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모델을 구현할 수 있다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graphicFrame>
        <p:nvGraphicFramePr>
          <p:cNvPr id="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620982"/>
              </p:ext>
            </p:extLst>
          </p:nvPr>
        </p:nvGraphicFramePr>
        <p:xfrm>
          <a:off x="1370470" y="2812432"/>
          <a:ext cx="7667393" cy="2058898"/>
        </p:xfrm>
        <a:graphic>
          <a:graphicData uri="http://schemas.openxmlformats.org/drawingml/2006/table">
            <a:tbl>
              <a:tblPr/>
              <a:tblGrid>
                <a:gridCol w="2009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8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실무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Process</a:t>
                      </a:r>
                    </a:p>
                    <a:p>
                      <a:pPr algn="ctr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구축 및 기획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전처리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정제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변환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결측치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처리 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EDA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수행 및 결과 보고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실무 </a:t>
                      </a: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Process</a:t>
                      </a:r>
                    </a:p>
                    <a:p>
                      <a:pPr algn="ctr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문제 정의 및 성능 지표 설계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모델 학습 및 교차검증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성능 극대화 전략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모델 해석 및 개선 방향 도출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828974"/>
                  </a:ext>
                </a:extLst>
              </a:tr>
              <a:tr h="69337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머신러닝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운영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배포</a:t>
                      </a:r>
                      <a:b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바이브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코딩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접목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&amp;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운영 시나리오 수립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스크래치코드로 운영 파이프라인 구현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VibeCode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대시보드 제작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커서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운영 모니터링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품질 관리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유지보수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목적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내용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3365" y="49399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강사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1199555" y="51023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대상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교육시간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분류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6454" y="1785823"/>
              <a:ext cx="542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24Hr.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DX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dirty="0" err="1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전사원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교육 유형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Off-Line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12391" y="5197773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외부 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1199555" y="5542297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1515382" y="5683640"/>
            <a:ext cx="3213052" cy="943881"/>
          </a:xfrm>
          <a:prstGeom prst="roundRect">
            <a:avLst>
              <a:gd name="adj" fmla="val 27973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053803" y="5683641"/>
            <a:ext cx="3692997" cy="943880"/>
          </a:xfrm>
          <a:prstGeom prst="roundRect">
            <a:avLst>
              <a:gd name="adj" fmla="val 23031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370471" y="5601366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4900856" y="5614311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9386" y="5703263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59771" y="565289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3365" y="5379863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특징</a:t>
            </a:r>
          </a:p>
        </p:txBody>
      </p:sp>
      <p:sp>
        <p:nvSpPr>
          <p:cNvPr id="45" name="순서도: 대체 처리 44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레벨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6" name="순서도: 대체 처리 45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분야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70AD47">
                    <a:lumMod val="75000"/>
                  </a:srgb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급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3709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EA887D-9D9C-60B1-261B-74F4949CE881}"/>
              </a:ext>
            </a:extLst>
          </p:cNvPr>
          <p:cNvSpPr txBox="1"/>
          <p:nvPr/>
        </p:nvSpPr>
        <p:spPr>
          <a:xfrm>
            <a:off x="1777459" y="5691002"/>
            <a:ext cx="3242036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sz="1000" dirty="0">
                <a:ea typeface="LG스마트체2.0 Regular" panose="020B0600000101010101" pitchFamily="50" charset="-127"/>
              </a:rPr>
              <a:t>대상자 선수학습 요건</a:t>
            </a:r>
            <a:br>
              <a:rPr lang="en-US" altLang="ko-KR" sz="1000" dirty="0">
                <a:ea typeface="LG스마트체2.0 Regular" panose="020B0600000101010101" pitchFamily="50" charset="-127"/>
              </a:rPr>
            </a:br>
            <a:r>
              <a:rPr lang="en-US" altLang="ko-KR" sz="1000" dirty="0"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파이썬 코딩 활용 초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중급 </a:t>
            </a:r>
            <a:br>
              <a:rPr lang="en-US" altLang="ko-KR" sz="1000" dirty="0">
                <a:ea typeface="LG스마트체2.0 Regular" panose="020B0600000101010101" pitchFamily="50" charset="-127"/>
              </a:rPr>
            </a:br>
            <a:r>
              <a:rPr lang="en-US" altLang="ko-KR" sz="1000" dirty="0">
                <a:ea typeface="LG스마트체2.0 Regular" panose="020B0600000101010101" pitchFamily="50" charset="-127"/>
              </a:rPr>
              <a:t>   (</a:t>
            </a:r>
            <a:r>
              <a:rPr lang="en-US" altLang="ko-KR" sz="1000" dirty="0" err="1">
                <a:ea typeface="LG스마트체2.0 Regular" panose="020B0600000101010101" pitchFamily="50" charset="-127"/>
              </a:rPr>
              <a:t>Numpy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/Pandas, Matplotlib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사용 경험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)</a:t>
            </a:r>
            <a:br>
              <a:rPr lang="en-US" altLang="ko-KR" sz="1000" dirty="0">
                <a:ea typeface="LG스마트체2.0 Regular" panose="020B0600000101010101" pitchFamily="50" charset="-127"/>
              </a:rPr>
            </a:br>
            <a:r>
              <a:rPr lang="en-US" altLang="ko-KR" sz="1000" dirty="0">
                <a:ea typeface="LG스마트체2.0 Regular" panose="020B0600000101010101" pitchFamily="50" charset="-127"/>
              </a:rPr>
              <a:t>- </a:t>
            </a:r>
            <a:r>
              <a:rPr lang="ko-KR" altLang="en-US" sz="1000" dirty="0" err="1">
                <a:ea typeface="LG스마트체2.0 Regular" panose="020B0600000101010101" pitchFamily="50" charset="-127"/>
              </a:rPr>
              <a:t>머신러닝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 개념 및 알고리즘 이매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, Scikit-learn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활용 경험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26E063-3A04-E254-B54D-1B77367DF77B}"/>
              </a:ext>
            </a:extLst>
          </p:cNvPr>
          <p:cNvSpPr txBox="1"/>
          <p:nvPr/>
        </p:nvSpPr>
        <p:spPr>
          <a:xfrm>
            <a:off x="5344865" y="5656786"/>
            <a:ext cx="3692998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sz="1000" dirty="0">
                <a:ea typeface="LG스마트체2.0 Regular" panose="020B0600000101010101" pitchFamily="50" charset="-127"/>
              </a:rPr>
              <a:t>노트북 지참 필요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(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실습 목적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)</a:t>
            </a: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sz="1000" dirty="0" err="1">
                <a:ea typeface="LG스마트체2.0 Regular" panose="020B0600000101010101" pitchFamily="50" charset="-127"/>
              </a:rPr>
              <a:t>바이브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 코딩 활용을 통한 </a:t>
            </a:r>
            <a:r>
              <a:rPr lang="ko-KR" altLang="en-US" sz="1000" dirty="0" err="1">
                <a:ea typeface="LG스마트체2.0 Regular" panose="020B0600000101010101" pitchFamily="50" charset="-127"/>
              </a:rPr>
              <a:t>머신러닝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 프로세스 수행 실습</a:t>
            </a:r>
            <a:br>
              <a:rPr lang="en-US" altLang="ko-KR" sz="1000" dirty="0">
                <a:ea typeface="LG스마트체2.0 Regular" panose="020B0600000101010101" pitchFamily="50" charset="-127"/>
              </a:rPr>
            </a:br>
            <a:r>
              <a:rPr lang="ko-KR" altLang="en-US" sz="1000" dirty="0">
                <a:ea typeface="LG스마트체2.0 Regular" panose="020B0600000101010101" pitchFamily="50" charset="-127"/>
              </a:rPr>
              <a:t>프로그램임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.</a:t>
            </a: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커서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가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 클라우드내 사용할 수 있는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바이브코딩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(Hi-D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코드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와 사용방법 유사함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*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스킬 학습 후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Hi-D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코드 활용 용이하도록 함</a:t>
            </a:r>
            <a:endParaRPr lang="ko-KR" altLang="en-US" sz="1000" dirty="0">
              <a:ea typeface="LG스마트체2.0 Regular" panose="020B0600000101010101" pitchFamily="50" charset="-127"/>
            </a:endParaRPr>
          </a:p>
        </p:txBody>
      </p:sp>
      <p:sp>
        <p:nvSpPr>
          <p:cNvPr id="34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AB5B8BF-FC2B-774B-7BC8-18CD74E101A8}"/>
              </a:ext>
            </a:extLst>
          </p:cNvPr>
          <p:cNvSpPr/>
          <p:nvPr/>
        </p:nvSpPr>
        <p:spPr>
          <a:xfrm>
            <a:off x="9560378" y="6512943"/>
            <a:ext cx="196097" cy="24622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3076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0" y="230475"/>
            <a:ext cx="3867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AI Project Design Course</a:t>
            </a:r>
          </a:p>
        </p:txBody>
      </p:sp>
      <p:graphicFrame>
        <p:nvGraphicFramePr>
          <p:cNvPr id="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683708"/>
              </p:ext>
            </p:extLst>
          </p:nvPr>
        </p:nvGraphicFramePr>
        <p:xfrm>
          <a:off x="1370471" y="2633133"/>
          <a:ext cx="6732000" cy="2535573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ML/DL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분야</a:t>
                      </a:r>
                    </a:p>
                    <a:p>
                      <a:pPr marL="0" algn="ctr" defTabSz="914400" rtl="0" eaLnBrk="1" latinLnBrk="1" hangingPunct="1"/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사전 온라인교육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머신러닝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딥러닝의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기본 개념과 원리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주요 알고리즘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예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회귀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분류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군집화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및 모델링 기법 이해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3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프로젝트</a:t>
                      </a:r>
                    </a:p>
                    <a:p>
                      <a:pPr marL="0" algn="ctr" defTabSz="914400" rtl="0" eaLnBrk="1" latinLnBrk="1" hangingPunct="1"/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사례 분석 실습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계열사 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프로젝트 사례 분석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사례 별 데이터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전처리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및 모델링 과정 실습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실제 프로젝트에서 발생할 수 있는 문제 해결 방법 탐구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13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프로젝트</a:t>
                      </a:r>
                    </a:p>
                    <a:p>
                      <a:pPr marL="0" algn="ctr" defTabSz="914400" rtl="0" eaLnBrk="1" latinLnBrk="1" hangingPunct="1"/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기획 과제 수행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프로젝트 목표 설정 및 요구사항 분석 방법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 수집 및 분석 계획 수립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프로젝트 결과물 도출 및 발표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3366" y="1159773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9466" y="1154197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199555" y="1319830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5055079" y="1308150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3365" y="237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199555" y="253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3365" y="518818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1199555" y="535061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199555" y="1434068"/>
            <a:ext cx="3399670" cy="929850"/>
            <a:chOff x="1199555" y="1550613"/>
            <a:chExt cx="3399670" cy="92985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6454" y="1785823"/>
              <a:ext cx="542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24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사무직</a:t>
              </a: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Off-Line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12391" y="5446039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AI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연구원 위탁교육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1199555" y="579056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1515382" y="5931907"/>
            <a:ext cx="3430370" cy="77084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295851" y="5947413"/>
            <a:ext cx="3731608" cy="755342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370471" y="5849632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5142903" y="5862577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9386" y="588877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01818" y="5901160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1747169" y="5978874"/>
            <a:ext cx="3562245" cy="605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ts val="900"/>
              </a:lnSpc>
              <a:spcBef>
                <a:spcPts val="401"/>
              </a:spcBef>
            </a:pP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- </a:t>
            </a:r>
            <a:r>
              <a:rPr lang="ko-KR" altLang="en-US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파이썬 코딩 활용 실습과정으로 </a:t>
            </a:r>
            <a:r>
              <a:rPr lang="ko-KR" altLang="en-US" u="sng" dirty="0">
                <a:solidFill>
                  <a:srgbClr val="C00000"/>
                </a:solidFill>
                <a:ea typeface="LG스마트체2.0 Regular" panose="020B0600000101010101" pitchFamily="50" charset="-127"/>
              </a:rPr>
              <a:t>파이썬 코딩 경험 필수</a:t>
            </a:r>
          </a:p>
          <a:p>
            <a:pPr>
              <a:lnSpc>
                <a:spcPts val="900"/>
              </a:lnSpc>
              <a:spcBef>
                <a:spcPts val="401"/>
              </a:spcBef>
            </a:pPr>
            <a:r>
              <a:rPr lang="ko-KR" altLang="en-US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    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→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파이썬 코딩을 활용하여 간단한 데이터 분석 진행가능 수준</a:t>
            </a:r>
            <a:b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</a:b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- AI </a:t>
            </a:r>
            <a:r>
              <a:rPr lang="ko-KR" altLang="en-US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기술을 활용해 현업 이슈를 해결 하고자 하는 구성원으로서</a:t>
            </a:r>
            <a:b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</a:b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    </a:t>
            </a:r>
            <a:r>
              <a:rPr lang="ko-KR" altLang="en-US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 </a:t>
            </a:r>
            <a:r>
              <a:rPr lang="ko-KR" altLang="en-US" dirty="0" err="1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머신러닝</a:t>
            </a:r>
            <a:r>
              <a:rPr lang="ko-KR" altLang="en-US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 초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solidFill>
                  <a:prstClr val="black">
                    <a:lumMod val="85000"/>
                    <a:lumOff val="15000"/>
                  </a:prstClr>
                </a:solidFill>
                <a:ea typeface="LG스마트체2.0 Regular" panose="020B0600000101010101" pitchFamily="50" charset="-127"/>
              </a:rPr>
              <a:t>중급 수준의 이론 지식을 보유하고 있는 분에게 적합</a:t>
            </a:r>
            <a:endParaRPr lang="en-US" altLang="ko-KR" dirty="0">
              <a:solidFill>
                <a:prstClr val="black">
                  <a:lumMod val="85000"/>
                  <a:lumOff val="15000"/>
                </a:prstClr>
              </a:solidFill>
              <a:ea typeface="LG스마트체2.0 Regular" panose="020B060000010101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591613" y="5935147"/>
            <a:ext cx="3347713" cy="323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spcBef>
                <a:spcPts val="401"/>
              </a:spcBef>
            </a:pPr>
            <a:r>
              <a:rPr lang="en-US" altLang="ko-KR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교육장소는 마곡 </a:t>
            </a:r>
            <a:r>
              <a:rPr lang="en-US" altLang="ko-KR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 교육장이며</a:t>
            </a:r>
            <a:r>
              <a:rPr lang="en-US" altLang="ko-KR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br>
              <a:rPr lang="en-US" altLang="ko-KR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AI </a:t>
            </a:r>
            <a:r>
              <a:rPr lang="ko-KR" alt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 안내문 접수 후</a:t>
            </a:r>
            <a:r>
              <a:rPr lang="en-US" altLang="ko-KR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조직 별 대상자 선정 요청 예정임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365" y="562812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37" name="순서도: 대체 처리 36">
            <a:extLst>
              <a:ext uri="{FF2B5EF4-FFF2-40B4-BE49-F238E27FC236}">
                <a16:creationId xmlns:a16="http://schemas.microsoft.com/office/drawing/2014/main" id="{555F94E7-3E15-66EB-CC89-B094038D6762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순서도: 대체 처리 37">
            <a:extLst>
              <a:ext uri="{FF2B5EF4-FFF2-40B4-BE49-F238E27FC236}">
                <a16:creationId xmlns:a16="http://schemas.microsoft.com/office/drawing/2014/main" id="{3175CE13-4C69-B781-C2E2-D284CF223303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A49FE5-F222-A187-FF7B-C216C67384B9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7B9779-6040-5076-5211-C66808C00B0A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1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B3C6448-79C9-2E51-E643-D3B6A7F0FCB9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732A41-9478-0C4F-05DF-DA08ED65F7F5}"/>
              </a:ext>
            </a:extLst>
          </p:cNvPr>
          <p:cNvSpPr txBox="1"/>
          <p:nvPr/>
        </p:nvSpPr>
        <p:spPr>
          <a:xfrm>
            <a:off x="6328534" y="473968"/>
            <a:ext cx="18614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“’</a:t>
            </a:r>
            <a:r>
              <a:rPr lang="ko-KR" altLang="en-US" sz="1200" i="1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조직별</a:t>
            </a:r>
            <a:r>
              <a:rPr lang="ko-KR" altLang="en-US" sz="1200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대상자 선발요청</a:t>
            </a:r>
            <a:r>
              <a:rPr lang="en-US" altLang="ko-KR" sz="1200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1200" i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2CD5E7-8AD3-D043-A09A-E4F9CB10890B}"/>
              </a:ext>
            </a:extLst>
          </p:cNvPr>
          <p:cNvSpPr txBox="1"/>
          <p:nvPr/>
        </p:nvSpPr>
        <p:spPr>
          <a:xfrm>
            <a:off x="4998598" y="1636631"/>
            <a:ext cx="49074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최신 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기술을 활용하여 실제 문제를 해결한 다양한 계열사 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프로젝트 사례 </a:t>
            </a:r>
            <a:b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분석 실습을 통해 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프로젝트 구조와 의사결정단계에 대한 이해도를 높이고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b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직접 프로젝트 기획을 해봄으로써 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PM</a:t>
            </a:r>
            <a:r>
              <a:rPr lang="ko-KR" altLang="en-US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으로서의 실무 프로젝트 기획 역량을 높일 수 있다</a:t>
            </a:r>
            <a:r>
              <a:rPr lang="en-US" altLang="ko-KR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55420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7190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딥러닝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Project Challenge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98530" y="1707385"/>
            <a:ext cx="4314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딥러닝 실행을 위한 심층 신경망 등 인공지능 주요 내용을 학습하고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이를 바탕으로  시계열 데이터를 활용한 딥러닝 분류 모델 평가 과제 수행을 통해 현업에서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과제를 발굴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적용할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273218"/>
              </p:ext>
            </p:extLst>
          </p:nvPr>
        </p:nvGraphicFramePr>
        <p:xfrm>
          <a:off x="1370471" y="2812434"/>
          <a:ext cx="6732000" cy="2665692"/>
        </p:xfrm>
        <a:graphic>
          <a:graphicData uri="http://schemas.openxmlformats.org/drawingml/2006/table">
            <a:tbl>
              <a:tblPr/>
              <a:tblGrid>
                <a:gridCol w="163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19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인공지능 수학기초 및 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머신러너의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이해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Vector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Matrix,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미분과 최적화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확률 통계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Linear regression, Linear classifier, Logistic regression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Decision tree, Hidden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markov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model, Random forest,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Adaboost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SVM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9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디지털 신호처리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심층신경망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/CNN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이해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Time Domain Analysis of Discrete Systems/Discrete Time Fourier Series and Transform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Single layer perceptron (SLP), Multi-layer perceptron (MLP)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Classification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을 위한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Convolutional neural network (CNN)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모델의 동작 이해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983976"/>
                  </a:ext>
                </a:extLst>
              </a:tr>
              <a:tr h="4530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시계열 데이터 처리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/RNN/Transformer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이해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시계열 데이터 구조의 이해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시계열 데이터를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전처리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기법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Recurrent neural network (RNN) / Transformer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동작 이해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500133"/>
                  </a:ext>
                </a:extLst>
              </a:tr>
              <a:tr h="4239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시계열 데이터 처리 기법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RNN / CNN / Transformer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활용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모델 최적화 및 훈련기법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8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Project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수행 및 결과 발표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(or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Project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수행결과 공유 및 피드백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*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교육종료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 후 발표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8298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개요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8856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60481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1515382" y="6203586"/>
            <a:ext cx="3213052" cy="581882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053804" y="6219092"/>
            <a:ext cx="3213052" cy="581882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370471" y="61675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900856" y="61805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29386" y="62090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59771" y="62190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85322" y="6175700"/>
            <a:ext cx="29431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본 과정은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Python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코딩 중급이상이면서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기반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AX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과제를 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간접적으로 수행한 경험이 있는 분에게 적합한 과정이며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,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Smart HRD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수강신청화면에서 참가자 최소 필요 지식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스킬 확인바랍니다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.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69967" y="6260338"/>
            <a:ext cx="2825358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- 4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일 교육 기간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, 1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일 기준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 4.5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시간 이론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/ 3.5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시간 실습 방식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교육종료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주 후 조별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rPr>
              <a:t>딥러닝 과제 수행 후 발표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목적</a:t>
            </a:r>
          </a:p>
        </p:txBody>
      </p:sp>
      <p:cxnSp>
        <p:nvCxnSpPr>
          <p:cNvPr id="44" name="직선 연결선 43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대상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교육시간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분류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196454" y="1801212"/>
              <a:ext cx="542026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F3F41"/>
                  </a:solidFill>
                  <a:effectLst/>
                  <a:uLnTx/>
                  <a:uFillTx/>
                  <a:ea typeface="LG스마트체2.0 Regular" panose="020B0600000101010101" pitchFamily="50" charset="-127"/>
                  <a:cs typeface="+mn-cs"/>
                </a:rPr>
                <a:t>34 Hr.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3F41"/>
                </a:solidFill>
                <a:effectLst/>
                <a:uLnTx/>
                <a:uFillTx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AX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사무직</a:t>
              </a:r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>
                          <a:lumMod val="50000"/>
                        </a:prstClr>
                      </a:gs>
                      <a:gs pos="100000">
                        <a:prstClr val="white">
                          <a:lumMod val="50000"/>
                        </a:prst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교육 유형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842587" y="1721200"/>
              <a:ext cx="756638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Virtual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 Narrow" panose="020B0606020202030204" pitchFamily="34" charset="0"/>
                  <a:ea typeface="LG스마트체2.0 Regular" panose="020B0600000101010101" pitchFamily="50" charset="-127"/>
                  <a:cs typeface="+mn-cs"/>
                </a:rPr>
                <a:t>Class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663365" y="550479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강사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1199555" y="566722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312391" y="5728145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동국대학교 조성인 교수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3671D0EA-F81A-38EF-B906-E691C1952103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97FD6968-7B8B-3CC5-4325-9F7CC1A99636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D61FB-AC87-7988-9813-8FA55A316BFE}"/>
              </a:ext>
            </a:extLst>
          </p:cNvPr>
          <p:cNvSpPr txBox="1"/>
          <p:nvPr/>
        </p:nvSpPr>
        <p:spPr>
          <a:xfrm>
            <a:off x="8711970" y="281924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중고급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286EF-65A3-16EC-21D2-47E9B35041F8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1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5DDAB20-B70B-6472-DDE2-5DC408674455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40985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1704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기본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494" y="1633453"/>
            <a:ext cx="4388895" cy="263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lnSpc>
                <a:spcPct val="120000"/>
              </a:lnSpc>
              <a:defRPr/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Display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알고리즘 개발을 위해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영상처리 기본 이론 및 기법을 이해할 수 있다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99056"/>
              </p:ext>
            </p:extLst>
          </p:nvPr>
        </p:nvGraphicFramePr>
        <p:xfrm>
          <a:off x="1370471" y="2812434"/>
          <a:ext cx="6732000" cy="2578279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2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영상 처리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기초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디지털 영상 처리 기초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카메라 영상 획득 및 디스플레이 출력 원리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영상 처리 기본 개념 및 용어 이해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Gamma correction, Calibration</a:t>
                      </a: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5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공간 및 주파수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영역 영상처리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(5hr)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공간 영역에서의 영상 처리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Histogram processing, Histogram Equalization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주파수 영역에서의 영상 처리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Discrete Cosine Transform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컬러 영상 처리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영상 분할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Color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공간 이해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RGB,YCbCr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Color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공간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Color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영상 처리 기법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Color Quantization, Dithering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형태론 영상처리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영상 압축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형태론 영상처리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Erosion, Dilation, Gray Level Processing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영상 압축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Frame memory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압축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(BTC)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6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Display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영상처리 기법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디스플레이 관련 영상 처리 기법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Up/down scaling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기법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, super resolution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디스플레이 관련 영상 처리 기법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- Contrast enhancement, HDR imaging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45956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785376" y="6119362"/>
            <a:ext cx="28363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업무와 관련이 있으면서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AI/SW/HW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알고리즘 과정을 수강하시는 분은 영상처리 기본 및 실무과정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참가하시기 바랍니다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5" name="직선 연결선 64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그림 6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77" name="그림 7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79" name="그림 7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21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</a:p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Virtual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44364" y="6110399"/>
            <a:ext cx="3028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관련 직무 숙련도에 따라 본 과정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Skip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할 수 있으며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이후 영상처리 실무 과정 바로 수강도 가능함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3365" y="529437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1199555" y="545681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312391" y="5552233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서강대 강석주 교수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60493041-3937-40B8-052C-1264A702E69C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5D1268D7-D8A8-58A0-48B5-CE7CD00DDFE1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0DABB-B127-0BB3-3B31-6D1552E55A7C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C64F0-BE4C-CE86-D8B3-E7E8DBAC60B5}"/>
              </a:ext>
            </a:extLst>
          </p:cNvPr>
          <p:cNvSpPr txBox="1"/>
          <p:nvPr/>
        </p:nvSpPr>
        <p:spPr>
          <a:xfrm>
            <a:off x="8717723" y="511962"/>
            <a:ext cx="785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기초 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79EA2A5-5D5A-826B-6CF9-FB36FFDBDBFD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46553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1704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실무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1137" y="1633453"/>
            <a:ext cx="4847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lnSpc>
                <a:spcPct val="120000"/>
              </a:lnSpc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: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Display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알고리즘 개발을 위해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영상처리 기본 이론과 관련된 실습을 진행함으로써 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  <a:p>
            <a:pPr marL="90488" indent="-90488">
              <a:lnSpc>
                <a:spcPct val="120000"/>
              </a:lnSpc>
              <a:defRPr/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실무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적용도를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향상시킨다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444696"/>
              </p:ext>
            </p:extLst>
          </p:nvPr>
        </p:nvGraphicFramePr>
        <p:xfrm>
          <a:off x="1370471" y="2812434"/>
          <a:ext cx="6732000" cy="2562781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8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 과정 개요 및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실습 준비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실무 과정에 대한 전체 개요 설명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영상 입출력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히스토그램 생성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필터링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등 구현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차 과제 설명</a:t>
                      </a: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차 과제 수행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(3hr)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초급 과제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: Gamma Correction, Quantization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중급 과제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: Histogram Equalization</a:t>
                      </a: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2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핵심 이론 및 실습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I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차 과제 답안 설명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Interpolation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구현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Binary Segmentation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구현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차 과제 설명</a:t>
                      </a: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3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차 과제 수행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(3hr)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초급 과제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: Block Truncation Coding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기법 구현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중급 과제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: Block Truncation Coding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응용 기법 구현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(AMBTC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)</a:t>
                      </a: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핵심 이론 및 실습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II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(4hr)</a:t>
                      </a:r>
                    </a:p>
                  </a:txBody>
                  <a:tcPr marL="2995" marR="2995" marT="2765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차 과제 답안 설명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Edge Detection (Sobel, Laplacian, Non-maximum suppression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주파수 영역 처리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/ Color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공간 변환 구현</a:t>
                      </a:r>
                    </a:p>
                  </a:txBody>
                  <a:tcPr marL="39000" marR="39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45956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72177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588421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1515382" y="608593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053804" y="610144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1370471" y="600366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900856" y="601660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29386" y="604517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59771" y="605519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785376" y="6090487"/>
            <a:ext cx="28363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기본과정 이수 후 영상처리 실무과정을 참가를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권장 드립니다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학습방에서 영상처리 기본 강의영상 수강할 수도 있음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5346894" y="6112738"/>
            <a:ext cx="310833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ctr" latinLnBrk="1">
              <a:defRPr/>
            </a:pP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실습하는 코딩 언어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(Python, </a:t>
            </a:r>
            <a:r>
              <a:rPr lang="en-US" altLang="ko-KR" sz="9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Matlab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C++)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기준으로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b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본인에게 적합한 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를 선택해서 수강바랍니다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 </a:t>
            </a:r>
            <a:b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※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비번 설정되어 있어 희망하시는 분은 담당자에게 연락필요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6" name="직선 연결선 65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그림 67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79" name="그림 7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16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5011" y="291095"/>
            <a:ext cx="4681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Smart HRD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Python, MATLAB, C++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언어별로 구성된</a:t>
            </a:r>
            <a:b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LETO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로 접속하여 자율학습 진행하는 방식임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  ex.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[AX]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영상처리 실무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(Python)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학습정보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3365" y="529437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1199555" y="545681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312391" y="5552233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서강대 강석주 교수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2BDF5EBF-D4C2-ECB5-179C-35684A8B72C8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F4FEE29C-EECA-B233-06A2-93EBCC370DE5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6ABE2-98B1-2CF2-FC5A-FB0B3D27CAD7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1F843-4467-ED5A-165C-83A4C9788CC9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7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69A0619-234E-DE7D-449F-C9F79C5638D3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8161D4-E355-FF8D-3725-2A23CECDD99E}"/>
              </a:ext>
            </a:extLst>
          </p:cNvPr>
          <p:cNvSpPr txBox="1"/>
          <p:nvPr/>
        </p:nvSpPr>
        <p:spPr>
          <a:xfrm>
            <a:off x="3842587" y="170327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(On-Line)</a:t>
            </a:r>
            <a:endParaRPr lang="ko-KR" altLang="en-US" sz="1100" b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48341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223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시각딥러닝을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위한 영상처리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945100"/>
              </p:ext>
            </p:extLst>
          </p:nvPr>
        </p:nvGraphicFramePr>
        <p:xfrm>
          <a:off x="1370471" y="2812434"/>
          <a:ext cx="6732000" cy="2468693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9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vl="0" algn="ctr">
                        <a:defRPr/>
                      </a:pPr>
                      <a:r>
                        <a:rPr lang="ko-KR" altLang="en-US" sz="1000" dirty="0" err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시각딥러닝을</a:t>
                      </a: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위한</a:t>
                      </a:r>
                      <a:endParaRPr lang="en-US" altLang="ko-KR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0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영상처리</a:t>
                      </a:r>
                      <a:endParaRPr lang="en-US" altLang="ko-KR" sz="10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디지털 영상의 기초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영상처리 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컴퓨터 비전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OpenCV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개요와 실습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인공지능의 딥러닝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기계 인식 알고리즘 실습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딥러닝 프레임워크의 이해 및 설치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5. CNN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딥러닝 알고리즘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CNN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을 활용한 이미지 분류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6. CNN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을 활용한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Segmentation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7. YOLO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를 사용한 물체 검출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8.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비전 트랜스포머를 활용한 이미지 분류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비전 트랜스포머 실습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싱글보드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컴퓨터를 위한 리눅스 기초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10.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젯슨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나노 보드 하드웨어 플랫폼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운영 실습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11.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젯슨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나노 보드상의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CNN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구현 실습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12.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젯슨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나노 보드상의 불량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식별기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868408" y="1633453"/>
            <a:ext cx="449628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머신러닝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딥러닝 등 인공지능 기초 이론을 설명할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젯슨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보드 활용을 위한 리눅스를 학습하고 </a:t>
            </a:r>
            <a:r>
              <a:rPr kumimoji="1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젯슨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보드를 사용할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</a:p>
          <a:p>
            <a:pPr marL="90488" lvl="0" indent="-90488">
              <a:lnSpc>
                <a:spcPct val="120000"/>
              </a:lnSpc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인공지능을 사용하여 카메라를 이용한 불량품 분류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검출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영역 분할 등을 </a:t>
            </a:r>
            <a:b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</a:b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수행할 수 있다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.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41" name="순서도: 대체 처리 40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순서도: 대체 처리 42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73709" y="511962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생성형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  <a:noFill/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  <a:noFill/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  <a:noFill/>
        </p:spPr>
      </p:pic>
      <p:sp>
        <p:nvSpPr>
          <p:cNvPr id="55" name="TextBox 54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18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전사원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27BDA0-CF08-63A6-ADEE-363E1549754A}"/>
              </a:ext>
            </a:extLst>
          </p:cNvPr>
          <p:cNvSpPr txBox="1"/>
          <p:nvPr/>
        </p:nvSpPr>
        <p:spPr>
          <a:xfrm>
            <a:off x="663365" y="5727054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B5E44D1-0163-B726-8023-A55A96A6A06E}"/>
              </a:ext>
            </a:extLst>
          </p:cNvPr>
          <p:cNvCxnSpPr/>
          <p:nvPr/>
        </p:nvCxnSpPr>
        <p:spPr>
          <a:xfrm>
            <a:off x="1199555" y="5889488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모서리가 둥근 직사각형 31">
            <a:extLst>
              <a:ext uri="{FF2B5EF4-FFF2-40B4-BE49-F238E27FC236}">
                <a16:creationId xmlns:a16="http://schemas.microsoft.com/office/drawing/2014/main" id="{050E0213-668F-49FD-BEEC-972730AAE83D}"/>
              </a:ext>
            </a:extLst>
          </p:cNvPr>
          <p:cNvSpPr/>
          <p:nvPr/>
        </p:nvSpPr>
        <p:spPr>
          <a:xfrm>
            <a:off x="1515382" y="6091216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8" name="모서리가 둥근 직사각형 32">
            <a:extLst>
              <a:ext uri="{FF2B5EF4-FFF2-40B4-BE49-F238E27FC236}">
                <a16:creationId xmlns:a16="http://schemas.microsoft.com/office/drawing/2014/main" id="{85F5FFCA-FEA5-55FC-FDF6-5991380F8DDD}"/>
              </a:ext>
            </a:extLst>
          </p:cNvPr>
          <p:cNvSpPr/>
          <p:nvPr/>
        </p:nvSpPr>
        <p:spPr>
          <a:xfrm>
            <a:off x="5053804" y="6106722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6731C5A-3192-12C5-8165-100D169EB260}"/>
              </a:ext>
            </a:extLst>
          </p:cNvPr>
          <p:cNvSpPr/>
          <p:nvPr/>
        </p:nvSpPr>
        <p:spPr>
          <a:xfrm>
            <a:off x="1370471" y="6008941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47AA7AE-0796-D1A6-773A-4D8837E0C2F3}"/>
              </a:ext>
            </a:extLst>
          </p:cNvPr>
          <p:cNvSpPr/>
          <p:nvPr/>
        </p:nvSpPr>
        <p:spPr>
          <a:xfrm>
            <a:off x="4900856" y="6021886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38E4DE-C742-D782-7E60-1A0B331AC706}"/>
              </a:ext>
            </a:extLst>
          </p:cNvPr>
          <p:cNvSpPr txBox="1"/>
          <p:nvPr/>
        </p:nvSpPr>
        <p:spPr>
          <a:xfrm>
            <a:off x="1329386" y="6050454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34DD84-68A3-E925-7F48-890E30F39E31}"/>
              </a:ext>
            </a:extLst>
          </p:cNvPr>
          <p:cNvSpPr txBox="1"/>
          <p:nvPr/>
        </p:nvSpPr>
        <p:spPr>
          <a:xfrm>
            <a:off x="4859771" y="6060469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D8E451-C51C-7D35-9665-6EB98708DA56}"/>
              </a:ext>
            </a:extLst>
          </p:cNvPr>
          <p:cNvSpPr txBox="1"/>
          <p:nvPr/>
        </p:nvSpPr>
        <p:spPr>
          <a:xfrm>
            <a:off x="5332646" y="6148373"/>
            <a:ext cx="27880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ea typeface="LG스마트체2.0 Regular" panose="020B0600000101010101" pitchFamily="50" charset="-127"/>
              </a:rPr>
              <a:t>임직원 검색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&gt; 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김대욱 </a:t>
            </a:r>
            <a:r>
              <a:rPr lang="en-US" altLang="ko-KR" sz="1000" dirty="0">
                <a:ea typeface="LG스마트체2.0 Regular" panose="020B0600000101010101" pitchFamily="50" charset="-127"/>
              </a:rPr>
              <a:t>Blog</a:t>
            </a:r>
            <a:r>
              <a:rPr lang="ko-KR" altLang="en-US" sz="1000" dirty="0">
                <a:ea typeface="LG스마트체2.0 Regular" panose="020B0600000101010101" pitchFamily="50" charset="-127"/>
              </a:rPr>
              <a:t>에 수강신청 안내문 상시 게시 되어 있음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92BB05-AC61-964C-294A-3A6456F4AB1B}"/>
              </a:ext>
            </a:extLst>
          </p:cNvPr>
          <p:cNvSpPr txBox="1"/>
          <p:nvPr/>
        </p:nvSpPr>
        <p:spPr>
          <a:xfrm>
            <a:off x="663365" y="534617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22C71DE-2FE1-9FBA-8AEE-6355A7F78C3B}"/>
              </a:ext>
            </a:extLst>
          </p:cNvPr>
          <p:cNvCxnSpPr/>
          <p:nvPr/>
        </p:nvCxnSpPr>
        <p:spPr>
          <a:xfrm>
            <a:off x="1199555" y="550860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CEB8311-4E8C-B41F-9152-32ABA04FDC73}"/>
              </a:ext>
            </a:extLst>
          </p:cNvPr>
          <p:cNvSpPr txBox="1"/>
          <p:nvPr/>
        </p:nvSpPr>
        <p:spPr>
          <a:xfrm>
            <a:off x="1312391" y="5569523"/>
            <a:ext cx="2530196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한국기술교육대학 사외 이러닝 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72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49B485A-1A18-3F57-710C-835B95027E69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8E9BC3-8394-DB8F-667D-15A2F8809037}"/>
              </a:ext>
            </a:extLst>
          </p:cNvPr>
          <p:cNvSpPr txBox="1"/>
          <p:nvPr/>
        </p:nvSpPr>
        <p:spPr>
          <a:xfrm>
            <a:off x="3813402" y="5571444"/>
            <a:ext cx="4954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URL: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6"/>
              </a:rPr>
              <a:t>https://e-koreatech.step.or.kr/lgdisplay/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1FA622-6182-8189-A00E-9050FFB6E05C}"/>
              </a:ext>
            </a:extLst>
          </p:cNvPr>
          <p:cNvSpPr txBox="1"/>
          <p:nvPr/>
        </p:nvSpPr>
        <p:spPr>
          <a:xfrm>
            <a:off x="6140413" y="6314341"/>
            <a:ext cx="11591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접속 링크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hlinkClick r:id="rId7"/>
              </a:rPr>
              <a:t>LINK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2824A74-F98C-6E6F-ACE4-5F1D210E772D}"/>
              </a:ext>
            </a:extLst>
          </p:cNvPr>
          <p:cNvSpPr/>
          <p:nvPr/>
        </p:nvSpPr>
        <p:spPr>
          <a:xfrm>
            <a:off x="1785322" y="6073064"/>
            <a:ext cx="29431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한국기술교육대학 이러닝 교육 협약을 통해 운영되는 과정으로 매월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차수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Open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되는 과정이며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HRD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교육이력 일괄등록으로 별도 품의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불필요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410F0-7A47-57E9-0F49-59A0394D8941}"/>
              </a:ext>
            </a:extLst>
          </p:cNvPr>
          <p:cNvSpPr txBox="1"/>
          <p:nvPr/>
        </p:nvSpPr>
        <p:spPr>
          <a:xfrm>
            <a:off x="3737766" y="281916"/>
            <a:ext cx="1688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 latinLnBrk="1">
              <a:defRPr sz="900" spc="-150">
                <a:solidFill>
                  <a:srgbClr val="0066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000">
                <a:latin typeface="Arial Narrow" panose="020B0606020202030204" pitchFamily="34" charset="0"/>
              </a:rPr>
              <a:t>* </a:t>
            </a:r>
            <a:r>
              <a:rPr lang="ko-KR" altLang="en-US" sz="1000" dirty="0">
                <a:latin typeface="Arial Narrow" panose="020B0606020202030204" pitchFamily="34" charset="0"/>
              </a:rPr>
              <a:t>한국기술교육대학 이러닝</a:t>
            </a:r>
            <a:endParaRPr lang="en-US" altLang="ko-KR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0006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Project Challenge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58062" y="1763892"/>
            <a:ext cx="440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lnSpc>
                <a:spcPct val="120000"/>
              </a:lnSpc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: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다양한 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Deep Learning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수행 이론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방법을 습득하고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비전 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수행을 통한 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Deep Learning </a:t>
            </a:r>
            <a:r>
              <a:rPr lang="ko-KR" altLang="en-US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네트워크를 설계할 수 있다</a:t>
            </a:r>
            <a:r>
              <a:rPr lang="en-US" altLang="ko-KR" sz="100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 (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중급 수준의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AI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전문 인력 양성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)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135192"/>
              </p:ext>
            </p:extLst>
          </p:nvPr>
        </p:nvGraphicFramePr>
        <p:xfrm>
          <a:off x="1370471" y="2812434"/>
          <a:ext cx="6732000" cy="2782910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17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VISDA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이해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algn="ctr"/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(4hr)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VISDA Challenge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목표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및 데이터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구성등의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이해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기존 우수 결과 네트워크 소개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수준 확인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3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다양한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backbone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네트워크의 이해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(4hr)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Image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Classification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위한 대표 네트워크의 구성과 동작 원리를 이해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Classification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성능 향상을 위한 네트워크 기법 이해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대표 네트워크와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VISDA data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를 이용한 네트워크 평가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*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3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Semi-supervised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learning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이해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(8hr)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Semi-supervised learning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의 개념과 대표 기법을 이해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Transfer learning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의 개념과 대표 기법을 이해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Semi-supervised learning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을 통한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pseudo labeling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을 수행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*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3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Domain Adaptation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(DA)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의 이해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(8hr)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딥러닝 네트워크 에서의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domain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adaptation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이해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대표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domain adaptation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기법 학습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Domain adaptation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네트워크의 구성 및 학습 수행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*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VISDA 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기준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네트워크 설계</a:t>
                      </a: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(8hr)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Semi-Supervised Domain Adaptation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을 위한 네트워크 설계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*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 최종 결과 발표 및 평가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charset="0"/>
                        </a:rPr>
                        <a:t>*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50326" marB="50326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45956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95468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611711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1515382" y="6249835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053804" y="6265341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1370471" y="6167560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900856" y="6180505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29386" y="6209073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59771" y="6219088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1D7F40-61B7-4C55-9897-E59D7A81F4DB}"/>
              </a:ext>
            </a:extLst>
          </p:cNvPr>
          <p:cNvSpPr txBox="1"/>
          <p:nvPr/>
        </p:nvSpPr>
        <p:spPr>
          <a:xfrm>
            <a:off x="6771169" y="2806793"/>
            <a:ext cx="15810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* GPU </a:t>
            </a:r>
            <a:r>
              <a:rPr lang="ko-KR" altLang="en-US" sz="8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활용 과제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365" y="5556553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1199555" y="5718987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312391" y="577990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 강사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동국대 조성인 교수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(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멀티미디어 공학과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)</a:t>
            </a:r>
            <a:endParaRPr kumimoji="1" lang="ko-KR" altLang="ko-KR" sz="1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그림 65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888921" y="2299326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pic>
        <p:nvPicPr>
          <p:cNvPr id="69" name="그림 6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72" name="그림 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77" name="그림 7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32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</a:p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Virtual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809453" y="6237018"/>
            <a:ext cx="28363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알고리즘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School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전체 과정 수강하거나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코딩을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활용하여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직무를 수행하고 있는 구성원에게 적합한 과정입니다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(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중급이상 수준 필수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!!)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5386369" y="6245980"/>
            <a:ext cx="362464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비전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사례를 바탕으로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작업을 수행하여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 과제를 완료해야 하는 과정 이오니 수강신청 시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사전 참고바랍니다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 (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입문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초급자는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과제 수행에 어려움 있음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858511" y="5893125"/>
            <a:ext cx="450156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800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코딩 </a:t>
            </a:r>
            <a:r>
              <a:rPr lang="ko-KR" altLang="en-US" sz="800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필요수준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800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tensorflow</a:t>
            </a: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or </a:t>
            </a:r>
            <a:r>
              <a:rPr lang="en-US" altLang="ko-KR" sz="800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pytorch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의 </a:t>
            </a:r>
            <a:r>
              <a:rPr lang="ko-KR" altLang="en-US" sz="800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공유코드를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활용한 코딩 수행이 가능한 인원</a:t>
            </a: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BEB259A8-AF86-175D-6D74-05C0C06F9C9D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4804DAA3-7CC1-8EBF-71BC-9CBD05F032BB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18D34-AC59-BAAE-CF8E-7856FFC45EC3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고급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91CAE-C7DC-FA5F-56C7-15AD380D3DEC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9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2716351-F188-8052-D95D-7B532D796C5C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62738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34006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LG AI Expert Course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61380" y="1732843"/>
            <a:ext cx="4805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ctr" hangingPunct="0">
              <a:spcBef>
                <a:spcPct val="10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현업 과제를 최신 </a:t>
            </a:r>
            <a:r>
              <a:rPr kumimoji="1"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AI </a:t>
            </a:r>
            <a:r>
              <a:rPr kumimoji="1"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기술을 적용하여 해결할 수 있으며 지식과 경험을 </a:t>
            </a:r>
            <a:br>
              <a:rPr kumimoji="1"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</a:br>
            <a:r>
              <a:rPr kumimoji="1"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확산 및 전파하여 조직의 </a:t>
            </a:r>
            <a:r>
              <a:rPr kumimoji="1"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AI Project</a:t>
            </a:r>
            <a:r>
              <a:rPr kumimoji="1"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를 </a:t>
            </a:r>
            <a:r>
              <a:rPr kumimoji="1"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Leading</a:t>
            </a:r>
            <a:r>
              <a:rPr kumimoji="1"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하는 역량 확보한다</a:t>
            </a:r>
            <a:r>
              <a:rPr kumimoji="1"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. </a:t>
            </a:r>
          </a:p>
        </p:txBody>
      </p:sp>
      <p:graphicFrame>
        <p:nvGraphicFramePr>
          <p:cNvPr id="1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570953"/>
              </p:ext>
            </p:extLst>
          </p:nvPr>
        </p:nvGraphicFramePr>
        <p:xfrm>
          <a:off x="1370471" y="2812434"/>
          <a:ext cx="6732000" cy="1979726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9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5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최신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기술</a:t>
                      </a: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탐색 및 연구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indent="-825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과제 해결을 위한 최신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논문 탐색 및 연구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2550" indent="-825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분야별 이론학습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Seminar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전문가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1:1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멘토링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indent="-825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Weekly Review &amp; Coaching</a:t>
                      </a:r>
                    </a:p>
                    <a:p>
                      <a:pPr marL="82550" indent="-825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과제 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Issue 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해결 지원</a:t>
                      </a: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Model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개발 및</a:t>
                      </a: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과제해결</a:t>
                      </a:r>
                      <a:endParaRPr lang="en-US" altLang="ko-KR" sz="1000" b="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알고리즘 선정 및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Model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개발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2550" indent="-825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Model 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평가 및 개선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조직 내 활용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전파 방안 도출</a:t>
                      </a: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65" y="541985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1199555" y="5582286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1515382" y="5784014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053804" y="5799520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1370471" y="5701739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900856" y="5714684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29386" y="5743252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59771" y="575326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4" name="직선 연결선 53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그림 55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2587" y="1805838"/>
            <a:ext cx="756638" cy="26161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Off-Line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49710" y="1636561"/>
            <a:ext cx="581747" cy="60016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</a:p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전문인력</a:t>
            </a:r>
            <a:endParaRPr lang="en-US" altLang="ko-KR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선발</a:t>
            </a: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288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1759498" y="5768506"/>
            <a:ext cx="31209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직무를 수행하는 전문인력 대상으로 조직 내 선발하여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연구원의 과제 심사 및 인터뷰를 통해 최종 대상자 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선발함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5285964" y="5753267"/>
            <a:ext cx="31209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개인별 수행하는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과제를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연구원내 전문가와의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1:1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멘토링을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통해 해결해 나가는 방식으로 운영됨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(12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주간 매주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 참가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432FA987-A822-E102-E524-87C44AC8FAE2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DB86F822-82F5-5706-75D9-CDBCA39309D5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90101-B727-32B4-0D8A-9C618E6911EF}"/>
              </a:ext>
            </a:extLst>
          </p:cNvPr>
          <p:cNvSpPr txBox="1"/>
          <p:nvPr/>
        </p:nvSpPr>
        <p:spPr>
          <a:xfrm>
            <a:off x="8711970" y="281924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전문가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1BB45E-51AA-D11A-0B69-D07D13C5AD16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8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54C5C3F-DA4E-DA91-551F-5BDAD83D367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9C01A-0293-F6F5-CF8B-DA7EF4F362B4}"/>
              </a:ext>
            </a:extLst>
          </p:cNvPr>
          <p:cNvSpPr txBox="1"/>
          <p:nvPr/>
        </p:nvSpPr>
        <p:spPr>
          <a:xfrm>
            <a:off x="6434412" y="473968"/>
            <a:ext cx="183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“’</a:t>
            </a:r>
            <a:r>
              <a:rPr lang="ko-KR" altLang="en-US" sz="1200" b="1" i="1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조직별</a:t>
            </a:r>
            <a:r>
              <a:rPr lang="ko-KR" altLang="en-US" sz="1200" b="1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대상자 선발요청</a:t>
            </a:r>
            <a:r>
              <a:rPr lang="en-US" altLang="ko-KR" sz="1200" b="1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1200" b="1" i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29B3-B379-1779-8F5D-27FB52559B49}"/>
              </a:ext>
            </a:extLst>
          </p:cNvPr>
          <p:cNvSpPr txBox="1"/>
          <p:nvPr/>
        </p:nvSpPr>
        <p:spPr>
          <a:xfrm>
            <a:off x="663365" y="4918300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EBA4F-734A-0B3B-80FC-E68908CD3D75}"/>
              </a:ext>
            </a:extLst>
          </p:cNvPr>
          <p:cNvCxnSpPr/>
          <p:nvPr/>
        </p:nvCxnSpPr>
        <p:spPr>
          <a:xfrm>
            <a:off x="1199555" y="5080734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3FB74A-7098-3454-7B58-858F2B2E87DC}"/>
              </a:ext>
            </a:extLst>
          </p:cNvPr>
          <p:cNvSpPr txBox="1"/>
          <p:nvPr/>
        </p:nvSpPr>
        <p:spPr>
          <a:xfrm>
            <a:off x="1312391" y="5176155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LG AI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연구원 전문가 과제 멘토링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5866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430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LG AI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석사</a:t>
            </a:r>
            <a:endParaRPr lang="en-US" altLang="ko-KR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31444" y="1712391"/>
            <a:ext cx="4116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최신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기술에 대한 연구 경력과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LG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계열사의 난제를 직접 해결한 노하우를 겸비한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연구원의 우수한 지도교수들이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LG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인재를 직접 지도함으로써 소수 정예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석사 인재를 육성함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kumimoji="1" lang="ko-KR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57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426763"/>
              </p:ext>
            </p:extLst>
          </p:nvPr>
        </p:nvGraphicFramePr>
        <p:xfrm>
          <a:off x="1370471" y="2812433"/>
          <a:ext cx="6732000" cy="2210577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5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41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연구준비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준비 및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현황점검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보완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관련분야 논문 스터디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1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Course Work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연구진행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중간평가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종합시험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지도교수 주도하 연구 세미나 진행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1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차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성능검증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논문심사 및 졸업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알고리즘 고도화 및 평가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논문작성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1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차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Proposal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Defense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결과물 정리 및 논문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최종리뷰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논문심사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결과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공유회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63" name="직선 연결선 62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그림 8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96454" y="1803159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1</a:t>
            </a:r>
            <a:r>
              <a:rPr lang="ko-KR" altLang="en-US" dirty="0">
                <a:ea typeface="LG스마트체2.0 Regular" panose="020B0600000101010101" pitchFamily="50" charset="-127"/>
              </a:rPr>
              <a:t>년</a:t>
            </a:r>
            <a:endParaRPr lang="en-US" altLang="ko-KR" dirty="0">
              <a:ea typeface="LG스마트체2.0 Regular" panose="020B0600000101010101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049710" y="1721199"/>
            <a:ext cx="581747" cy="43088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</a:p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전문인력</a:t>
            </a:r>
            <a:endParaRPr lang="en-US" altLang="ko-KR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101" name="그림 100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42587" y="1805838"/>
            <a:ext cx="756638" cy="26161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Off-Line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3365" y="504892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1199555" y="521136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312391" y="5306781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학위파견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1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년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3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학기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Full Time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(LG AI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대학원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)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73" name="직선 연결선 72"/>
          <p:cNvCxnSpPr/>
          <p:nvPr/>
        </p:nvCxnSpPr>
        <p:spPr>
          <a:xfrm>
            <a:off x="1199555" y="581520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둥근 직사각형 73"/>
          <p:cNvSpPr/>
          <p:nvPr/>
        </p:nvSpPr>
        <p:spPr>
          <a:xfrm>
            <a:off x="1515382" y="5930672"/>
            <a:ext cx="3213052" cy="773130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5053804" y="5946178"/>
            <a:ext cx="3213052" cy="757624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1370471" y="5857020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4900856" y="586134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329386" y="5898533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859771" y="589992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57468" y="5971985"/>
            <a:ext cx="325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LG 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대학원 학위파견 공개모집 방식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외 석사 학위 인정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742246" y="5923075"/>
            <a:ext cx="188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수료요건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* 24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학점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전공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18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학점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+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6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학점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프로젝트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구술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+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논술시험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졸업요건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학위논문심사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63365" y="565277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4251" y="464637"/>
            <a:ext cx="1229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“’</a:t>
            </a:r>
            <a:r>
              <a:rPr lang="ko-KR" altLang="en-US" sz="1200" b="1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학위파견 모집</a:t>
            </a:r>
            <a:r>
              <a:rPr lang="en-US" altLang="ko-KR" sz="1200" b="1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1200" b="1" i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4A0E6E1D-7F7A-4CAE-1961-E71842570995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4D191237-E8B6-B580-6100-8216BE882CD8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070D8-F57E-8599-ED87-928C3C7742FC}"/>
              </a:ext>
            </a:extLst>
          </p:cNvPr>
          <p:cNvSpPr txBox="1"/>
          <p:nvPr/>
        </p:nvSpPr>
        <p:spPr>
          <a:xfrm>
            <a:off x="8711970" y="281924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전문가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0ACBF-9F97-69EE-A1E6-577FE541C224}"/>
              </a:ext>
            </a:extLst>
          </p:cNvPr>
          <p:cNvSpPr txBox="1"/>
          <p:nvPr/>
        </p:nvSpPr>
        <p:spPr>
          <a:xfrm>
            <a:off x="8717723" y="51196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AI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실무 활용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7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FCF9894-FAEB-E9EC-A4CE-A9D6163B05F7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15295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901" y="230475"/>
            <a:ext cx="2430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LG AI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박사</a:t>
            </a:r>
            <a:endParaRPr lang="en-US" altLang="ko-KR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31444" y="1712391"/>
            <a:ext cx="4116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최신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기술에 대한 연구 경력과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LG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계열사의 난제를 직접 해결한 노하우를 겸비한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연구원의 우수한 지도교수들이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LG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인재를 직접 지도함으로써 소수 정예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박사 인재를 육성함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kumimoji="1" lang="ko-KR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57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242858"/>
              </p:ext>
            </p:extLst>
          </p:nvPr>
        </p:nvGraphicFramePr>
        <p:xfrm>
          <a:off x="1370471" y="2812434"/>
          <a:ext cx="6732000" cy="2433820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22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연구준비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 준비 및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현황점검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보완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관련분야 논문 스터디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41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Course Work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연구진행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중간평가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종합시험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지도교수 주도하 연구 세미나 진행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1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차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성능검증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23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논문 준비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알고리즘 고도화 및 평가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논문작성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1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차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Proposal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Defense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1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논문심사 및 졸업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결과물 정리 및 논문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최종리뷰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논문심사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결과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공유회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63" name="직선 연결선 62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그룹 83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85" name="그림 8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87" name="그림 8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91" name="TextBox 90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196454" y="1812492"/>
              <a:ext cx="542026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r>
                <a:rPr lang="en-US" altLang="ko-KR" dirty="0">
                  <a:ea typeface="LG스마트체2.0 Regular" panose="020B0600000101010101" pitchFamily="50" charset="-127"/>
                </a:rPr>
                <a:t>3</a:t>
              </a:r>
              <a:r>
                <a:rPr lang="ko-KR" altLang="en-US" dirty="0">
                  <a:ea typeface="LG스마트체2.0 Regular" panose="020B0600000101010101" pitchFamily="50" charset="-127"/>
                </a:rPr>
                <a:t>년</a:t>
              </a:r>
              <a:endParaRPr lang="en-US" altLang="ko-KR" dirty="0">
                <a:ea typeface="LG스마트체2.0 Regular" panose="020B0600000101010101" pitchFamily="50" charset="-127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049710" y="1721199"/>
              <a:ext cx="581747" cy="430887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AI</a:t>
              </a:r>
            </a:p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전문인력</a:t>
              </a:r>
              <a:endPara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101" name="그림 100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Off-Line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63365" y="521282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1199555" y="537526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1199555" y="581520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둥근 직사각형 73"/>
          <p:cNvSpPr/>
          <p:nvPr/>
        </p:nvSpPr>
        <p:spPr>
          <a:xfrm>
            <a:off x="1515382" y="5930672"/>
            <a:ext cx="3213052" cy="784830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5053804" y="5946178"/>
            <a:ext cx="3213052" cy="67890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1370471" y="5857020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4900856" y="5861342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329386" y="5898533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859771" y="5899925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57468" y="5925331"/>
            <a:ext cx="3674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졸업요건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</a:t>
            </a:r>
            <a:r>
              <a:rPr lang="en-US" altLang="ko-KR" sz="900" b="0" i="0" u="none" strike="noStrike" baseline="0" dirty="0">
                <a:latin typeface="ArialNarrow"/>
              </a:rPr>
              <a:t>1. </a:t>
            </a:r>
            <a:r>
              <a:rPr lang="ko-KR" altLang="en-US" sz="900" b="0" i="0" u="none" strike="noStrike" baseline="0" dirty="0">
                <a:latin typeface="LGSmHaR"/>
              </a:rPr>
              <a:t>학위논문심사</a:t>
            </a:r>
          </a:p>
          <a:p>
            <a:pPr algn="l"/>
            <a:r>
              <a:rPr lang="en-US" altLang="ko-KR" sz="900" b="0" i="0" u="none" strike="noStrike" baseline="0" dirty="0">
                <a:latin typeface="ArialNarrow"/>
              </a:rPr>
              <a:t>   2. SCI(E)</a:t>
            </a:r>
            <a:r>
              <a:rPr lang="ko-KR" altLang="en-US" sz="900" b="0" i="0" u="none" strike="noStrike" baseline="0" dirty="0" err="1">
                <a:latin typeface="LGSmHaR"/>
              </a:rPr>
              <a:t>급논문</a:t>
            </a:r>
            <a:r>
              <a:rPr lang="en-US" altLang="ko-KR" sz="900" b="0" i="0" u="none" strike="noStrike" baseline="0" dirty="0">
                <a:latin typeface="ArialNarrow"/>
              </a:rPr>
              <a:t>1</a:t>
            </a:r>
            <a:r>
              <a:rPr lang="ko-KR" altLang="en-US" sz="900" b="0" i="0" u="none" strike="noStrike" baseline="0" dirty="0">
                <a:latin typeface="LGSmHaR"/>
              </a:rPr>
              <a:t>편이상게재</a:t>
            </a:r>
            <a:r>
              <a:rPr lang="en-US" altLang="ko-KR" sz="900" b="0" i="0" u="none" strike="noStrike" baseline="0" dirty="0">
                <a:latin typeface="ArialNarrow"/>
              </a:rPr>
              <a:t>or Top-tier Conference 1</a:t>
            </a:r>
            <a:r>
              <a:rPr lang="ko-KR" altLang="en-US" sz="900" b="0" i="0" u="none" strike="noStrike" baseline="0" dirty="0">
                <a:latin typeface="LGSmHaR"/>
              </a:rPr>
              <a:t>회이상발표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LG AI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대학원 학위파견 공개모집 방식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외 석사 학위 인정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1742246" y="5895082"/>
            <a:ext cx="328756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수료요건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* </a:t>
            </a:r>
            <a:r>
              <a:rPr lang="en-US" altLang="ko-KR" sz="900" b="0" i="0" u="none" strike="noStrike" baseline="0" dirty="0">
                <a:latin typeface="ArialNarrow"/>
              </a:rPr>
              <a:t>33</a:t>
            </a:r>
            <a:r>
              <a:rPr lang="ko-KR" altLang="en-US" sz="900" b="0" i="0" u="none" strike="noStrike" baseline="0" dirty="0">
                <a:latin typeface="LGSmHaR"/>
              </a:rPr>
              <a:t>학점</a:t>
            </a:r>
            <a:r>
              <a:rPr lang="en-US" altLang="ko-KR" sz="900" b="0" i="0" u="none" strike="noStrike" baseline="0" dirty="0">
                <a:latin typeface="ArialNarrow"/>
              </a:rPr>
              <a:t>(</a:t>
            </a:r>
            <a:r>
              <a:rPr lang="ko-KR" altLang="en-US" sz="900" b="0" i="0" u="none" strike="noStrike" baseline="0" dirty="0">
                <a:latin typeface="LGSmHaR"/>
              </a:rPr>
              <a:t>전공</a:t>
            </a:r>
            <a:r>
              <a:rPr lang="en-US" altLang="ko-KR" sz="900" b="0" i="0" u="none" strike="noStrike" baseline="0" dirty="0">
                <a:latin typeface="ArialNarrow"/>
              </a:rPr>
              <a:t>21</a:t>
            </a:r>
            <a:r>
              <a:rPr lang="ko-KR" altLang="en-US" sz="900" b="0" i="0" u="none" strike="noStrike" baseline="0" dirty="0">
                <a:latin typeface="LGSmHaR"/>
              </a:rPr>
              <a:t>학점</a:t>
            </a:r>
            <a:r>
              <a:rPr lang="en-US" altLang="ko-KR" sz="900" b="0" i="0" u="none" strike="noStrike" baseline="0" dirty="0">
                <a:latin typeface="ArialNarrow"/>
              </a:rPr>
              <a:t>+</a:t>
            </a:r>
            <a:r>
              <a:rPr lang="ko-KR" altLang="en-US" sz="900" b="0" i="0" u="none" strike="noStrike" baseline="0" dirty="0">
                <a:latin typeface="LGSmHaR"/>
              </a:rPr>
              <a:t>연구</a:t>
            </a:r>
            <a:r>
              <a:rPr lang="en-US" altLang="ko-KR" sz="900" b="0" i="0" u="none" strike="noStrike" baseline="0" dirty="0">
                <a:latin typeface="ArialNarrow"/>
              </a:rPr>
              <a:t>12</a:t>
            </a:r>
            <a:r>
              <a:rPr lang="ko-KR" altLang="en-US" sz="900" b="0" i="0" u="none" strike="noStrike" baseline="0" dirty="0">
                <a:latin typeface="LGSmHaR"/>
              </a:rPr>
              <a:t>학점</a:t>
            </a:r>
            <a:r>
              <a:rPr lang="en-US" altLang="ko-KR" sz="900" b="0" i="0" u="none" strike="noStrike" baseline="0" dirty="0">
                <a:latin typeface="ArialNarrow"/>
              </a:rPr>
              <a:t>)</a:t>
            </a:r>
            <a:br>
              <a:rPr lang="en-US" altLang="ko-KR" sz="900" b="0" i="0" u="none" strike="noStrike" baseline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b="0" i="0" u="none" strike="noStrike" baseline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자격시험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en-US" altLang="ko-KR" sz="900" b="0" i="0" u="none" strike="noStrike" baseline="0" dirty="0">
                <a:latin typeface="ArialNarrow"/>
              </a:rPr>
              <a:t>(1</a:t>
            </a:r>
            <a:r>
              <a:rPr lang="ko-KR" altLang="en-US" sz="900" b="0" i="0" u="none" strike="noStrike" baseline="0" dirty="0" err="1">
                <a:latin typeface="LGSmHaR"/>
              </a:rPr>
              <a:t>년차</a:t>
            </a:r>
            <a:r>
              <a:rPr lang="ko-KR" altLang="en-US" sz="900" b="0" i="0" u="none" strike="noStrike" baseline="0" dirty="0">
                <a:latin typeface="LGSmHaR"/>
              </a:rPr>
              <a:t> </a:t>
            </a:r>
            <a:r>
              <a:rPr lang="en-US" altLang="ko-KR" sz="900" b="0" i="0" u="none" strike="noStrike" baseline="0" dirty="0">
                <a:latin typeface="ArialNarrow"/>
              </a:rPr>
              <a:t>2</a:t>
            </a:r>
            <a:r>
              <a:rPr lang="ko-KR" altLang="en-US" sz="900" b="0" i="0" u="none" strike="noStrike" baseline="0" dirty="0">
                <a:latin typeface="LGSmHaR"/>
              </a:rPr>
              <a:t>학기</a:t>
            </a:r>
            <a:r>
              <a:rPr lang="en-US" altLang="ko-KR" sz="900" b="0" i="0" u="none" strike="noStrike" baseline="0" dirty="0">
                <a:latin typeface="ArialNarrow"/>
              </a:rPr>
              <a:t>) </a:t>
            </a:r>
          </a:p>
          <a:p>
            <a:pPr algn="l"/>
            <a:r>
              <a:rPr lang="en-US" altLang="ko-KR" sz="900" b="0" i="0" u="none" strike="noStrike" baseline="0" dirty="0">
                <a:latin typeface="ArialNarrow"/>
              </a:rPr>
              <a:t>      ; Year-end Report + Year-end Presentation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b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*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프로젝트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구술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+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논술시험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63365" y="565277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6FC66E48-0368-ACBC-EBEF-21938E58885A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4D741A0C-8870-2973-F338-1B89F18F19B9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8FCC0-4943-39F6-90E4-C967A470EEE1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고급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DF6B39-DAA0-41C7-3919-551D1F414129}"/>
              </a:ext>
            </a:extLst>
          </p:cNvPr>
          <p:cNvSpPr txBox="1"/>
          <p:nvPr/>
        </p:nvSpPr>
        <p:spPr>
          <a:xfrm>
            <a:off x="8717723" y="511962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AI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실무 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A01F2-C7AD-74D5-2428-1A3BBA81B8FE}"/>
              </a:ext>
            </a:extLst>
          </p:cNvPr>
          <p:cNvSpPr txBox="1"/>
          <p:nvPr/>
        </p:nvSpPr>
        <p:spPr>
          <a:xfrm>
            <a:off x="6994251" y="464637"/>
            <a:ext cx="1229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“’</a:t>
            </a:r>
            <a:r>
              <a:rPr lang="ko-KR" altLang="en-US" sz="1200" b="1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학위파견 모집</a:t>
            </a:r>
            <a:r>
              <a:rPr lang="en-US" altLang="ko-KR" sz="1200" b="1" i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1200" b="1" i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B4A186B-7DEC-FD79-61C4-83E78A7F2F5D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C57BC-A3D8-AF5F-E417-C70D87245281}"/>
              </a:ext>
            </a:extLst>
          </p:cNvPr>
          <p:cNvSpPr txBox="1"/>
          <p:nvPr/>
        </p:nvSpPr>
        <p:spPr>
          <a:xfrm>
            <a:off x="1310724" y="5436594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학위파견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1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년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Full Time + 2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년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Part Time (LG AI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대학원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)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151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911533" y="1724142"/>
            <a:ext cx="4629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다양한 문제 발생 시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신속한 데이터 분석 및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원인도출을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위한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의 기본적인 기능</a:t>
            </a:r>
            <a:b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 가동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시각화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활용방법을 습득할 수 있다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graphicFrame>
        <p:nvGraphicFramePr>
          <p:cNvPr id="9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61282"/>
              </p:ext>
            </p:extLst>
          </p:nvPr>
        </p:nvGraphicFramePr>
        <p:xfrm>
          <a:off x="1370471" y="2812434"/>
          <a:ext cx="6732000" cy="2567993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6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MAS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소개와 설치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MAS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목적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MAS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시스템 구성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1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Spotfire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기본기능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Spotfire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메뉴 설명</a:t>
                      </a:r>
                      <a:endParaRPr lang="en-US" altLang="ko-KR" sz="1000" b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조회 및 구조 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화면 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Layout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Control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컨트롤 및 함수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컬럼 삽입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행 삽입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제한 등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테이블 활용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시각화 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테이블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크로스 테이블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콤비네이션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차트 등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사용자정의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기능활용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사용자 정의 보고서 및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Smart UI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만들기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45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3365" y="573327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1199555" y="5895711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모서리가 둥근 직사각형 18"/>
          <p:cNvSpPr/>
          <p:nvPr/>
        </p:nvSpPr>
        <p:spPr>
          <a:xfrm>
            <a:off x="1515382" y="6028428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5053804" y="6043934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1370471" y="5946153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4900856" y="5959098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9386" y="598766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59771" y="5997681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813111" y="6031076"/>
            <a:ext cx="29976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엔지니어 및 기능직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Technician/Operator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에게 추천함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64368" y="6083925"/>
            <a:ext cx="3257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이수기준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출석율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80%,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이론평가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5" y="1550613"/>
            <a:ext cx="750106" cy="768089"/>
          </a:xfrm>
          <a:prstGeom prst="rect">
            <a:avLst/>
          </a:prstGeom>
          <a:noFill/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65" y="1550613"/>
            <a:ext cx="750106" cy="768089"/>
          </a:xfrm>
          <a:prstGeom prst="rect">
            <a:avLst/>
          </a:prstGeom>
          <a:noFill/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838" y="1550613"/>
            <a:ext cx="750106" cy="768089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/>
        </p:nvSpPr>
        <p:spPr>
          <a:xfrm>
            <a:off x="3128824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4447" y="224963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2516" y="2249631"/>
            <a:ext cx="39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6454" y="1801212"/>
            <a:ext cx="5420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F3F41"/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5.2 Hr.</a:t>
            </a:r>
            <a:endParaRPr lang="ko-KR" altLang="en-US" dirty="0"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90294" y="1782515"/>
            <a:ext cx="547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</a:t>
            </a:r>
            <a:endParaRPr lang="ko-KR" altLang="en-US" sz="1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9710" y="1805837"/>
            <a:ext cx="58174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87" y="1550613"/>
            <a:ext cx="750106" cy="76808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88921" y="2249631"/>
            <a:ext cx="6399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2587" y="1721200"/>
            <a:ext cx="7566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On-Line</a:t>
            </a:r>
            <a:b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</a:t>
            </a:r>
            <a:endParaRPr lang="ko-KR" altLang="en-US" sz="11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6901" y="230475"/>
            <a:ext cx="2557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 Spotfire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 과정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9B8C1D5E-B246-5991-9611-24B6B480D0C7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5B3335B7-5AC6-CDA6-653E-0C0B84753559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053FC-033E-622A-AE48-677F91B4DFD5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3E8CD5-719D-F310-EA72-2CD7AF242F49}"/>
              </a:ext>
            </a:extLst>
          </p:cNvPr>
          <p:cNvSpPr txBox="1"/>
          <p:nvPr/>
        </p:nvSpPr>
        <p:spPr>
          <a:xfrm>
            <a:off x="8717723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일반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15E44DF-7F2E-70D3-875B-3CCC3688386F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03803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1" y="230475"/>
            <a:ext cx="3105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 Core Member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양성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1444" y="1712391"/>
            <a:ext cx="4116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팀 분석 역량 확보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자체적인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교육운영을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위한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분석 기능 및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Spotfire Tool</a:t>
            </a:r>
            <a:b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Specialist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양성을 위함</a:t>
            </a:r>
            <a:endParaRPr kumimoji="1" lang="ko-KR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9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424739"/>
              </p:ext>
            </p:extLst>
          </p:nvPr>
        </p:nvGraphicFramePr>
        <p:xfrm>
          <a:off x="1370471" y="2806780"/>
          <a:ext cx="6732000" cy="2807616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9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MAS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소개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필수 프로그램 설치 가이드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MAS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모듈 및 분석 기능 소개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Spotfire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기본기능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Spotfire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메뉴별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활용</a:t>
                      </a:r>
                      <a:endParaRPr lang="en-US" altLang="ko-KR" sz="1000" b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Spotfire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데이터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필터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함수 활용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데이터 테이블 활용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데이터 테이블의 추가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변경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변환 활용 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Text Area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필터 삽입 활용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속성 제어 삽입 활용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작업 컨트롤 삽입 활용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PQA Data Service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Data Service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기능 별 활용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339684"/>
                  </a:ext>
                </a:extLst>
              </a:tr>
              <a:tr h="2683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PQA </a:t>
                      </a:r>
                      <a:r>
                        <a:rPr lang="ko-KR" altLang="en-US" sz="1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정형분석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정형분석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기능별 활용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77918"/>
                  </a:ext>
                </a:extLst>
              </a:tr>
              <a:tr h="1855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FQA/ODA/TPA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FQA/ODA/TPA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기능별 활용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929559"/>
                  </a:ext>
                </a:extLst>
              </a:tr>
              <a:tr h="3578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Q&amp;A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시험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실습 테스트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Q&amp;A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0168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66897" y="1786423"/>
              <a:ext cx="542026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rgbClr val="3F3F41"/>
                  </a:solidFill>
                  <a:latin typeface="Arial Narrow" panose="020B0606020202030204" pitchFamily="34" charset="0"/>
                  <a:ea typeface="LG스마트체2.0 SemiBold" panose="020B0600000101010101" pitchFamily="50" charset="-127"/>
                </a:defRPr>
              </a:lvl1pPr>
            </a:lstStyle>
            <a:p>
              <a:r>
                <a:rPr lang="en-US" altLang="ko-KR" dirty="0">
                  <a:ea typeface="LG스마트체2.0 Regular" panose="020B0600000101010101" pitchFamily="50" charset="-127"/>
                </a:rPr>
                <a:t>32 </a:t>
              </a:r>
              <a:r>
                <a:rPr lang="en-US" altLang="ko-KR" dirty="0" err="1">
                  <a:ea typeface="LG스마트체2.0 Regular" panose="020B0600000101010101" pitchFamily="50" charset="-127"/>
                </a:rPr>
                <a:t>Hr</a:t>
              </a:r>
              <a:endParaRPr lang="ko-KR" altLang="en-US" dirty="0">
                <a:ea typeface="LG스마트체2.0 Regular" panose="020B0600000101010101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49710" y="1805838"/>
              <a:ext cx="581747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사무직</a:t>
              </a:r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Off-Line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63365" y="560045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1199555" y="5752947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12391" y="5848368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AX Platform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팀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, FMM AX Task,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중형 </a:t>
            </a:r>
            <a:r>
              <a:rPr kumimoji="1" lang="ko-KR" altLang="en-US" sz="100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공정운영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Task </a:t>
            </a:r>
            <a:r>
              <a:rPr kumimoji="1"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내 전문가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1199555" y="619289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모서리가 둥근 직사각형 32"/>
          <p:cNvSpPr/>
          <p:nvPr/>
        </p:nvSpPr>
        <p:spPr>
          <a:xfrm>
            <a:off x="1515382" y="6308360"/>
            <a:ext cx="3213052" cy="407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053804" y="6323866"/>
            <a:ext cx="3213052" cy="407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1370471" y="6234707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4900856" y="6239029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29386" y="6276220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59771" y="6277612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742246" y="6310093"/>
            <a:ext cx="31209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 엔지니어 중 불량 분석 담당자에게 추천함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365" y="603045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DA8AB70C-4DEC-62A9-4CA9-5F284FE3AF00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08C8C43A-FFD7-CD83-D61E-004100334E5F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909E05-B794-C15D-EF41-FE1CCCA09AC6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0BA670-EAE1-5B19-4474-44B15A08BE42}"/>
              </a:ext>
            </a:extLst>
          </p:cNvPr>
          <p:cNvSpPr txBox="1"/>
          <p:nvPr/>
        </p:nvSpPr>
        <p:spPr>
          <a:xfrm>
            <a:off x="8717723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일반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80A763C-5E70-2F09-E400-256CC2B0A2A2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6124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1" y="230475"/>
            <a:ext cx="5500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개발엔지니어를 위한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시스템 활용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Skill-up 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1444" y="1575655"/>
            <a:ext cx="4116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개발 엔지니어가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시스템에 대한 이해 및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실습활동을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통해 시스템내에서 데이터 분석 및 시각화 스킬을 습득하여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Watch MP8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표준보고서를 구축함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kumimoji="1" lang="ko-KR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09483"/>
              </p:ext>
            </p:extLst>
          </p:nvPr>
        </p:nvGraphicFramePr>
        <p:xfrm>
          <a:off x="1370471" y="2513331"/>
          <a:ext cx="6732000" cy="3043658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80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실처리 </a:t>
                      </a:r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정보</a:t>
                      </a:r>
                      <a:endParaRPr lang="en-US" altLang="ko-KR" sz="9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실처리 정보 조회 방법 및 데이터 설명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테이블 생성</a:t>
                      </a:r>
                      <a:endParaRPr lang="en-US" altLang="ko-KR" sz="9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데이터데이블 추가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두개의 데이터 테이블 활용하여 컬럼 추가</a:t>
                      </a:r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(VlookUp)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42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Master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시각화 구현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(Level 1)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Master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시각화 구현 방법 개요 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데이터테이블 내 계산된 컬럼 생성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누적 테이블을 활용하여 데이터 관리하기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데이터테이블 변환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크로스테이블을 활용하여 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Master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시각화 만들기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텍스트 영역을 활용하여 필터 삽입하기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검사항목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대분류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별 불량률 피벗 시각화 만들기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항목별 분포 파악 위한 </a:t>
                      </a:r>
                      <a:endParaRPr lang="en-US" altLang="ko-KR" sz="900" b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시각화 구현</a:t>
                      </a:r>
                      <a:endParaRPr lang="en-US" altLang="ko-KR" sz="900" b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(Level 2)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크로스테이블 만들기 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박스플랏 만들기  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상세 분석을 위한 시각화 만들기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(Celll Map,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히스토그램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텍스트 영역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767295"/>
                  </a:ext>
                </a:extLst>
              </a:tr>
              <a:tr h="48828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주요 인자 연계분석 위한 </a:t>
                      </a:r>
                      <a:endParaRPr lang="en-US" altLang="ko-KR" sz="900" b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시각화 구현</a:t>
                      </a:r>
                      <a:endParaRPr lang="en-US" altLang="ko-KR" sz="900" b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(Level</a:t>
                      </a:r>
                      <a:r>
                        <a:rPr lang="en-US" altLang="ko-KR" sz="900" b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3)</a:t>
                      </a:r>
                      <a:endParaRPr lang="en-US" altLang="ko-KR" sz="9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5725" indent="-85725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Panel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실처리 정보 조회 방법</a:t>
                      </a:r>
                    </a:p>
                    <a:p>
                      <a:pPr marL="85725" indent="-85725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데이터테이블에 컬럼 추가 </a:t>
                      </a:r>
                    </a:p>
                    <a:p>
                      <a:pPr marL="85725" indent="-85725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주요 인자 기준 시각화 만들기 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5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주요</a:t>
                      </a:r>
                      <a:r>
                        <a:rPr lang="en-US" altLang="ko-KR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Tip</a:t>
                      </a:r>
                      <a:endParaRPr lang="en-US" altLang="ko-KR" sz="9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자동 분석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메일링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5725" indent="-85725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개인 파일을 타인에게 공유하여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MAS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에서 활용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5725" indent="-85725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색시야각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차트 만들기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속성을 활용하여 시각화 컨트롤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88488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3366" y="113958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9466" y="1134006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199555" y="1299639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5055079" y="1287959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3365" y="219449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199555" y="2356931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3365" y="5506118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1199555" y="5668552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199555" y="1413877"/>
            <a:ext cx="3399670" cy="929850"/>
            <a:chOff x="1199555" y="1550613"/>
            <a:chExt cx="3399670" cy="92985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6454" y="1785823"/>
              <a:ext cx="542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21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49710" y="1721199"/>
              <a:ext cx="581747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R&amp;D</a:t>
              </a:r>
            </a:p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사무직</a:t>
              </a: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42587" y="1721200"/>
              <a:ext cx="756638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On-Line</a:t>
              </a:r>
              <a:b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</a:br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e-Learning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41133" y="5721550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제조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AX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담당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/</a:t>
            </a:r>
            <a:r>
              <a:rPr kumimoji="1" lang="en-US" altLang="ko-KR" sz="1000" b="0" i="0" u="none" strike="noStrike" kern="1200" cap="none" spc="0" normalizeH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FMM AX Task  </a:t>
            </a:r>
            <a:r>
              <a:rPr kumimoji="1" lang="ko-KR" altLang="en-US" sz="1000" b="0" i="0" u="none" strike="noStrike" kern="1200" cap="none" spc="0" normalizeH="0" noProof="0" dirty="0" err="1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변미선</a:t>
            </a:r>
            <a:r>
              <a:rPr kumimoji="1" lang="ko-KR" altLang="en-US" sz="1000" b="0" i="0" u="none" strike="noStrike" kern="1200" cap="none" spc="0" normalizeH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책임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3365" y="590293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1199555" y="6048117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/>
          <p:cNvSpPr/>
          <p:nvPr/>
        </p:nvSpPr>
        <p:spPr>
          <a:xfrm>
            <a:off x="1515382" y="6206714"/>
            <a:ext cx="3213052" cy="535629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053804" y="6222220"/>
            <a:ext cx="3213052" cy="535629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1370471" y="6124439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4900856" y="6137384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29386" y="6165952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59771" y="617596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5357468" y="6248027"/>
            <a:ext cx="32575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MAS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권한 신청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(Power User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및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Automation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권한 신청 필요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742246" y="6208448"/>
            <a:ext cx="3120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Smart HRD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시스템 내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'MAS Spotfire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 과정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'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사전 수강 필요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[Manual] MAS(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공정품질분석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System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다운로드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순서도: 대체 처리 39">
            <a:extLst>
              <a:ext uri="{FF2B5EF4-FFF2-40B4-BE49-F238E27FC236}">
                <a16:creationId xmlns:a16="http://schemas.microsoft.com/office/drawing/2014/main" id="{3BD49FE6-C33D-A089-6D32-93BBBE4FAC63}"/>
              </a:ext>
            </a:extLst>
          </p:cNvPr>
          <p:cNvSpPr/>
          <p:nvPr/>
        </p:nvSpPr>
        <p:spPr>
          <a:xfrm>
            <a:off x="8263562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3" name="순서도: 대체 처리 52">
            <a:extLst>
              <a:ext uri="{FF2B5EF4-FFF2-40B4-BE49-F238E27FC236}">
                <a16:creationId xmlns:a16="http://schemas.microsoft.com/office/drawing/2014/main" id="{FF70930E-C369-D4F2-15EA-5BB71D793143}"/>
              </a:ext>
            </a:extLst>
          </p:cNvPr>
          <p:cNvSpPr/>
          <p:nvPr/>
        </p:nvSpPr>
        <p:spPr>
          <a:xfrm>
            <a:off x="8263562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705153-9E4F-E856-226E-D819A2818158}"/>
              </a:ext>
            </a:extLst>
          </p:cNvPr>
          <p:cNvSpPr txBox="1"/>
          <p:nvPr/>
        </p:nvSpPr>
        <p:spPr>
          <a:xfrm>
            <a:off x="8711970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489566-5B28-4130-E4FA-DBF10BC4F16C}"/>
              </a:ext>
            </a:extLst>
          </p:cNvPr>
          <p:cNvSpPr txBox="1"/>
          <p:nvPr/>
        </p:nvSpPr>
        <p:spPr>
          <a:xfrm>
            <a:off x="8717723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일반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6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196BAED-1DF8-F129-0731-25D79535C3D9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65444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900" y="230475"/>
            <a:ext cx="4495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2000">
                <a:solidFill>
                  <a:prstClr val="black">
                    <a:lumMod val="75000"/>
                    <a:lumOff val="25000"/>
                  </a:prst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업무 자동화를 위한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RPA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활용 </a:t>
            </a:r>
            <a:r>
              <a: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Skill-up </a:t>
            </a:r>
            <a:r>
              <a:rPr lang="ko-KR" altLang="en-US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</a:t>
            </a:r>
            <a:endParaRPr lang="en-US" altLang="ko-KR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31444" y="1712391"/>
            <a:ext cx="41160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사내에서 반복적으로 시스템 또는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OS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조회하고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다운로드 받고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엑셀 피벗 분석을 수행하는 사무직 구성원이 수행 업무를 자동화할 수 있는 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RPA Tool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을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습득함으로써 가치 있는 업무에 집중하도록 함</a:t>
            </a:r>
            <a:r>
              <a:rPr lang="en-US" altLang="ko-KR" sz="10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graphicFrame>
        <p:nvGraphicFramePr>
          <p:cNvPr id="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773000"/>
              </p:ext>
            </p:extLst>
          </p:nvPr>
        </p:nvGraphicFramePr>
        <p:xfrm>
          <a:off x="1370471" y="2812433"/>
          <a:ext cx="6732000" cy="2088987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78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43086" marR="143086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</a:p>
                  </a:txBody>
                  <a:tcPr marL="143086" marR="143086" marT="0" marB="0" anchor="ctr" horzOverflow="overflow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18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RPA &amp; </a:t>
                      </a:r>
                      <a:r>
                        <a:rPr lang="en-US" altLang="ko-KR" sz="1000" dirty="0" err="1"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UiPath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RPA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개념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업무영역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적용사례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효과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발전방향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활용 문화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UiPath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의 이해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솔루션 현황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UiPath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장점 및 구성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6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UiPath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 StudioX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소개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Studio X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설치 및 기본 설정 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화면 구성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기본 개념 설명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리소스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액션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anose="020B0604020202020204" pitchFamily="34" charset="0"/>
                        </a:rPr>
                        <a:t>, Project Notebook)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84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실습</a:t>
                      </a: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시나리오 소개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단위 업무 처리 순서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/Master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파일 준비</a:t>
                      </a:r>
                      <a:endParaRPr lang="en-US" altLang="ko-KR" sz="10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실습 과제 구현을 통한 기본 기능 이해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46010" marR="46010" marT="0" marB="0" anchor="ctr" horzOverflow="overflow">
                    <a:lnL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C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3366" y="1276318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9466" y="1270742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목적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199555" y="1436375"/>
            <a:ext cx="3268928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5055079" y="1424695"/>
            <a:ext cx="4234684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3365" y="2493599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내용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199555" y="2656033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3365" y="509854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chemeClr val="tx2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강사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1199555" y="5260975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199555" y="1550613"/>
            <a:ext cx="3399670" cy="929850"/>
            <a:chOff x="1199555" y="1550613"/>
            <a:chExt cx="3399670" cy="92985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555" y="1550613"/>
              <a:ext cx="750106" cy="768089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265" y="1550613"/>
              <a:ext cx="750106" cy="768089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6838" y="1550613"/>
              <a:ext cx="750106" cy="76808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128824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대상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44447" y="2249631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교육시간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2516" y="2249631"/>
              <a:ext cx="3994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분류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6454" y="1785823"/>
              <a:ext cx="542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7 Hr.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90294" y="1782515"/>
              <a:ext cx="5474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AX</a:t>
              </a:r>
              <a:endParaRPr lang="ko-KR" altLang="en-US" sz="1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49710" y="1805837"/>
              <a:ext cx="58174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사무직</a:t>
              </a: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2587" y="1550613"/>
              <a:ext cx="750106" cy="76808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888921" y="2249631"/>
              <a:ext cx="6399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gradFill>
                    <a:gsLst>
                      <a:gs pos="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 유형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42587" y="1805838"/>
              <a:ext cx="756638" cy="26161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1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Off-Line</a:t>
              </a:r>
              <a:endParaRPr lang="ko-KR" altLang="en-US" sz="11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12391" y="5356396"/>
            <a:ext cx="5263612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lvl="0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사내 강사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경영관리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AX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팀</a:t>
            </a:r>
            <a:r>
              <a:rPr kumimoji="1" lang="ko-KR" altLang="en-US" sz="1000" b="0" i="0" u="none" strike="noStrike" kern="1200" cap="none" spc="0" normalizeH="0" noProof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김민수 책임</a:t>
            </a:r>
            <a:endParaRPr kumimoji="1" lang="ko-KR" altLang="ko-KR" sz="1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1199555" y="5700920"/>
            <a:ext cx="8038449" cy="0"/>
          </a:xfrm>
          <a:prstGeom prst="line">
            <a:avLst/>
          </a:prstGeom>
          <a:ln w="285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1515382" y="5842264"/>
            <a:ext cx="3213052" cy="673798"/>
          </a:xfrm>
          <a:prstGeom prst="roundRect">
            <a:avLst>
              <a:gd name="adj" fmla="val 43790"/>
            </a:avLst>
          </a:prstGeom>
          <a:solidFill>
            <a:schemeClr val="accent1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053804" y="5857770"/>
            <a:ext cx="3213052" cy="673798"/>
          </a:xfrm>
          <a:prstGeom prst="roundRect">
            <a:avLst>
              <a:gd name="adj" fmla="val 43790"/>
            </a:avLst>
          </a:prstGeom>
          <a:solidFill>
            <a:srgbClr val="F3F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370471" y="5759989"/>
            <a:ext cx="438982" cy="438982"/>
          </a:xfrm>
          <a:prstGeom prst="ellipse">
            <a:avLst/>
          </a:prstGeom>
          <a:solidFill>
            <a:srgbClr val="B7D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4900856" y="5772934"/>
            <a:ext cx="438982" cy="438982"/>
          </a:xfrm>
          <a:prstGeom prst="ellipse">
            <a:avLst/>
          </a:prstGeom>
          <a:solidFill>
            <a:srgbClr val="E9C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9386" y="5861886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59771" y="5811517"/>
            <a:ext cx="5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42C8E0-9F79-4640-A7EF-980F702B3FAA}"/>
              </a:ext>
            </a:extLst>
          </p:cNvPr>
          <p:cNvSpPr txBox="1"/>
          <p:nvPr/>
        </p:nvSpPr>
        <p:spPr>
          <a:xfrm>
            <a:off x="1747169" y="5805246"/>
            <a:ext cx="3562245" cy="7848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ea typeface="LG스마트체2.0 Regular" panose="020B0600000101010101" pitchFamily="50" charset="-127"/>
              </a:rPr>
              <a:t>RPA</a:t>
            </a:r>
            <a:r>
              <a:rPr lang="ko-KR" altLang="en-US" dirty="0">
                <a:ea typeface="LG스마트체2.0 Regular" panose="020B0600000101010101" pitchFamily="50" charset="-127"/>
              </a:rPr>
              <a:t>란</a:t>
            </a:r>
            <a:r>
              <a:rPr lang="en-US" altLang="ko-KR" dirty="0">
                <a:ea typeface="LG스마트체2.0 Regular" panose="020B0600000101010101" pitchFamily="50" charset="-127"/>
              </a:rPr>
              <a:t>? </a:t>
            </a:r>
            <a:r>
              <a:rPr lang="ko-KR" altLang="en-US" dirty="0">
                <a:ea typeface="LG스마트체2.0 Regular" panose="020B0600000101010101" pitchFamily="50" charset="-127"/>
              </a:rPr>
              <a:t>컴퓨터를 활용한 반복적인 업무를</a:t>
            </a:r>
            <a:r>
              <a:rPr lang="en-US" altLang="ko-KR" dirty="0">
                <a:ea typeface="LG스마트체2.0 Regular" panose="020B0600000101010101" pitchFamily="50" charset="-127"/>
              </a:rPr>
              <a:t> Excel Macro</a:t>
            </a:r>
            <a:r>
              <a:rPr lang="ko-KR" altLang="en-US" dirty="0">
                <a:ea typeface="LG스마트체2.0 Regular" panose="020B0600000101010101" pitchFamily="50" charset="-127"/>
              </a:rPr>
              <a:t>와 같이 </a:t>
            </a:r>
            <a:r>
              <a:rPr lang="en-US" altLang="ko-KR" dirty="0">
                <a:ea typeface="LG스마트체2.0 Regular" panose="020B0600000101010101" pitchFamily="50" charset="-127"/>
              </a:rPr>
              <a:t>Recording</a:t>
            </a:r>
            <a:r>
              <a:rPr lang="ko-KR" altLang="en-US" dirty="0">
                <a:ea typeface="LG스마트체2.0 Regular" panose="020B0600000101010101" pitchFamily="50" charset="-127"/>
              </a:rPr>
              <a:t>하여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소프트웨어 로봇이 동일한 반복적인 업무를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ko-KR" altLang="en-US" dirty="0">
                <a:ea typeface="LG스마트체2.0 Regular" panose="020B0600000101010101" pitchFamily="50" charset="-127"/>
              </a:rPr>
              <a:t>수행하도록 자동화하는 것을 말함</a:t>
            </a:r>
            <a:r>
              <a:rPr lang="en-US" altLang="ko-KR" dirty="0">
                <a:ea typeface="LG스마트체2.0 Regular" panose="020B0600000101010101" pitchFamily="50" charset="-127"/>
              </a:rPr>
              <a:t>.  </a:t>
            </a:r>
            <a:endParaRPr lang="ko-KR" altLang="en-US" dirty="0">
              <a:ea typeface="LG스마트체2.0 Regular" panose="020B0600000101010101" pitchFamily="50" charset="-127"/>
            </a:endParaRPr>
          </a:p>
          <a:p>
            <a:r>
              <a:rPr lang="ko-KR" altLang="en-US" dirty="0">
                <a:ea typeface="LG스마트체2.0 Regular" panose="020B0600000101010101" pitchFamily="50" charset="-127"/>
              </a:rPr>
              <a:t>☞ 없앨 수도 없고</a:t>
            </a:r>
            <a:r>
              <a:rPr lang="en-US" altLang="ko-KR" dirty="0"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ea typeface="LG스마트체2.0 Regular" panose="020B0600000101010101" pitchFamily="50" charset="-127"/>
              </a:rPr>
              <a:t>전산화 하기에도 애매한 반복적 일이라면 </a:t>
            </a:r>
            <a:br>
              <a:rPr lang="en-US" altLang="ko-KR" dirty="0">
                <a:ea typeface="LG스마트체2.0 Regular" panose="020B0600000101010101" pitchFamily="50" charset="-127"/>
              </a:rPr>
            </a:br>
            <a:r>
              <a:rPr lang="en-US" altLang="ko-KR" dirty="0">
                <a:ea typeface="LG스마트체2.0 Regular" panose="020B0600000101010101" pitchFamily="50" charset="-127"/>
              </a:rPr>
              <a:t>     RPA </a:t>
            </a:r>
            <a:r>
              <a:rPr lang="ko-KR" altLang="en-US" dirty="0">
                <a:ea typeface="LG스마트체2.0 Regular" panose="020B0600000101010101" pitchFamily="50" charset="-127"/>
              </a:rPr>
              <a:t>도입 가능</a:t>
            </a:r>
            <a:endParaRPr lang="en-US" altLang="ko-KR" dirty="0">
              <a:ea typeface="LG스마트체2.0 Regular" panose="020B060000010101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519896" y="5845504"/>
            <a:ext cx="22960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실습용 마스터 엑셀 파일 사전 배포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UiPath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Site </a:t>
            </a:r>
            <a:r>
              <a:rPr lang="ko-KR" altLang="en-US" sz="90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가입 및 </a:t>
            </a:r>
            <a:r>
              <a:rPr lang="en-US" altLang="ko-KR" sz="90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Studio 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X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설치 필요</a:t>
            </a:r>
            <a:endParaRPr lang="en-US" altLang="ko-KR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3365" y="5538486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특징</a:t>
            </a:r>
          </a:p>
        </p:txBody>
      </p:sp>
      <p:sp>
        <p:nvSpPr>
          <p:cNvPr id="45" name="순서도: 대체 처리 44"/>
          <p:cNvSpPr/>
          <p:nvPr/>
        </p:nvSpPr>
        <p:spPr>
          <a:xfrm>
            <a:off x="8319548" y="314436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레벨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순서도: 대체 처리 45"/>
          <p:cNvSpPr/>
          <p:nvPr/>
        </p:nvSpPr>
        <p:spPr>
          <a:xfrm>
            <a:off x="8319548" y="542227"/>
            <a:ext cx="468000" cy="162000"/>
          </a:xfrm>
          <a:prstGeom prst="flowChartAlternateProcess">
            <a:avLst/>
          </a:prstGeom>
          <a:solidFill>
            <a:srgbClr val="FFC000">
              <a:alpha val="85000"/>
            </a:srgbClr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분야</a:t>
            </a:r>
            <a:endParaRPr kumimoji="0" lang="en-US" altLang="ko-KR" sz="1000" b="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67956" y="2819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초급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3709" y="51196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endParaRPr lang="en-US" altLang="ko-KR" sz="1000" b="1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실행 단추: 홈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A4269A6-3695-1D33-F3B9-CB85C53F16F0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84865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제목 5">
            <a:extLst>
              <a:ext uri="{FF2B5EF4-FFF2-40B4-BE49-F238E27FC236}">
                <a16:creationId xmlns:a16="http://schemas.microsoft.com/office/drawing/2014/main" id="{7E593AAE-BC95-7F95-AEC3-282381D82F5D}"/>
              </a:ext>
            </a:extLst>
          </p:cNvPr>
          <p:cNvSpPr txBox="1">
            <a:spLocks/>
          </p:cNvSpPr>
          <p:nvPr/>
        </p:nvSpPr>
        <p:spPr>
          <a:xfrm>
            <a:off x="739371" y="272991"/>
            <a:ext cx="7636587" cy="370800"/>
          </a:xfrm>
          <a:prstGeom prst="rect">
            <a:avLst/>
          </a:prstGeom>
        </p:spPr>
        <p:txBody>
          <a:bodyPr lIns="46800" rIns="46800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1800" b="1" kern="1200" baseline="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온라인 상시 자율학습을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위한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AX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주제별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LETO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소개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(1/2)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8" name="제목 4">
            <a:extLst>
              <a:ext uri="{FF2B5EF4-FFF2-40B4-BE49-F238E27FC236}">
                <a16:creationId xmlns:a16="http://schemas.microsoft.com/office/drawing/2014/main" id="{AC1F7A4D-E31A-13F8-1678-55D8B2CBE183}"/>
              </a:ext>
            </a:extLst>
          </p:cNvPr>
          <p:cNvSpPr txBox="1">
            <a:spLocks/>
          </p:cNvSpPr>
          <p:nvPr/>
        </p:nvSpPr>
        <p:spPr bwMode="auto">
          <a:xfrm>
            <a:off x="668423" y="1096551"/>
            <a:ext cx="89844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92075" indent="-92075" defTabSz="182563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 Narrow" panose="020B0606020202030204" pitchFamily="34" charset="0"/>
              <a:buChar char="●"/>
              <a:tabLst>
                <a:tab pos="0" algn="l"/>
              </a:tabLst>
              <a:defRPr kumimoji="1" sz="1400">
                <a:solidFill>
                  <a:srgbClr val="231F20"/>
                </a:solidFill>
                <a:latin typeface="Arial Narrow" pitchFamily="34" charset="0"/>
                <a:ea typeface="LG스마트체2.0 Regular" pitchFamily="50" charset="-127"/>
              </a:defRPr>
            </a:lvl1pPr>
            <a:lvl2pPr marL="742950" indent="-285750" defTabSz="179388" eaLnBrk="0" hangingPunct="0">
              <a:spcBef>
                <a:spcPct val="20000"/>
              </a:spcBef>
              <a:buFont typeface="Arial" charset="0"/>
              <a:buChar char="–"/>
              <a:tabLst>
                <a:tab pos="0" algn="l"/>
              </a:tabLst>
              <a:defRPr sz="2800"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179388" eaLnBrk="0" hangingPunct="0">
              <a:spcBef>
                <a:spcPct val="20000"/>
              </a:spcBef>
              <a:buFont typeface="Arial" charset="0"/>
              <a:buChar char="•"/>
              <a:tabLst>
                <a:tab pos="0" algn="l"/>
              </a:tabLst>
              <a:defRPr sz="2300"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179388" eaLnBrk="0" hangingPunct="0">
              <a:spcBef>
                <a:spcPct val="20000"/>
              </a:spcBef>
              <a:buFont typeface="Arial" charset="0"/>
              <a:buChar char="–"/>
              <a:tabLst>
                <a:tab pos="0" algn="l"/>
              </a:tabLst>
              <a:defRPr sz="2000"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179388" eaLnBrk="0" hangingPunct="0">
              <a:spcBef>
                <a:spcPct val="20000"/>
              </a:spcBef>
              <a:buFont typeface="Arial" charset="0"/>
              <a:buChar char="»"/>
              <a:tabLst>
                <a:tab pos="0" algn="l"/>
              </a:tabLst>
              <a:defRPr sz="2000"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1793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0" algn="l"/>
              </a:tabLst>
              <a:defRPr sz="2000"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1793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0" algn="l"/>
              </a:tabLst>
              <a:defRPr sz="2000"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1793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0" algn="l"/>
              </a:tabLst>
              <a:defRPr sz="2000"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1793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0" algn="l"/>
              </a:tabLst>
              <a:defRPr sz="2000"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1825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 Narrow" panose="020B0606020202030204" pitchFamily="34" charset="0"/>
              <a:buNone/>
              <a:tabLst>
                <a:tab pos="0" algn="l"/>
              </a:tabLst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전사 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AX 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역량강화를 위해 사내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/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외 컨텐츠를 활용한 온라인 상시학습 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LETO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를 세분화하여 신설함으로써 구성원이 자율적으로 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AI 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및 빅데이터 분석 관련 지식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/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스킬을 학습할 수 있도록 지원하고자 함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</a:rPr>
              <a:t>.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F4DA1E-4391-8C61-4CD8-768D23E24B35}"/>
              </a:ext>
            </a:extLst>
          </p:cNvPr>
          <p:cNvSpPr txBox="1"/>
          <p:nvPr/>
        </p:nvSpPr>
        <p:spPr>
          <a:xfrm>
            <a:off x="5780991" y="1321948"/>
            <a:ext cx="34112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/>
            <a:r>
              <a:rPr lang="en-US" altLang="ko-KR" sz="900" spc="-150" dirty="0">
                <a:solidFill>
                  <a:srgbClr val="007635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Smart HRD</a:t>
            </a:r>
            <a:r>
              <a:rPr lang="ko-KR" altLang="en-US" sz="900" spc="-150" dirty="0">
                <a:solidFill>
                  <a:srgbClr val="007635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</a:t>
            </a:r>
            <a:r>
              <a:rPr lang="en-US" altLang="ko-KR" sz="900" spc="-150" dirty="0">
                <a:solidFill>
                  <a:srgbClr val="007635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LETO</a:t>
            </a:r>
            <a:r>
              <a:rPr lang="ko-KR" altLang="en-US" sz="900" spc="-150" dirty="0">
                <a:solidFill>
                  <a:srgbClr val="007635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명으로 검색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ADEB23-2155-5409-A61A-9F9D0967F158}"/>
              </a:ext>
            </a:extLst>
          </p:cNvPr>
          <p:cNvSpPr txBox="1"/>
          <p:nvPr/>
        </p:nvSpPr>
        <p:spPr>
          <a:xfrm>
            <a:off x="5863601" y="299886"/>
            <a:ext cx="35463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/>
            <a:r>
              <a:rPr lang="en-US" altLang="ko-KR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spc="-1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인화원</a:t>
            </a:r>
            <a:r>
              <a:rPr lang="ko-KR" altLang="en-US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spc="-1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Qrius</a:t>
            </a:r>
            <a:r>
              <a:rPr lang="en-US" altLang="ko-KR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자사 </a:t>
            </a:r>
            <a:r>
              <a:rPr lang="ko-KR" altLang="en-US" sz="900" spc="-1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디튜브</a:t>
            </a:r>
            <a:r>
              <a:rPr lang="en-US" altLang="ko-KR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 무료 이러닝 강좌 컨텐츠 활용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DF15D90-4DEC-517D-5D0B-8F2EB4BEA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318325"/>
              </p:ext>
            </p:extLst>
          </p:nvPr>
        </p:nvGraphicFramePr>
        <p:xfrm>
          <a:off x="776536" y="1595343"/>
          <a:ext cx="8280920" cy="5107523"/>
        </p:xfrm>
        <a:graphic>
          <a:graphicData uri="http://schemas.openxmlformats.org/drawingml/2006/table">
            <a:tbl>
              <a:tblPr firstRow="1" bandRow="1"/>
              <a:tblGrid>
                <a:gridCol w="1543206">
                  <a:extLst>
                    <a:ext uri="{9D8B030D-6E8A-4147-A177-3AD203B41FA5}">
                      <a16:colId xmlns:a16="http://schemas.microsoft.com/office/drawing/2014/main" val="3776015182"/>
                    </a:ext>
                  </a:extLst>
                </a:gridCol>
                <a:gridCol w="1921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1962">
                  <a:extLst>
                    <a:ext uri="{9D8B030D-6E8A-4147-A177-3AD203B41FA5}">
                      <a16:colId xmlns:a16="http://schemas.microsoft.com/office/drawing/2014/main" val="44199331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590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LETO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명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en-US" altLang="ko-KR" sz="1100" b="1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주요내용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컨텐츠 수량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26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LG DX 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개념 이해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LG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AX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(12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디지털 대전환의 조건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(9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AX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실행을 위한 일하는 방식 특강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글로벌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기술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Trend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및 활용 인사이트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(36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59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096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‘DX 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추진전략</a:t>
                      </a:r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' </a:t>
                      </a: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사외 전문가 특강 컨텐츠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디지털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트렌스포메이션의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 to Z  (13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기반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AX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추진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사내 특강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(5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빅데이터로 성공하기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(8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자율형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스마트팩토리와 디지털 트윈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! </a:t>
                      </a:r>
                      <a:b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무엇을 준비해야 하는가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? (1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100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사내특강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27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95630"/>
                  </a:ext>
                </a:extLst>
              </a:tr>
              <a:tr h="748116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생성형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활용을 위한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자율학습 컨텐츠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생성형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사내 특강 및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Tech GPT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링크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생성형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 및 활용 컨텐츠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(45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챗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GPT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업무 활용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Tip (2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49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954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ChatEXAONE</a:t>
                      </a:r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 및 활용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1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엑사원</a:t>
                      </a:r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ChatEXAONE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</a:t>
                      </a:r>
                      <a:endParaRPr lang="en-US" altLang="ko-KR" sz="1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사용자 매뉴얼 및 사용방법</a:t>
                      </a:r>
                      <a:endParaRPr lang="en-US" altLang="ko-KR" sz="1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ChatEXAONE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 사례 소개</a:t>
                      </a:r>
                      <a:endParaRPr lang="en-US" altLang="ko-KR" sz="1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37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027979"/>
                  </a:ext>
                </a:extLst>
              </a:tr>
              <a:tr h="785954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분석을 위한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기초 통계 이해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알아두면 쓸모 있는 통계학의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모든것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시리즈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(9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기초 통계분석 이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해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(39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시그마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GB, BB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통계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Tool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시리즈 링크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(43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687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분석을 위한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수학</a:t>
                      </a:r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통계</a:t>
                      </a:r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이해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분석을 위한 수학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통계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(17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데이터 분석을 위한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(8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주성분분석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군집분석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의사결정나무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랜덤포레스트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(18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43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71EDCAC7-504D-2817-122D-39EF8DABEE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5193721"/>
            <a:ext cx="1458644" cy="65280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874AEF-3D22-7BC9-0722-2066BCD7D1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958019"/>
            <a:ext cx="1458644" cy="65280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27E6EA-DB6A-D102-DD28-6FFA59234A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3668524"/>
            <a:ext cx="1458644" cy="624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E77C46-9375-CBBE-3F3B-F642F62E58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2763960"/>
            <a:ext cx="1458644" cy="6790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6913045-2D3E-5E90-7798-D1EB29A838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3" y="5982656"/>
            <a:ext cx="1458644" cy="6692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CC080C-7064-FB72-134E-5271CE3C7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552" y="4404532"/>
            <a:ext cx="1458644" cy="652809"/>
          </a:xfrm>
          <a:prstGeom prst="rect">
            <a:avLst/>
          </a:prstGeom>
        </p:spPr>
      </p:pic>
      <p:sp>
        <p:nvSpPr>
          <p:cNvPr id="3" name="실행 단추: 홈 6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904F3F31-022E-BF25-5F82-DBB72592D10F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41806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제목 5">
            <a:extLst>
              <a:ext uri="{FF2B5EF4-FFF2-40B4-BE49-F238E27FC236}">
                <a16:creationId xmlns:a16="http://schemas.microsoft.com/office/drawing/2014/main" id="{7E593AAE-BC95-7F95-AEC3-282381D82F5D}"/>
              </a:ext>
            </a:extLst>
          </p:cNvPr>
          <p:cNvSpPr txBox="1">
            <a:spLocks/>
          </p:cNvSpPr>
          <p:nvPr/>
        </p:nvSpPr>
        <p:spPr>
          <a:xfrm>
            <a:off x="739371" y="272991"/>
            <a:ext cx="7636587" cy="370800"/>
          </a:xfrm>
          <a:prstGeom prst="rect">
            <a:avLst/>
          </a:prstGeom>
        </p:spPr>
        <p:txBody>
          <a:bodyPr lIns="46800" rIns="46800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1800" b="1" kern="1200" baseline="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온라인 상시 자율학습을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위한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AX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주제별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LETO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소개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(2/2)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ADEB23-2155-5409-A61A-9F9D0967F158}"/>
              </a:ext>
            </a:extLst>
          </p:cNvPr>
          <p:cNvSpPr txBox="1"/>
          <p:nvPr/>
        </p:nvSpPr>
        <p:spPr>
          <a:xfrm>
            <a:off x="5956897" y="299886"/>
            <a:ext cx="35463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/>
            <a:r>
              <a:rPr lang="en-US" altLang="ko-KR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spc="-1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인화원</a:t>
            </a:r>
            <a:r>
              <a:rPr lang="ko-KR" altLang="en-US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spc="-1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Qrius</a:t>
            </a:r>
            <a:r>
              <a:rPr lang="en-US" altLang="ko-KR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자사 </a:t>
            </a:r>
            <a:r>
              <a:rPr lang="ko-KR" altLang="en-US" sz="900" spc="-1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디튜브</a:t>
            </a:r>
            <a:r>
              <a:rPr lang="en-US" altLang="ko-KR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 무료 이러닝 강좌 컨텐츠 활용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81A487B-CC65-1BC8-4C32-1E93642F9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991124"/>
              </p:ext>
            </p:extLst>
          </p:nvPr>
        </p:nvGraphicFramePr>
        <p:xfrm>
          <a:off x="776536" y="1352739"/>
          <a:ext cx="8280920" cy="5177073"/>
        </p:xfrm>
        <a:graphic>
          <a:graphicData uri="http://schemas.openxmlformats.org/drawingml/2006/table">
            <a:tbl>
              <a:tblPr firstRow="1" bandRow="1"/>
              <a:tblGrid>
                <a:gridCol w="1543206">
                  <a:extLst>
                    <a:ext uri="{9D8B030D-6E8A-4147-A177-3AD203B41FA5}">
                      <a16:colId xmlns:a16="http://schemas.microsoft.com/office/drawing/2014/main" val="3776015182"/>
                    </a:ext>
                  </a:extLst>
                </a:gridCol>
                <a:gridCol w="1921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1962">
                  <a:extLst>
                    <a:ext uri="{9D8B030D-6E8A-4147-A177-3AD203B41FA5}">
                      <a16:colId xmlns:a16="http://schemas.microsoft.com/office/drawing/2014/main" val="44199331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1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LETO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명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en-US" altLang="ko-KR" sz="1100" b="1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주요내용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컨텐츠 수량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7108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기술의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작동원리 이해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AI/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이해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Short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영상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(10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2020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년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7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대 트렌드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(8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비전공자를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위한 인공지능 이해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(6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기술의 작동원리 이해하기 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(11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661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이해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자율학습 컨텐츠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머신러닝을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위한 수학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통계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(2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인공지능 및 기계학습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(3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이해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사이킷런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머신러닝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라이브러리 링크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95630"/>
                  </a:ext>
                </a:extLst>
              </a:tr>
              <a:tr h="890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dirty="0" err="1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자율 학습 컨텐츠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비전공자를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위한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1~4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단계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컴퓨터 비전 및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딥러닝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기초 이해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자연어 처리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강화학습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등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(6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014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Python 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코딩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스킬 기본 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파이썬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코딩 입문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en-US" altLang="ko-KR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edwith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/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유튜브 강좌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78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파이썬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코딩 예제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인화원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32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Python PJT (</a:t>
                      </a:r>
                      <a:r>
                        <a:rPr lang="en-US" altLang="ko-KR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numpy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/pandas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활용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강의 영상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29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외부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파이썬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코딩 강좌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(13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en-US" altLang="ko-KR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edwith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152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 </a:t>
                      </a:r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프로그래밍 </a:t>
                      </a:r>
                      <a:endParaRPr lang="en-US" altLang="ko-KR" sz="1100" dirty="0"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자율 학습 컨텐츠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프로그래밍 기초 이러닝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(3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  *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택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수강</a:t>
                      </a:r>
                      <a:endParaRPr lang="en-US" altLang="ko-KR" sz="11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  <a:p>
                      <a:pPr marL="88900" marR="0" indent="-88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을 활용한 데이터 분석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(44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47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06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Total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565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E791FB4-9BA2-988A-891F-10ABBFCA6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57" y="4481034"/>
            <a:ext cx="1403183" cy="78701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047F989-0FA8-6218-8776-232212DABD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91" y="5440950"/>
            <a:ext cx="1403250" cy="7363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A816899-842B-FE5F-8891-25CB36113D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92" y="1778885"/>
            <a:ext cx="1403250" cy="7528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E0E935-DFEB-03B6-4A6C-9662871384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47" y="2728567"/>
            <a:ext cx="1408694" cy="6813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006404C-F11C-7A39-42B5-387DB8CF61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47" y="3575599"/>
            <a:ext cx="1408693" cy="739721"/>
          </a:xfrm>
          <a:prstGeom prst="rect">
            <a:avLst/>
          </a:prstGeom>
        </p:spPr>
      </p:pic>
      <p:sp>
        <p:nvSpPr>
          <p:cNvPr id="8" name="실행 단추: 홈 6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2EDCB37B-960B-E2F3-9955-4D7D8E917515}"/>
              </a:ext>
            </a:extLst>
          </p:cNvPr>
          <p:cNvSpPr/>
          <p:nvPr/>
        </p:nvSpPr>
        <p:spPr>
          <a:xfrm>
            <a:off x="9532188" y="65129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2181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836712"/>
            <a:ext cx="9906000" cy="43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850" y="879574"/>
            <a:ext cx="7509470" cy="317500"/>
          </a:xfrm>
          <a:prstGeom prst="roundRect">
            <a:avLst/>
          </a:prstGeom>
          <a:noFill/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● 외부기관</a:t>
            </a:r>
            <a:r>
              <a:rPr lang="en-US" altLang="ko-KR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선택 교육</a:t>
            </a:r>
            <a:r>
              <a:rPr lang="en-US" altLang="ko-KR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무료</a:t>
            </a:r>
            <a:r>
              <a:rPr lang="en-US" altLang="ko-KR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참가 </a:t>
            </a:r>
            <a:r>
              <a:rPr lang="en-US" altLang="ko-KR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Guide</a:t>
            </a:r>
            <a:endParaRPr lang="ko-KR" altLang="en-US" sz="1100" b="1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오각형 5"/>
          <p:cNvSpPr/>
          <p:nvPr/>
        </p:nvSpPr>
        <p:spPr bwMode="auto">
          <a:xfrm>
            <a:off x="1443807" y="1476058"/>
            <a:ext cx="4301281" cy="412750"/>
          </a:xfrm>
          <a:prstGeom prst="homePlate">
            <a:avLst>
              <a:gd name="adj" fmla="val 23333"/>
            </a:avLst>
          </a:prstGeom>
          <a:solidFill>
            <a:srgbClr val="FFDCB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ko-KR" altLang="en-US" sz="105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교육참가 전</a:t>
            </a:r>
          </a:p>
        </p:txBody>
      </p:sp>
      <p:sp>
        <p:nvSpPr>
          <p:cNvPr id="7" name="오각형 6"/>
          <p:cNvSpPr/>
          <p:nvPr/>
        </p:nvSpPr>
        <p:spPr bwMode="auto">
          <a:xfrm>
            <a:off x="5870853" y="1476058"/>
            <a:ext cx="1746444" cy="412750"/>
          </a:xfrm>
          <a:prstGeom prst="homePlate">
            <a:avLst>
              <a:gd name="adj" fmla="val 23333"/>
            </a:avLst>
          </a:prstGeom>
          <a:solidFill>
            <a:srgbClr val="FFDCB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ko-KR" altLang="en-US" sz="105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교육참가 중</a:t>
            </a:r>
          </a:p>
        </p:txBody>
      </p:sp>
      <p:sp>
        <p:nvSpPr>
          <p:cNvPr id="8" name="오각형 7"/>
          <p:cNvSpPr/>
          <p:nvPr/>
        </p:nvSpPr>
        <p:spPr bwMode="auto">
          <a:xfrm>
            <a:off x="7743062" y="1476058"/>
            <a:ext cx="1889888" cy="412750"/>
          </a:xfrm>
          <a:prstGeom prst="homePlate">
            <a:avLst>
              <a:gd name="adj" fmla="val 23333"/>
            </a:avLst>
          </a:prstGeom>
          <a:solidFill>
            <a:srgbClr val="FFDCB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ko-KR" altLang="en-US" sz="105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교육참가 후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409934" y="3521684"/>
            <a:ext cx="780983" cy="1003407"/>
            <a:chOff x="708227" y="3312708"/>
            <a:chExt cx="780983" cy="1003407"/>
          </a:xfrm>
        </p:grpSpPr>
        <p:sp>
          <p:nvSpPr>
            <p:cNvPr id="10" name="Text Box 52"/>
            <p:cNvSpPr txBox="1">
              <a:spLocks noChangeArrowheads="1"/>
            </p:cNvSpPr>
            <p:nvPr/>
          </p:nvSpPr>
          <p:spPr bwMode="auto">
            <a:xfrm>
              <a:off x="708227" y="3916005"/>
              <a:ext cx="7809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ko-KR" altLang="en-US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교육생</a:t>
              </a:r>
              <a:endPara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  <a:p>
              <a:pPr algn="ctr" eaLnBrk="1" hangingPunct="1"/>
              <a:r>
                <a:rPr lang="en-US" altLang="ko-KR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(</a:t>
              </a:r>
              <a:r>
                <a:rPr lang="ko-KR" altLang="en-US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실</a:t>
              </a:r>
              <a:r>
                <a:rPr lang="en-US" altLang="ko-KR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/</a:t>
              </a:r>
              <a:r>
                <a:rPr lang="ko-KR" altLang="en-US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팀 단위</a:t>
              </a:r>
              <a:r>
                <a:rPr lang="en-US" altLang="ko-KR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)</a:t>
              </a:r>
            </a:p>
          </p:txBody>
        </p:sp>
        <p:pic>
          <p:nvPicPr>
            <p:cNvPr id="11" name="Picture 2" descr="C:\Users\Administrator\AppData\Local\Microsoft\Windows\Temporary Internet Files\Content.IE5\10V4312G\MC900195808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146" y="3312708"/>
              <a:ext cx="621142" cy="59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그룹 11"/>
          <p:cNvGrpSpPr/>
          <p:nvPr/>
        </p:nvGrpSpPr>
        <p:grpSpPr>
          <a:xfrm>
            <a:off x="426756" y="5161322"/>
            <a:ext cx="747336" cy="1147998"/>
            <a:chOff x="732022" y="3367882"/>
            <a:chExt cx="747336" cy="1147998"/>
          </a:xfrm>
        </p:grpSpPr>
        <p:sp>
          <p:nvSpPr>
            <p:cNvPr id="13" name="Text Box 47"/>
            <p:cNvSpPr txBox="1">
              <a:spLocks noChangeArrowheads="1"/>
            </p:cNvSpPr>
            <p:nvPr/>
          </p:nvSpPr>
          <p:spPr bwMode="auto">
            <a:xfrm>
              <a:off x="760086" y="3961882"/>
              <a:ext cx="691216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ko-KR" altLang="en-US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전사 교육</a:t>
              </a:r>
              <a:endPara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  <a:p>
              <a:pPr algn="ctr" eaLnBrk="1" hangingPunct="1"/>
              <a:r>
                <a:rPr lang="ko-KR" altLang="en-US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주관부서</a:t>
              </a:r>
              <a:endPara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  <a:p>
              <a:pPr algn="ctr" eaLnBrk="1" hangingPunct="1"/>
              <a:r>
                <a:rPr lang="en-US" altLang="ko-KR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(HRD)</a:t>
              </a:r>
            </a:p>
          </p:txBody>
        </p:sp>
        <p:pic>
          <p:nvPicPr>
            <p:cNvPr id="14" name="Picture 2" descr="C:\Users\Administrator\AppData\Local\Microsoft\Windows\Temporary Internet Files\Content.IE5\28V5HI7O\MC900304637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022" y="3367882"/>
              <a:ext cx="747336" cy="59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그룹 14"/>
          <p:cNvGrpSpPr/>
          <p:nvPr/>
        </p:nvGrpSpPr>
        <p:grpSpPr>
          <a:xfrm>
            <a:off x="264030" y="2217127"/>
            <a:ext cx="1080745" cy="985327"/>
            <a:chOff x="483992" y="4808038"/>
            <a:chExt cx="1080745" cy="985327"/>
          </a:xfrm>
        </p:grpSpPr>
        <p:sp>
          <p:nvSpPr>
            <p:cNvPr id="16" name="Text Box 45"/>
            <p:cNvSpPr txBox="1">
              <a:spLocks noChangeArrowheads="1"/>
            </p:cNvSpPr>
            <p:nvPr/>
          </p:nvSpPr>
          <p:spPr bwMode="auto">
            <a:xfrm>
              <a:off x="483992" y="5393255"/>
              <a:ext cx="108074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ko-KR" altLang="en-US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사외 무료 이러닝</a:t>
              </a:r>
              <a:endParaRPr lang="en-US" altLang="ko-KR" b="1" dirty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  <a:p>
              <a:pPr algn="ctr" eaLnBrk="1" hangingPunct="1"/>
              <a:r>
                <a:rPr lang="ko-KR" altLang="en-US" b="1" dirty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교육기관</a:t>
              </a:r>
            </a:p>
          </p:txBody>
        </p:sp>
        <p:pic>
          <p:nvPicPr>
            <p:cNvPr id="17" name="Picture 4" descr="C:\Users\Administrator\AppData\Local\Microsoft\Windows\Temporary Internet Files\Content.IE5\CKRKRQLH\MC900240161[1].wmf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870" y="4808038"/>
              <a:ext cx="768980" cy="59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직선 연결선 17"/>
          <p:cNvCxnSpPr/>
          <p:nvPr/>
        </p:nvCxnSpPr>
        <p:spPr>
          <a:xfrm>
            <a:off x="415925" y="3284984"/>
            <a:ext cx="92170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415925" y="5085184"/>
            <a:ext cx="92170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4277339" y="3719187"/>
            <a:ext cx="1127125" cy="432000"/>
          </a:xfrm>
          <a:prstGeom prst="roundRect">
            <a:avLst/>
          </a:prstGeom>
          <a:solidFill>
            <a:srgbClr val="FFFFCC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사외교육 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참가품의</a:t>
            </a:r>
            <a:r>
              <a:rPr lang="en-US" altLang="ko-KR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r>
              <a:rPr lang="ko-KR" altLang="en-US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작성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7902415" y="3719187"/>
            <a:ext cx="1126800" cy="432000"/>
          </a:xfrm>
          <a:prstGeom prst="roundRect">
            <a:avLst/>
          </a:prstGeom>
          <a:solidFill>
            <a:srgbClr val="FFFFCC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사외교육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</a:t>
            </a:r>
            <a:r>
              <a:rPr lang="en-US" altLang="ko-KR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r>
              <a:rPr lang="ko-KR" altLang="en-US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작성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23" name="직선 화살표 연결선 22"/>
          <p:cNvCxnSpPr>
            <a:stCxn id="35" idx="3"/>
            <a:endCxn id="24" idx="1"/>
          </p:cNvCxnSpPr>
          <p:nvPr/>
        </p:nvCxnSpPr>
        <p:spPr>
          <a:xfrm>
            <a:off x="7041232" y="2474133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7833320" y="2258430"/>
            <a:ext cx="699045" cy="43140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수료증 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발급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26" name="직선 화살표 연결선 25"/>
          <p:cNvCxnSpPr>
            <a:stCxn id="20" idx="3"/>
            <a:endCxn id="34" idx="1"/>
          </p:cNvCxnSpPr>
          <p:nvPr/>
        </p:nvCxnSpPr>
        <p:spPr>
          <a:xfrm>
            <a:off x="5404464" y="3935187"/>
            <a:ext cx="93711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34" idx="3"/>
            <a:endCxn id="21" idx="1"/>
          </p:cNvCxnSpPr>
          <p:nvPr/>
        </p:nvCxnSpPr>
        <p:spPr>
          <a:xfrm>
            <a:off x="7041232" y="3935187"/>
            <a:ext cx="8611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48" idx="3"/>
            <a:endCxn id="35" idx="1"/>
          </p:cNvCxnSpPr>
          <p:nvPr/>
        </p:nvCxnSpPr>
        <p:spPr>
          <a:xfrm flipV="1">
            <a:off x="5672892" y="2474133"/>
            <a:ext cx="669295" cy="2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3597446" y="2258430"/>
            <a:ext cx="734361" cy="432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참가확정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6341577" y="3719187"/>
            <a:ext cx="699655" cy="432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교육참가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6342187" y="2258430"/>
            <a:ext cx="699045" cy="43140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교육진행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37" name="꺾인 연결선 36"/>
          <p:cNvCxnSpPr>
            <a:stCxn id="39" idx="0"/>
            <a:endCxn id="32" idx="1"/>
          </p:cNvCxnSpPr>
          <p:nvPr/>
        </p:nvCxnSpPr>
        <p:spPr>
          <a:xfrm rot="5400000" flipH="1" flipV="1">
            <a:off x="2748182" y="2869923"/>
            <a:ext cx="1244757" cy="453772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39" idx="3"/>
            <a:endCxn id="20" idx="1"/>
          </p:cNvCxnSpPr>
          <p:nvPr/>
        </p:nvCxnSpPr>
        <p:spPr>
          <a:xfrm>
            <a:off x="3566596" y="3935187"/>
            <a:ext cx="71074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2720752" y="3719187"/>
            <a:ext cx="845844" cy="432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교육참가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신청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8749194" y="5520731"/>
            <a:ext cx="1028342" cy="41867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LGD HRD.com</a:t>
            </a:r>
          </a:p>
          <a:p>
            <a:pPr algn="ctr">
              <a:defRPr/>
            </a:pPr>
            <a:r>
              <a:rPr lang="ko-KR" altLang="en-US" sz="900" dirty="0" err="1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교육이력</a:t>
            </a: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반영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1" name="Text Box 55"/>
          <p:cNvSpPr txBox="1">
            <a:spLocks noChangeArrowheads="1"/>
          </p:cNvSpPr>
          <p:nvPr/>
        </p:nvSpPr>
        <p:spPr bwMode="auto">
          <a:xfrm>
            <a:off x="1280592" y="6309320"/>
            <a:ext cx="676875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</a:t>
            </a:r>
            <a:r>
              <a:rPr lang="en-US" altLang="ko-KR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1) </a:t>
            </a:r>
            <a:r>
              <a:rPr lang="ko-KR" altLang="en-US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교육종료 후 결과보고해야 </a:t>
            </a:r>
            <a:r>
              <a:rPr lang="ko-KR" altLang="en-US" sz="900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교육이력</a:t>
            </a:r>
            <a:r>
              <a:rPr lang="en-US" altLang="ko-KR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등록 및 </a:t>
            </a:r>
            <a:r>
              <a:rPr lang="en-US" altLang="ko-KR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IDP </a:t>
            </a:r>
            <a:r>
              <a:rPr lang="ko-KR" altLang="en-US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실적 반영 가능</a:t>
            </a:r>
            <a:endParaRPr lang="en-US" altLang="ko-KR" sz="900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2" name="Text Box 55"/>
          <p:cNvSpPr txBox="1">
            <a:spLocks noChangeArrowheads="1"/>
          </p:cNvSpPr>
          <p:nvPr/>
        </p:nvSpPr>
        <p:spPr bwMode="auto">
          <a:xfrm>
            <a:off x="8749194" y="3692759"/>
            <a:ext cx="3840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</a:t>
            </a:r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1)</a:t>
            </a:r>
          </a:p>
        </p:txBody>
      </p:sp>
      <p:cxnSp>
        <p:nvCxnSpPr>
          <p:cNvPr id="43" name="꺾인 연결선 42"/>
          <p:cNvCxnSpPr>
            <a:stCxn id="54" idx="3"/>
            <a:endCxn id="39" idx="2"/>
          </p:cNvCxnSpPr>
          <p:nvPr/>
        </p:nvCxnSpPr>
        <p:spPr>
          <a:xfrm flipV="1">
            <a:off x="2955028" y="4151187"/>
            <a:ext cx="188646" cy="1474903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모서리가 둥근 직사각형 47"/>
          <p:cNvSpPr/>
          <p:nvPr/>
        </p:nvSpPr>
        <p:spPr>
          <a:xfrm>
            <a:off x="4938531" y="2258430"/>
            <a:ext cx="734361" cy="432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교육참가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안내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1443807" y="5395625"/>
            <a:ext cx="1511221" cy="46092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 </a:t>
            </a:r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MOOC </a:t>
            </a: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무료 이러닝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>
              <a:defRPr/>
            </a:pPr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Curation &amp; </a:t>
            </a:r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공유</a:t>
            </a:r>
            <a:endParaRPr lang="en-US" altLang="ko-KR" sz="900" dirty="0">
              <a:solidFill>
                <a:schemeClr val="tx1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9" name="Text Box 55"/>
          <p:cNvSpPr txBox="1">
            <a:spLocks noChangeArrowheads="1"/>
          </p:cNvSpPr>
          <p:nvPr/>
        </p:nvSpPr>
        <p:spPr bwMode="auto">
          <a:xfrm>
            <a:off x="1378680" y="5841081"/>
            <a:ext cx="166610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전문역량개발팀 담당자</a:t>
            </a:r>
            <a:endParaRPr lang="en-US" altLang="ko-KR" sz="800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917982" y="4167879"/>
            <a:ext cx="20006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승인</a:t>
            </a: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팀장 </a:t>
            </a: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(or 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실장</a:t>
            </a: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77339" y="4161854"/>
            <a:ext cx="217701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결재 승인 재량권</a:t>
            </a:r>
            <a:endParaRPr lang="en-US" altLang="ko-KR" sz="800" b="1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- </a:t>
            </a:r>
            <a:r>
              <a:rPr lang="ko-KR" altLang="en-US" sz="800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승인권자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팀장 </a:t>
            </a: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(or </a:t>
            </a:r>
            <a:r>
              <a:rPr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실장</a:t>
            </a:r>
            <a:r>
              <a:rPr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66" name="AutoShape 124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222780" y="3573364"/>
            <a:ext cx="144016" cy="11770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ko-KR" altLang="en-US" sz="90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7" name="AutoShape 124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829266" y="3564631"/>
            <a:ext cx="144015" cy="129278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ko-KR" altLang="en-US" sz="90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제목 2"/>
          <p:cNvSpPr txBox="1">
            <a:spLocks/>
          </p:cNvSpPr>
          <p:nvPr/>
        </p:nvSpPr>
        <p:spPr bwMode="auto">
          <a:xfrm>
            <a:off x="128464" y="116880"/>
            <a:ext cx="7348538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 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MOOC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무료 이러닝 참가 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Process</a:t>
            </a:r>
            <a:endParaRPr lang="ko-KR" altLang="en-US" sz="2000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60912" y="116880"/>
            <a:ext cx="13436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105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교육이력 및 </a:t>
            </a:r>
            <a:r>
              <a:rPr lang="en-US" altLang="ko-KR" sz="105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IDP </a:t>
            </a:r>
            <a:r>
              <a:rPr lang="ko-KR" altLang="en-US" sz="1050" spc="-15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반영 가능</a:t>
            </a:r>
          </a:p>
        </p:txBody>
      </p:sp>
      <p:cxnSp>
        <p:nvCxnSpPr>
          <p:cNvPr id="70" name="꺾인 연결선 69"/>
          <p:cNvCxnSpPr>
            <a:stCxn id="21" idx="3"/>
            <a:endCxn id="40" idx="0"/>
          </p:cNvCxnSpPr>
          <p:nvPr/>
        </p:nvCxnSpPr>
        <p:spPr>
          <a:xfrm>
            <a:off x="9029215" y="3935187"/>
            <a:ext cx="234150" cy="158554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254907" y="4509700"/>
            <a:ext cx="21018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IDP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반영 시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‘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_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설정 후 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과정명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작성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2415" y="4530606"/>
            <a:ext cx="1604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 작성 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</a:p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IDP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실행결과 자동 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업데이트됨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80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cxnSp>
        <p:nvCxnSpPr>
          <p:cNvPr id="51" name="꺾인 연결선 50"/>
          <p:cNvCxnSpPr>
            <a:stCxn id="32" idx="3"/>
            <a:endCxn id="20" idx="0"/>
          </p:cNvCxnSpPr>
          <p:nvPr/>
        </p:nvCxnSpPr>
        <p:spPr>
          <a:xfrm>
            <a:off x="4331807" y="2474430"/>
            <a:ext cx="509095" cy="1244757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실행 단추: 홈 49">
            <a:hlinkClick r:id="rId7" action="ppaction://hlinksldjump" highlightClick="1"/>
          </p:cNvPr>
          <p:cNvSpPr/>
          <p:nvPr/>
        </p:nvSpPr>
        <p:spPr>
          <a:xfrm>
            <a:off x="9476205" y="615563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BCC68C-EAE1-2483-7E2E-2671797B6DA5}"/>
              </a:ext>
            </a:extLst>
          </p:cNvPr>
          <p:cNvSpPr txBox="1"/>
          <p:nvPr/>
        </p:nvSpPr>
        <p:spPr>
          <a:xfrm>
            <a:off x="7989500" y="6194565"/>
            <a:ext cx="15504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빅데이터의 세계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원리와 응용 ☞</a:t>
            </a:r>
          </a:p>
        </p:txBody>
      </p:sp>
      <p:sp>
        <p:nvSpPr>
          <p:cNvPr id="3" name="실행 단추: 홈 49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1F5E61B1-5FBE-D567-E74A-3760352F1614}"/>
              </a:ext>
            </a:extLst>
          </p:cNvPr>
          <p:cNvSpPr/>
          <p:nvPr/>
        </p:nvSpPr>
        <p:spPr>
          <a:xfrm>
            <a:off x="9479312" y="6401343"/>
            <a:ext cx="224287" cy="250169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D2564B-DFCD-4C5A-FB14-D52AA9DFD453}"/>
              </a:ext>
            </a:extLst>
          </p:cNvPr>
          <p:cNvSpPr txBox="1"/>
          <p:nvPr/>
        </p:nvSpPr>
        <p:spPr>
          <a:xfrm>
            <a:off x="8010338" y="6449606"/>
            <a:ext cx="15295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빅데이터를 위한 확률과 통계 ☞</a:t>
            </a:r>
          </a:p>
        </p:txBody>
      </p:sp>
    </p:spTree>
    <p:extLst>
      <p:ext uri="{BB962C8B-B14F-4D97-AF65-F5344CB8AC3E}">
        <p14:creationId xmlns:p14="http://schemas.microsoft.com/office/powerpoint/2010/main" val="40659472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b="19890"/>
          <a:stretch/>
        </p:blipFill>
        <p:spPr>
          <a:xfrm>
            <a:off x="218849" y="1393988"/>
            <a:ext cx="6786380" cy="3528293"/>
          </a:xfrm>
          <a:prstGeom prst="rect">
            <a:avLst/>
          </a:prstGeom>
        </p:spPr>
      </p:pic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55435"/>
              </p:ext>
            </p:extLst>
          </p:nvPr>
        </p:nvGraphicFramePr>
        <p:xfrm>
          <a:off x="248319" y="771525"/>
          <a:ext cx="6792913" cy="57626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0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3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 요</a:t>
                      </a: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내용</a:t>
                      </a: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31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메뉴경로</a:t>
                      </a: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7113588" y="771525"/>
            <a:ext cx="2592387" cy="575381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7113588" y="771525"/>
            <a:ext cx="2592387" cy="56991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6698" tIns="48349" rIns="96698" bIns="48349" anchor="ctr" anchorCtr="1"/>
          <a:lstStyle>
            <a:lvl1pPr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484188"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966788"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50975"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33575"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90775" defTabSz="9667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847975" defTabSz="9667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305175" defTabSz="9667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762375" defTabSz="9667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ko-KR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anose="020B0606020202030204" pitchFamily="34" charset="0"/>
                <a:ea typeface="LG스마트체2.0 Regular" panose="020B0600000101010101" pitchFamily="50" charset="-127"/>
              </a:rPr>
              <a:t>Memo</a:t>
            </a:r>
            <a:endParaRPr lang="ko-KR" altLang="en-US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7" name="제목 2"/>
          <p:cNvSpPr txBox="1">
            <a:spLocks/>
          </p:cNvSpPr>
          <p:nvPr/>
        </p:nvSpPr>
        <p:spPr bwMode="auto">
          <a:xfrm>
            <a:off x="88739" y="116880"/>
            <a:ext cx="7348537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>
                <a:solidFill>
                  <a:schemeClr val="bg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Arial" pitchFamily="34" charset="0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유첨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1.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사외교육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참가품의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 작성 매뉴얼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_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itchFamily="34" charset="0"/>
              </a:rPr>
              <a:t>교육생</a:t>
            </a:r>
          </a:p>
        </p:txBody>
      </p:sp>
      <p:sp>
        <p:nvSpPr>
          <p:cNvPr id="39" name="내용 개체 틀 2"/>
          <p:cNvSpPr txBox="1">
            <a:spLocks/>
          </p:cNvSpPr>
          <p:nvPr/>
        </p:nvSpPr>
        <p:spPr bwMode="auto">
          <a:xfrm>
            <a:off x="1640557" y="1065560"/>
            <a:ext cx="5400675" cy="2889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Smart HRD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상단 메뉴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삼색선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→ 품의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보고 → 사외교육품의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보고 → </a:t>
            </a:r>
            <a:r>
              <a:rPr lang="ko-KR" altLang="en-US" sz="900" b="1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참가품의</a:t>
            </a:r>
            <a:endParaRPr lang="ko-KR" altLang="en-US" sz="9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0" name="내용 개체 틀 4"/>
          <p:cNvSpPr txBox="1">
            <a:spLocks/>
          </p:cNvSpPr>
          <p:nvPr/>
        </p:nvSpPr>
        <p:spPr bwMode="auto">
          <a:xfrm>
            <a:off x="1639888" y="803275"/>
            <a:ext cx="5400675" cy="28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/>
            <a:r>
              <a:rPr lang="ko-KR" altLang="en-US" sz="90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사외교육 참가품의</a:t>
            </a:r>
            <a:endParaRPr lang="ko-KR" altLang="en-US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3" name="내용 개체 틀 2"/>
          <p:cNvSpPr txBox="1">
            <a:spLocks/>
          </p:cNvSpPr>
          <p:nvPr/>
        </p:nvSpPr>
        <p:spPr bwMode="auto">
          <a:xfrm>
            <a:off x="7185025" y="1382519"/>
            <a:ext cx="2556507" cy="44227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“</a:t>
            </a:r>
            <a:r>
              <a:rPr lang="ko-KR" altLang="en-US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교육분류</a:t>
            </a:r>
            <a: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교육기간</a:t>
            </a:r>
            <a: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교육일수</a:t>
            </a:r>
            <a: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  <a: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r>
              <a:rPr lang="ko-KR" altLang="en-US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은 </a:t>
            </a:r>
            <a:b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본인 이력 </a:t>
            </a:r>
            <a:r>
              <a:rPr lang="ko-KR" altLang="en-US" sz="900" kern="0" dirty="0" err="1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반영시</a:t>
            </a:r>
            <a:r>
              <a:rPr lang="ko-KR" altLang="en-US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중요한 요소 이므로 </a:t>
            </a:r>
            <a:b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반드시 정확히 기재해야 함</a:t>
            </a:r>
            <a:r>
              <a:rPr lang="en-US" altLang="ko-KR" sz="900" kern="0" dirty="0">
                <a:solidFill>
                  <a:srgbClr val="0000FF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endParaRPr lang="ko-KR" altLang="en-US" sz="900" kern="0" dirty="0">
              <a:solidFill>
                <a:srgbClr val="0000FF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buFontTx/>
              <a:buNone/>
              <a:defRPr/>
            </a:pP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참가 예정인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사외교육 </a:t>
            </a:r>
            <a:r>
              <a:rPr lang="ko-KR" altLang="en-US" sz="9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과정명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입력 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(2)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사외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MOOC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</a:t>
            </a:r>
            <a:r>
              <a:rPr lang="ko-KR" altLang="en-US" sz="9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참가목적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입력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(3)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교육분류체계에 근거하여 </a:t>
            </a:r>
            <a:b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대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소 분류로 입력</a:t>
            </a:r>
            <a:b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(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교육분류체계 </a:t>
            </a:r>
            <a:r>
              <a:rPr lang="ko-KR" altLang="en-US" sz="9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유첨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1.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참조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b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ex) R&amp;D :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– R&amp;D – R&amp;D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공통</a:t>
            </a:r>
            <a:b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 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제조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생산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– </a:t>
            </a:r>
            <a:r>
              <a:rPr lang="ko-KR" altLang="en-US" sz="9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직무공통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b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  Staff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등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– </a:t>
            </a:r>
            <a:r>
              <a:rPr lang="ko-KR" altLang="en-US" sz="9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직무공통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– </a:t>
            </a:r>
            <a:r>
              <a:rPr lang="ko-KR" altLang="en-US" sz="9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직무공통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_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기타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(4)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사외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MOOC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는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e-learning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입력 必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(5)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 기관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직접 입력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(6) ~ (8)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교육과정 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시작일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~</a:t>
            </a:r>
            <a:r>
              <a:rPr lang="ko-KR" altLang="en-US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종료일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,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교육일수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”,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교육시간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입력</a:t>
            </a:r>
            <a:endParaRPr lang="en-US" altLang="ko-KR" sz="900" kern="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(9)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~ (10)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‘N’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선택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(11)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총 교육비는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‘0’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입력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원화 외 화폐는 원화로 환산하여 입력</a:t>
            </a:r>
            <a:endParaRPr lang="en-US" altLang="ko-KR" sz="900" kern="0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(12)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교육 실시장소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(or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지역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는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‘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근무지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‘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입력</a:t>
            </a:r>
            <a:b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-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이러닝은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‘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입력 가능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(13)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IDP</a:t>
            </a:r>
            <a:r>
              <a:rPr lang="ko-KR" altLang="en-US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 반영된 교육인 경우 </a:t>
            </a:r>
            <a:r>
              <a:rPr lang="en-US" altLang="ko-KR" sz="9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‘Y’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사무직에 한함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(14)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개요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세부내용 입력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(15)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Course Profile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 있을 경우</a:t>
            </a: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별도 </a:t>
            </a:r>
            <a:r>
              <a:rPr lang="ko-KR" altLang="en-US" sz="9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유첨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(16) Reset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버턴 클릭</a:t>
            </a:r>
            <a:b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</a:t>
            </a:r>
            <a:r>
              <a:rPr lang="ko-KR" altLang="en-US" sz="9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결재 승인 재량권 자동 </a:t>
            </a:r>
            <a:r>
              <a:rPr lang="ko-KR" altLang="en-US" sz="900" kern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셋팅</a:t>
            </a:r>
            <a:endParaRPr lang="en-US" altLang="ko-KR" sz="900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7" name="AutoShape 112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9309484" y="6273316"/>
            <a:ext cx="276225" cy="119062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8" name="AutoShape 124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25439" y="2676132"/>
            <a:ext cx="287338" cy="117475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41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61" y="5474504"/>
            <a:ext cx="6765372" cy="1086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61" y="4922281"/>
            <a:ext cx="6758968" cy="558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" name="직사각형 44"/>
          <p:cNvSpPr/>
          <p:nvPr/>
        </p:nvSpPr>
        <p:spPr>
          <a:xfrm>
            <a:off x="604905" y="4932955"/>
            <a:ext cx="6336704" cy="158417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6" name="내용 개체 틀 2"/>
          <p:cNvSpPr txBox="1">
            <a:spLocks/>
          </p:cNvSpPr>
          <p:nvPr/>
        </p:nvSpPr>
        <p:spPr bwMode="auto">
          <a:xfrm>
            <a:off x="434685" y="1790746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내용 개체 틀 2"/>
          <p:cNvSpPr txBox="1">
            <a:spLocks/>
          </p:cNvSpPr>
          <p:nvPr/>
        </p:nvSpPr>
        <p:spPr bwMode="auto">
          <a:xfrm>
            <a:off x="434685" y="1943146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(2)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내용 개체 틀 2"/>
          <p:cNvSpPr txBox="1">
            <a:spLocks/>
          </p:cNvSpPr>
          <p:nvPr/>
        </p:nvSpPr>
        <p:spPr bwMode="auto">
          <a:xfrm>
            <a:off x="434685" y="2086581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(3)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내용 개체 틀 2"/>
          <p:cNvSpPr txBox="1">
            <a:spLocks/>
          </p:cNvSpPr>
          <p:nvPr/>
        </p:nvSpPr>
        <p:spPr bwMode="auto">
          <a:xfrm>
            <a:off x="434685" y="2238981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(4)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0" name="내용 개체 틀 2"/>
          <p:cNvSpPr txBox="1">
            <a:spLocks/>
          </p:cNvSpPr>
          <p:nvPr/>
        </p:nvSpPr>
        <p:spPr bwMode="auto">
          <a:xfrm>
            <a:off x="434685" y="2382417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(5)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3" name="내용 개체 틀 2"/>
          <p:cNvSpPr txBox="1">
            <a:spLocks/>
          </p:cNvSpPr>
          <p:nvPr/>
        </p:nvSpPr>
        <p:spPr bwMode="auto">
          <a:xfrm>
            <a:off x="4620114" y="2376065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(8)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내용 개체 틀 2"/>
          <p:cNvSpPr txBox="1">
            <a:spLocks/>
          </p:cNvSpPr>
          <p:nvPr/>
        </p:nvSpPr>
        <p:spPr bwMode="auto">
          <a:xfrm>
            <a:off x="433968" y="2517663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(9)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6" name="내용 개체 틀 2"/>
          <p:cNvSpPr txBox="1">
            <a:spLocks/>
          </p:cNvSpPr>
          <p:nvPr/>
        </p:nvSpPr>
        <p:spPr bwMode="auto">
          <a:xfrm>
            <a:off x="317593" y="2645877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(11)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8" name="내용 개체 틀 2"/>
          <p:cNvSpPr txBox="1">
            <a:spLocks/>
          </p:cNvSpPr>
          <p:nvPr/>
        </p:nvSpPr>
        <p:spPr bwMode="auto">
          <a:xfrm>
            <a:off x="353296" y="3557756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(14)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9" name="내용 개체 틀 2"/>
          <p:cNvSpPr txBox="1">
            <a:spLocks/>
          </p:cNvSpPr>
          <p:nvPr/>
        </p:nvSpPr>
        <p:spPr bwMode="auto">
          <a:xfrm>
            <a:off x="686857" y="4745154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(15)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72580" y="6203984"/>
            <a:ext cx="25983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kumimoji="1"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전문역량개발팀 </a:t>
            </a:r>
            <a:r>
              <a:rPr kumimoji="1"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kumimoji="1" lang="ko-KR" altLang="en-US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김대욱 책임</a:t>
            </a:r>
            <a:r>
              <a:rPr kumimoji="1" lang="en-US" altLang="ko-KR" sz="8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kumimoji="1" lang="ko-KR" altLang="en-US" sz="800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2" name="내용 개체 틀 2"/>
          <p:cNvSpPr txBox="1">
            <a:spLocks/>
          </p:cNvSpPr>
          <p:nvPr/>
        </p:nvSpPr>
        <p:spPr bwMode="auto">
          <a:xfrm>
            <a:off x="4421761" y="2520081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(13)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72580" y="5071825"/>
            <a:ext cx="5742134" cy="36317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en-US" altLang="ko-KR" sz="8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8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</a:t>
            </a:r>
            <a:r>
              <a:rPr lang="en-US" altLang="ko-KR" sz="8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8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무료</a:t>
            </a:r>
            <a:r>
              <a:rPr lang="en-US" altLang="ko-KR" sz="800" b="1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pPr latinLnBrk="0">
              <a:lnSpc>
                <a:spcPct val="110000"/>
              </a:lnSpc>
              <a:defRPr/>
            </a:pPr>
            <a:r>
              <a:rPr lang="en-US" altLang="ko-KR" sz="8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- 1</a:t>
            </a:r>
            <a:r>
              <a:rPr lang="ko-KR" altLang="en-US" sz="8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 결재 </a:t>
            </a:r>
            <a:r>
              <a:rPr lang="en-US" altLang="ko-KR" sz="8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8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소속 팀장 </a:t>
            </a:r>
            <a:r>
              <a:rPr lang="en-US" altLang="ko-KR" sz="8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(or </a:t>
            </a:r>
            <a:r>
              <a:rPr lang="ko-KR" altLang="en-US" sz="8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실장</a:t>
            </a:r>
            <a:r>
              <a:rPr lang="en-US" altLang="ko-KR" sz="800" kern="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65" name="내용 개체 틀 2"/>
          <p:cNvSpPr txBox="1">
            <a:spLocks/>
          </p:cNvSpPr>
          <p:nvPr/>
        </p:nvSpPr>
        <p:spPr bwMode="auto">
          <a:xfrm>
            <a:off x="6119751" y="4948686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kern="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(16)</a:t>
            </a:r>
            <a:endParaRPr lang="ko-KR" altLang="en-US" sz="700" kern="0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966" y="4977316"/>
            <a:ext cx="481191" cy="15653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668" y="2237289"/>
            <a:ext cx="1686144" cy="17276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9906000" y="3185067"/>
            <a:ext cx="220505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 데이터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(Big Data)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란 무엇인가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?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 활용전략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빅데이터의 수집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저장 및 처리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4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 분석이란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?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5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 군집화 방법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6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연관규칙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도출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7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회귀분석과 예측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8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중간고사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(Mid-Term)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9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기계학습과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7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인공신경망</a:t>
            </a:r>
            <a:endParaRPr lang="ko-KR" altLang="en-US" sz="7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10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기계학습과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의사결정나무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11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텍스트 분석 기법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전처리와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키워드 분석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12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텍스트 분석 기법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군집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토픽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감성 분석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13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데이터 시각화의 미래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14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빅데이터의 미래</a:t>
            </a:r>
          </a:p>
          <a:p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15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주차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기말고사</a:t>
            </a:r>
            <a:r>
              <a:rPr lang="en-US" altLang="ko-KR" sz="7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(Final exam)</a:t>
            </a:r>
            <a:endParaRPr lang="ko-KR" altLang="en-US" sz="7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1" name="내용 개체 틀 2"/>
          <p:cNvSpPr txBox="1">
            <a:spLocks/>
          </p:cNvSpPr>
          <p:nvPr/>
        </p:nvSpPr>
        <p:spPr bwMode="auto">
          <a:xfrm>
            <a:off x="2720752" y="2232463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(6)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2" name="내용 개체 틀 2"/>
          <p:cNvSpPr txBox="1">
            <a:spLocks/>
          </p:cNvSpPr>
          <p:nvPr/>
        </p:nvSpPr>
        <p:spPr bwMode="auto">
          <a:xfrm>
            <a:off x="2720752" y="2383727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(7)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5" name="내용 개체 틀 2"/>
          <p:cNvSpPr txBox="1">
            <a:spLocks/>
          </p:cNvSpPr>
          <p:nvPr/>
        </p:nvSpPr>
        <p:spPr bwMode="auto">
          <a:xfrm>
            <a:off x="2657997" y="2510781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7" name="내용 개체 틀 2"/>
          <p:cNvSpPr txBox="1">
            <a:spLocks/>
          </p:cNvSpPr>
          <p:nvPr/>
        </p:nvSpPr>
        <p:spPr bwMode="auto">
          <a:xfrm>
            <a:off x="2702822" y="2654237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(12)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92225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671954"/>
              </p:ext>
            </p:extLst>
          </p:nvPr>
        </p:nvGraphicFramePr>
        <p:xfrm>
          <a:off x="248319" y="771525"/>
          <a:ext cx="6792913" cy="57626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0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3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개 요</a:t>
                      </a: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내용</a:t>
                      </a: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31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메뉴경로</a:t>
                      </a: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1437" marR="91437" marT="45736" marB="45736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7113588" y="771525"/>
            <a:ext cx="2592387" cy="575381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7113588" y="771525"/>
            <a:ext cx="2592387" cy="56991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6698" tIns="48349" rIns="96698" bIns="48349" anchor="ctr" anchorCtr="1"/>
          <a:lstStyle>
            <a:lvl1pPr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484188"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966788"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50975"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33575" defTabSz="96678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90775" defTabSz="9667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847975" defTabSz="9667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305175" defTabSz="9667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762375" defTabSz="9667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ko-KR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anose="020B0606020202030204" pitchFamily="34" charset="0"/>
                <a:ea typeface="LG스마트체2.0 Regular" panose="020B0600000101010101" pitchFamily="50" charset="-127"/>
              </a:rPr>
              <a:t>Memo</a:t>
            </a:r>
            <a:endParaRPr lang="ko-KR" altLang="en-US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제목 2"/>
          <p:cNvSpPr txBox="1">
            <a:spLocks/>
          </p:cNvSpPr>
          <p:nvPr/>
        </p:nvSpPr>
        <p:spPr bwMode="auto">
          <a:xfrm>
            <a:off x="88739" y="116880"/>
            <a:ext cx="7348537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>
                <a:solidFill>
                  <a:schemeClr val="bg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Arial" pitchFamily="34" charset="0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charset="0"/>
                <a:ea typeface="돋움" pitchFamily="50" charset="-127"/>
                <a:cs typeface="Arial" charset="0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유첨</a:t>
            </a:r>
            <a:r>
              <a:rPr lang="en-US" altLang="ko-KR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.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사외교육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 결과보고 작성 매뉴얼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_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교육생</a:t>
            </a:r>
          </a:p>
        </p:txBody>
      </p:sp>
      <p:sp>
        <p:nvSpPr>
          <p:cNvPr id="35" name="내용 개체 틀 2"/>
          <p:cNvSpPr txBox="1">
            <a:spLocks/>
          </p:cNvSpPr>
          <p:nvPr/>
        </p:nvSpPr>
        <p:spPr bwMode="auto">
          <a:xfrm>
            <a:off x="1640557" y="1054355"/>
            <a:ext cx="5400675" cy="2889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Smart HRD 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상단 메뉴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삼색선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→ 품의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보고 → 사외교육품의</a:t>
            </a:r>
            <a:r>
              <a:rPr lang="en-US" altLang="ko-KR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보고 → 해당 </a:t>
            </a:r>
            <a:r>
              <a:rPr lang="ko-KR" altLang="en-US" sz="900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참가품의</a:t>
            </a:r>
            <a:r>
              <a:rPr lang="ko-KR" altLang="en-US" sz="9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선택 후 </a:t>
            </a:r>
            <a:r>
              <a:rPr lang="en-US" altLang="ko-KR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결과보고</a:t>
            </a:r>
            <a:r>
              <a:rPr lang="en-US" altLang="ko-KR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endParaRPr lang="ko-KR" altLang="en-US" sz="9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6" name="내용 개체 틀 4"/>
          <p:cNvSpPr txBox="1">
            <a:spLocks/>
          </p:cNvSpPr>
          <p:nvPr/>
        </p:nvSpPr>
        <p:spPr bwMode="auto">
          <a:xfrm>
            <a:off x="1639888" y="812800"/>
            <a:ext cx="5400675" cy="28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/>
            <a:r>
              <a:rPr lang="ko-KR" altLang="en-US" sz="90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사외교육 결과보고</a:t>
            </a:r>
            <a:endParaRPr lang="ko-KR" altLang="en-US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85" y="1340768"/>
            <a:ext cx="6764778" cy="4385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85" y="5726172"/>
            <a:ext cx="6758968" cy="558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7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56985" y="6178589"/>
            <a:ext cx="6765372" cy="454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직사각형 40"/>
          <p:cNvSpPr/>
          <p:nvPr/>
        </p:nvSpPr>
        <p:spPr>
          <a:xfrm>
            <a:off x="592769" y="5859357"/>
            <a:ext cx="6336704" cy="764473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44588" y="3065973"/>
            <a:ext cx="4068452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1. ○○ </a:t>
            </a:r>
            <a:r>
              <a:rPr kumimoji="1"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심화 교육 과정 개요</a:t>
            </a:r>
            <a:r>
              <a: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- ○○○ </a:t>
            </a:r>
            <a:r>
              <a:rPr kumimoji="1"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구성 및 이해</a:t>
            </a:r>
            <a:br>
              <a:rPr kumimoji="1"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kumimoji="1"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</a:t>
            </a:r>
            <a:r>
              <a: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○○ </a:t>
            </a:r>
            <a:r>
              <a:rPr kumimoji="1"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이슈 연구</a:t>
            </a:r>
            <a:br>
              <a:rPr kumimoji="1"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br>
              <a:rPr kumimoji="1" lang="en-US" altLang="ko-KR" sz="3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2. </a:t>
            </a:r>
            <a:r>
              <a:rPr kumimoji="1"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향후 업무 적용 계획 </a:t>
            </a:r>
            <a:r>
              <a: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kumimoji="1"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○○ 사용능력을 배양하여 향후 ○○ 업무 시 </a:t>
            </a:r>
            <a:r>
              <a: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……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800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3" name="내용 개체 틀 2"/>
          <p:cNvSpPr txBox="1">
            <a:spLocks/>
          </p:cNvSpPr>
          <p:nvPr/>
        </p:nvSpPr>
        <p:spPr bwMode="auto">
          <a:xfrm>
            <a:off x="317468" y="1472441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4" name="내용 개체 틀 2"/>
          <p:cNvSpPr txBox="1">
            <a:spLocks/>
          </p:cNvSpPr>
          <p:nvPr/>
        </p:nvSpPr>
        <p:spPr bwMode="auto">
          <a:xfrm>
            <a:off x="469868" y="1621257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(2)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5" name="내용 개체 틀 2"/>
          <p:cNvSpPr txBox="1">
            <a:spLocks/>
          </p:cNvSpPr>
          <p:nvPr/>
        </p:nvSpPr>
        <p:spPr bwMode="auto">
          <a:xfrm>
            <a:off x="567941" y="1776115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(3)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6" name="내용 개체 틀 2"/>
          <p:cNvSpPr txBox="1">
            <a:spLocks/>
          </p:cNvSpPr>
          <p:nvPr/>
        </p:nvSpPr>
        <p:spPr bwMode="auto">
          <a:xfrm>
            <a:off x="488504" y="1921076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(4)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7" name="내용 개체 틀 2"/>
          <p:cNvSpPr txBox="1">
            <a:spLocks/>
          </p:cNvSpPr>
          <p:nvPr/>
        </p:nvSpPr>
        <p:spPr bwMode="auto">
          <a:xfrm>
            <a:off x="487787" y="2073476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(5)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8" name="내용 개체 틀 2"/>
          <p:cNvSpPr txBox="1">
            <a:spLocks/>
          </p:cNvSpPr>
          <p:nvPr/>
        </p:nvSpPr>
        <p:spPr bwMode="auto">
          <a:xfrm>
            <a:off x="3027117" y="1929656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(6)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9" name="내용 개체 틀 2"/>
          <p:cNvSpPr txBox="1">
            <a:spLocks/>
          </p:cNvSpPr>
          <p:nvPr/>
        </p:nvSpPr>
        <p:spPr bwMode="auto">
          <a:xfrm>
            <a:off x="3091800" y="2081101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(7)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0" name="내용 개체 틀 2"/>
          <p:cNvSpPr txBox="1">
            <a:spLocks/>
          </p:cNvSpPr>
          <p:nvPr/>
        </p:nvSpPr>
        <p:spPr bwMode="auto">
          <a:xfrm>
            <a:off x="5213836" y="2060848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(8)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1" name="내용 개체 틀 2"/>
          <p:cNvSpPr txBox="1">
            <a:spLocks/>
          </p:cNvSpPr>
          <p:nvPr/>
        </p:nvSpPr>
        <p:spPr bwMode="auto">
          <a:xfrm>
            <a:off x="468737" y="2217688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(9)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2" name="내용 개체 틀 2"/>
          <p:cNvSpPr txBox="1">
            <a:spLocks/>
          </p:cNvSpPr>
          <p:nvPr/>
        </p:nvSpPr>
        <p:spPr bwMode="auto">
          <a:xfrm>
            <a:off x="2934680" y="2225117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3" name="내용 개체 틀 2"/>
          <p:cNvSpPr txBox="1">
            <a:spLocks/>
          </p:cNvSpPr>
          <p:nvPr/>
        </p:nvSpPr>
        <p:spPr bwMode="auto">
          <a:xfrm>
            <a:off x="343771" y="2378658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(11)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4" name="내용 개체 틀 2"/>
          <p:cNvSpPr txBox="1">
            <a:spLocks/>
          </p:cNvSpPr>
          <p:nvPr/>
        </p:nvSpPr>
        <p:spPr bwMode="auto">
          <a:xfrm>
            <a:off x="3008784" y="2377455"/>
            <a:ext cx="377711" cy="2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(12)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5" name="내용 개체 틀 2"/>
          <p:cNvSpPr txBox="1">
            <a:spLocks/>
          </p:cNvSpPr>
          <p:nvPr/>
        </p:nvSpPr>
        <p:spPr bwMode="auto">
          <a:xfrm>
            <a:off x="315913" y="3390398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(14)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6" name="내용 개체 틀 2"/>
          <p:cNvSpPr txBox="1">
            <a:spLocks/>
          </p:cNvSpPr>
          <p:nvPr/>
        </p:nvSpPr>
        <p:spPr bwMode="auto">
          <a:xfrm>
            <a:off x="351917" y="4635289"/>
            <a:ext cx="377711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(15)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8" y="2262014"/>
            <a:ext cx="1733550" cy="12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8" name="내용 개체 틀 2"/>
          <p:cNvSpPr txBox="1">
            <a:spLocks/>
          </p:cNvSpPr>
          <p:nvPr/>
        </p:nvSpPr>
        <p:spPr bwMode="auto">
          <a:xfrm>
            <a:off x="4925804" y="2219548"/>
            <a:ext cx="377711" cy="19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ko-KR" sz="700" b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(13)</a:t>
            </a:r>
            <a:endParaRPr lang="ko-KR" altLang="en-US" sz="7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59" name="내용 개체 틀 2"/>
          <p:cNvSpPr txBox="1">
            <a:spLocks/>
          </p:cNvSpPr>
          <p:nvPr/>
        </p:nvSpPr>
        <p:spPr bwMode="auto">
          <a:xfrm>
            <a:off x="7185025" y="1340768"/>
            <a:ext cx="2556507" cy="53618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※ </a:t>
            </a:r>
            <a:r>
              <a:rPr lang="en-US" altLang="ko-KR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(1)~(13)</a:t>
            </a:r>
            <a:r>
              <a:rPr lang="ko-KR" altLang="en-US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는 </a:t>
            </a:r>
            <a:r>
              <a:rPr lang="en-US" altLang="ko-KR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b="1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사외교육</a:t>
            </a:r>
            <a:r>
              <a:rPr lang="ko-KR" altLang="en-US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b="1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참가품의</a:t>
            </a:r>
            <a:r>
              <a:rPr lang="en-US" altLang="ko-KR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 </a:t>
            </a:r>
            <a:r>
              <a:rPr lang="ko-KR" altLang="en-US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값을</a:t>
            </a:r>
            <a:endParaRPr lang="en-US" altLang="ko-KR" sz="900" b="1" dirty="0">
              <a:solidFill>
                <a:srgbClr val="FF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ko-KR" altLang="en-US" sz="9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그대로 불러오므로 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해당 값들이 </a:t>
            </a:r>
            <a:endParaRPr lang="en-US" altLang="ko-KR" sz="900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정확히 입력 되어있는지 확인 必</a:t>
            </a:r>
            <a:endParaRPr lang="en-US" altLang="ko-KR" sz="900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ko-KR" sz="900" b="1" dirty="0">
              <a:solidFill>
                <a:srgbClr val="0000FF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b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b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(14)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교육내용</a:t>
            </a: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향후 업무 적용 계획</a:t>
            </a: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입력</a:t>
            </a:r>
            <a:endParaRPr lang="en-US" altLang="ko-KR" sz="900" b="1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(15)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업무 수행상 유용성</a:t>
            </a: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택일</a:t>
            </a: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,</a:t>
            </a:r>
            <a:b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</a:t>
            </a:r>
            <a:b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“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사내 교육 도입 필요성</a:t>
            </a: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  <a:r>
              <a:rPr lang="ko-KR" altLang="en-US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에서 택일</a:t>
            </a:r>
            <a:r>
              <a:rPr lang="en-US" altLang="ko-KR" sz="9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57164" y="5889647"/>
            <a:ext cx="5604047" cy="230832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 anchor="ctr" anchorCtr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소속 부서장 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팀장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274341" y="2114638"/>
            <a:ext cx="1879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 </a:t>
            </a:r>
            <a:r>
              <a:rPr lang="ko-KR" altLang="en-US" sz="900" kern="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수료내역</a:t>
            </a:r>
            <a:r>
              <a:rPr lang="ko-KR" altLang="en-US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ko-KR" altLang="en-US" sz="900" kern="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근거서류</a:t>
            </a:r>
            <a:r>
              <a:rPr lang="ko-KR" altLang="en-US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br>
              <a:rPr lang="en-US" altLang="ko-KR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</a:t>
            </a:r>
            <a:r>
              <a:rPr lang="ko-KR" altLang="en-US" sz="900" kern="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유첨</a:t>
            </a:r>
            <a:r>
              <a:rPr lang="ko-KR" altLang="en-US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필요 </a:t>
            </a:r>
            <a:r>
              <a:rPr lang="en-US" altLang="ko-KR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수료증 </a:t>
            </a:r>
            <a:r>
              <a:rPr lang="en-US" altLang="ko-KR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or </a:t>
            </a:r>
            <a:r>
              <a:rPr lang="ko-KR" altLang="en-US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화면 캡쳐 등</a:t>
            </a:r>
            <a:r>
              <a:rPr lang="en-US" altLang="ko-KR" sz="9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633" y="1946670"/>
            <a:ext cx="1686144" cy="172761"/>
          </a:xfrm>
          <a:prstGeom prst="rect">
            <a:avLst/>
          </a:prstGeom>
        </p:spPr>
      </p:pic>
      <p:sp>
        <p:nvSpPr>
          <p:cNvPr id="61" name="AutoShape 1122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9309484" y="6273316"/>
            <a:ext cx="276225" cy="119062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80632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5"/>
          <p:cNvSpPr txBox="1">
            <a:spLocks/>
          </p:cNvSpPr>
          <p:nvPr/>
        </p:nvSpPr>
        <p:spPr bwMode="auto">
          <a:xfrm>
            <a:off x="52734" y="116880"/>
            <a:ext cx="7348538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 err="1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3.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교육분류체계 설명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901772"/>
              </p:ext>
            </p:extLst>
          </p:nvPr>
        </p:nvGraphicFramePr>
        <p:xfrm>
          <a:off x="384175" y="980743"/>
          <a:ext cx="9321800" cy="5419518"/>
        </p:xfrm>
        <a:graphic>
          <a:graphicData uri="http://schemas.openxmlformats.org/drawingml/2006/table">
            <a:tbl>
              <a:tblPr/>
              <a:tblGrid>
                <a:gridCol w="65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7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5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대분류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중분류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대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중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소분류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내용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07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1.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리더십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1.1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[1.1.1]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리더십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직책자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후보자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대상 리더십 교육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.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어학 제외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감독자 후보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신임 반장과정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P/L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과정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팀장코칭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예비경영자과정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임원담당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W/S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1.2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사업가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핵심인재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[1.2.1]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리더십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사업가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핵심인재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사업가 후보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예비 사업가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핵심인재 대상 교육 및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Intervention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어학제외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1.3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리더십공통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[1.3.1]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리더십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리더십공통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특정 대상자 구분 없이 리더십 향상을 위한 교육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주로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e-Learning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교육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586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2.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기본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2.1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신입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경력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[2.1.1]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신입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경력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신입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신입사원 대상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입문 교육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사무직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신입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교육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인턴사원교육 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36000" algn="l" rtl="0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[2.1.2]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신입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경력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경력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경력사원 대상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입문 교육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사무직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경력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교육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2.2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[2.2.1]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직급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사무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기능직 직급 교육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직급별 필요한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전문직무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교육은 제외함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2.3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기본공통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[2.3.1]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기본공통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기본공통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Value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전파 교육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조직활성화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Intervention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제외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),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전사 기본 준수 관련 교육 등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성희롱 예방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정도경영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보안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586">
                <a:tc rowSpan="2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3.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전문직무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3.1 R&amp;D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[3.1.1]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_R&amp;D_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패널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패널 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[3.1.2]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_R&amp;D_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회로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회로 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[3.1.3]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_R&amp;D_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기구 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[3.1.4]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R&amp;D_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광학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광학 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[3.1.5]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R&amp;D_R&amp;D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R&amp;D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직군 전문 공통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3.2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[3.2.1]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공정기술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공정기술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[3.2.2]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장비기술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장비기술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[3.2.3]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indent="0" algn="l" defTabSz="914400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구매 분야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 교육 </a:t>
                      </a:r>
                      <a:r>
                        <a:rPr lang="ko-KR" altLang="en-US" sz="900" b="0" i="0" u="none" strike="noStrike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교육</a:t>
                      </a:r>
                      <a:endParaRPr lang="en-US" altLang="ko-KR" sz="900" b="0" i="0" u="none" strike="noStrike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[3.2.4]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품질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indent="0" algn="l" defTabSz="914400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품질 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[3.2.5]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환경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안전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4925" indent="-34925" algn="l" defTabSz="914400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환경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안전 관련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[3.2.6]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생산지원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4925" indent="-34925" algn="l" defTabSz="914400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 기획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관리 분야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768" marR="3768" marT="3768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[3.2.7]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생산공통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4925" indent="-34925" algn="l" defTabSz="914400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생산 직군 공통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3.3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[3.3.1]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 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[3.3.2]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 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[3.3.3]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고객지원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고객지원 분야 전문 교육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[3.3.4]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상품기획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상품기획 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[3.3.5]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_SCM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SCM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분야 전문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[3.3.6]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마케팅공통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영업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마케팅 직군 대상 공통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3.4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관리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[3.4.1]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관리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지원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경영지원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총무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홍보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경영기획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전략 등 경영지원직군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[3.4.2]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관리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지원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재경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물류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재무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회계 직군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[3.4.3]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관리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지원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_HR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인사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연수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노경 직군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[3.4.4]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관리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지원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관리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지원공통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비서과정 등 관리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지원 직군 대상 공통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3.5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직무공통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algn="l" defTabSz="914400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[3.5.1]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전문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직무공통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직무공통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algn="l" defTabSz="914400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혁신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Tool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교육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Communication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과정 등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42586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4.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글로벌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4.1 FSE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[4.1.1]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글로벌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FSE_FSE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FSE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파견 관련 교육 및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Caring 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본인 및 가족 어학지원 제외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4.2 Global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공통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[4.2.1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]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글로벌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_Global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공통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어학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집중어학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사내어학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등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[4.2.2] 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글로벌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_Global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공통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_Global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소양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임직원 대상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(FSE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제외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다양성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지역연구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 Protocol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과정 등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42553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5.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5.1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조직활성화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[5.1.1]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기타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조직활성화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조직활성화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전사 차원의 조직문화 활동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,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사업부별 조직활성화 활동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5.2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자기계발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[5.2.1]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기타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자기계발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자기계발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자기계발을 위한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425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5.3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상생지원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36000" algn="l" rtl="0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[5.3.1]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기타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상생지원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_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상생지원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l" rtl="0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협력사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a:t> 대상 교육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12290" y="611396"/>
            <a:ext cx="35605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소속 조직에 따라 </a:t>
            </a:r>
            <a:r>
              <a:rPr lang="ko-KR" altLang="en-US" sz="140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아래 표시된 분류에서 택일 </a:t>
            </a:r>
            <a:endParaRPr lang="ko-KR" altLang="en-US" sz="1400" dirty="0"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8" name="AutoShape 112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9309484" y="6470539"/>
            <a:ext cx="276225" cy="119062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19381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5"/>
          <p:cNvSpPr txBox="1">
            <a:spLocks/>
          </p:cNvSpPr>
          <p:nvPr/>
        </p:nvSpPr>
        <p:spPr bwMode="auto">
          <a:xfrm>
            <a:off x="52734" y="116880"/>
            <a:ext cx="7348538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6. AX Level 2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en-US" altLang="ko-KR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6σ Tool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차수일정</a:t>
            </a:r>
          </a:p>
        </p:txBody>
      </p:sp>
      <p:sp>
        <p:nvSpPr>
          <p:cNvPr id="8" name="AutoShape 112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9309484" y="6470539"/>
            <a:ext cx="276225" cy="119062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A89EA-9D9E-89DA-55FF-52978416F8F2}"/>
              </a:ext>
            </a:extLst>
          </p:cNvPr>
          <p:cNvSpPr txBox="1"/>
          <p:nvPr/>
        </p:nvSpPr>
        <p:spPr>
          <a:xfrm>
            <a:off x="4618244" y="138689"/>
            <a:ext cx="2082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수강신청 인원 부족 시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 폐강될 수도 있음</a:t>
            </a:r>
            <a:endParaRPr lang="en-US" altLang="ko-KR" sz="1000" spc="-15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EB57D6-8C3D-C8CA-03ED-4FA2CCCFBC3F}"/>
              </a:ext>
            </a:extLst>
          </p:cNvPr>
          <p:cNvSpPr txBox="1"/>
          <p:nvPr/>
        </p:nvSpPr>
        <p:spPr>
          <a:xfrm>
            <a:off x="7315203" y="82703"/>
            <a:ext cx="12450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altLang="ko-KR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일정 </a:t>
            </a:r>
            <a:r>
              <a:rPr lang="ko-KR" altLang="en-US" sz="1100" b="0" i="0" u="none" strike="noStrike" dirty="0" err="1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검토중</a:t>
            </a:r>
            <a:endParaRPr lang="en-US" altLang="ko-KR" sz="1100" b="0" i="0" u="none" strike="noStrike" dirty="0">
              <a:solidFill>
                <a:srgbClr val="FF0000"/>
              </a:solidFill>
              <a:effectLst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fontAlgn="ctr"/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미확정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en-US" altLang="ko-KR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8CBCCA-64D3-A453-D9DF-223AB7269A6A}"/>
              </a:ext>
            </a:extLst>
          </p:cNvPr>
          <p:cNvSpPr/>
          <p:nvPr/>
        </p:nvSpPr>
        <p:spPr>
          <a:xfrm>
            <a:off x="2180358" y="993733"/>
            <a:ext cx="4527290" cy="2616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‘26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월부터 매월 차수 운영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총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15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0D967E-B0A1-C015-A7C1-58A03C6FE347}"/>
              </a:ext>
            </a:extLst>
          </p:cNvPr>
          <p:cNvGrpSpPr/>
          <p:nvPr/>
        </p:nvGrpSpPr>
        <p:grpSpPr>
          <a:xfrm>
            <a:off x="1192002" y="1018083"/>
            <a:ext cx="955892" cy="276999"/>
            <a:chOff x="471647" y="2554930"/>
            <a:chExt cx="955892" cy="276999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6DC15F3-8946-7141-9F05-667071BFA4A4}"/>
                </a:ext>
              </a:extLst>
            </p:cNvPr>
            <p:cNvGrpSpPr/>
            <p:nvPr/>
          </p:nvGrpSpPr>
          <p:grpSpPr>
            <a:xfrm>
              <a:off x="471647" y="2581062"/>
              <a:ext cx="955892" cy="228135"/>
              <a:chOff x="522323" y="1624404"/>
              <a:chExt cx="1206465" cy="228135"/>
            </a:xfrm>
          </p:grpSpPr>
          <p:sp>
            <p:nvSpPr>
              <p:cNvPr id="10" name="양쪽 모서리가 둥근 사각형 83">
                <a:extLst>
                  <a:ext uri="{FF2B5EF4-FFF2-40B4-BE49-F238E27FC236}">
                    <a16:creationId xmlns:a16="http://schemas.microsoft.com/office/drawing/2014/main" id="{4120D2A3-11D1-75CD-BB95-66861EA06307}"/>
                  </a:ext>
                </a:extLst>
              </p:cNvPr>
              <p:cNvSpPr/>
              <p:nvPr/>
            </p:nvSpPr>
            <p:spPr>
              <a:xfrm>
                <a:off x="522323" y="1624404"/>
                <a:ext cx="1032976" cy="22813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C300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 Narrow" panose="020B0606020202030204" pitchFamily="34" charset="0"/>
                  <a:ea typeface="LG스마트체2.0 Regular" panose="020B0600000101010101" pitchFamily="50" charset="-127"/>
                </a:endParaRPr>
              </a:p>
            </p:txBody>
          </p: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CD2D464-2F06-3CC9-29BA-2090172C2ABC}"/>
                  </a:ext>
                </a:extLst>
              </p:cNvPr>
              <p:cNvCxnSpPr/>
              <p:nvPr/>
            </p:nvCxnSpPr>
            <p:spPr>
              <a:xfrm>
                <a:off x="1409759" y="1843013"/>
                <a:ext cx="319029" cy="0"/>
              </a:xfrm>
              <a:prstGeom prst="line">
                <a:avLst/>
              </a:prstGeom>
              <a:ln w="12700">
                <a:solidFill>
                  <a:srgbClr val="C300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137EB9A-43D5-23C8-D8EA-82C676CB9E18}"/>
                </a:ext>
              </a:extLst>
            </p:cNvPr>
            <p:cNvSpPr txBox="1"/>
            <p:nvPr/>
          </p:nvSpPr>
          <p:spPr>
            <a:xfrm>
              <a:off x="533781" y="2554930"/>
              <a:ext cx="7681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교육일정</a:t>
              </a: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1A99011-55AA-E143-AA79-DFB65810C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658737"/>
              </p:ext>
            </p:extLst>
          </p:nvPr>
        </p:nvGraphicFramePr>
        <p:xfrm>
          <a:off x="2296339" y="1238410"/>
          <a:ext cx="6661047" cy="774032"/>
        </p:xfrm>
        <a:graphic>
          <a:graphicData uri="http://schemas.openxmlformats.org/drawingml/2006/table">
            <a:tbl>
              <a:tblPr/>
              <a:tblGrid>
                <a:gridCol w="810753">
                  <a:extLst>
                    <a:ext uri="{9D8B030D-6E8A-4147-A177-3AD203B41FA5}">
                      <a16:colId xmlns:a16="http://schemas.microsoft.com/office/drawing/2014/main" val="3999231177"/>
                    </a:ext>
                  </a:extLst>
                </a:gridCol>
                <a:gridCol w="550507">
                  <a:extLst>
                    <a:ext uri="{9D8B030D-6E8A-4147-A177-3AD203B41FA5}">
                      <a16:colId xmlns:a16="http://schemas.microsoft.com/office/drawing/2014/main" val="93123808"/>
                    </a:ext>
                  </a:extLst>
                </a:gridCol>
                <a:gridCol w="475861">
                  <a:extLst>
                    <a:ext uri="{9D8B030D-6E8A-4147-A177-3AD203B41FA5}">
                      <a16:colId xmlns:a16="http://schemas.microsoft.com/office/drawing/2014/main" val="1893130277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906309986"/>
                    </a:ext>
                  </a:extLst>
                </a:gridCol>
                <a:gridCol w="485192">
                  <a:extLst>
                    <a:ext uri="{9D8B030D-6E8A-4147-A177-3AD203B41FA5}">
                      <a16:colId xmlns:a16="http://schemas.microsoft.com/office/drawing/2014/main" val="3774453251"/>
                    </a:ext>
                  </a:extLst>
                </a:gridCol>
                <a:gridCol w="589013">
                  <a:extLst>
                    <a:ext uri="{9D8B030D-6E8A-4147-A177-3AD203B41FA5}">
                      <a16:colId xmlns:a16="http://schemas.microsoft.com/office/drawing/2014/main" val="1006993079"/>
                    </a:ext>
                  </a:extLst>
                </a:gridCol>
                <a:gridCol w="503021">
                  <a:extLst>
                    <a:ext uri="{9D8B030D-6E8A-4147-A177-3AD203B41FA5}">
                      <a16:colId xmlns:a16="http://schemas.microsoft.com/office/drawing/2014/main" val="2608219517"/>
                    </a:ext>
                  </a:extLst>
                </a:gridCol>
                <a:gridCol w="546761">
                  <a:extLst>
                    <a:ext uri="{9D8B030D-6E8A-4147-A177-3AD203B41FA5}">
                      <a16:colId xmlns:a16="http://schemas.microsoft.com/office/drawing/2014/main" val="907633965"/>
                    </a:ext>
                  </a:extLst>
                </a:gridCol>
                <a:gridCol w="543043">
                  <a:extLst>
                    <a:ext uri="{9D8B030D-6E8A-4147-A177-3AD203B41FA5}">
                      <a16:colId xmlns:a16="http://schemas.microsoft.com/office/drawing/2014/main" val="1126263205"/>
                    </a:ext>
                  </a:extLst>
                </a:gridCol>
                <a:gridCol w="544794">
                  <a:extLst>
                    <a:ext uri="{9D8B030D-6E8A-4147-A177-3AD203B41FA5}">
                      <a16:colId xmlns:a16="http://schemas.microsoft.com/office/drawing/2014/main" val="1059542079"/>
                    </a:ext>
                  </a:extLst>
                </a:gridCol>
                <a:gridCol w="544794">
                  <a:extLst>
                    <a:ext uri="{9D8B030D-6E8A-4147-A177-3AD203B41FA5}">
                      <a16:colId xmlns:a16="http://schemas.microsoft.com/office/drawing/2014/main" val="18217055"/>
                    </a:ext>
                  </a:extLst>
                </a:gridCol>
                <a:gridCol w="544794">
                  <a:extLst>
                    <a:ext uri="{9D8B030D-6E8A-4147-A177-3AD203B41FA5}">
                      <a16:colId xmlns:a16="http://schemas.microsoft.com/office/drawing/2014/main" val="271249923"/>
                    </a:ext>
                  </a:extLst>
                </a:gridCol>
              </a:tblGrid>
              <a:tr h="234616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지역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269450"/>
                  </a:ext>
                </a:extLst>
              </a:tr>
              <a:tr h="234616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2/2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2/9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4/13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4/20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6/8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8/10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8/24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9/7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9/14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11/16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11/23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13728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구미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3/9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5/11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7/20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110443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0C4B76-DFEF-C796-18BD-48345C112A0A}"/>
              </a:ext>
            </a:extLst>
          </p:cNvPr>
          <p:cNvSpPr/>
          <p:nvPr/>
        </p:nvSpPr>
        <p:spPr>
          <a:xfrm>
            <a:off x="2199017" y="2469189"/>
            <a:ext cx="5909283" cy="3000821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1. AX </a:t>
            </a:r>
            <a:r>
              <a:rPr lang="ko-KR" altLang="en-US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인증제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관련 사항은 아래 게시판을 참고하시기 바랍니다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: ‘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Let's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포털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 &gt; Board &gt; AX Board &gt; AX 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교육정보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 게시판에서 상시 확인 가능</a:t>
            </a:r>
            <a:b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endParaRPr lang="en-US" altLang="ko-KR" sz="1100" b="1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2. AX Level 2 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 기준</a:t>
            </a:r>
            <a:b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1) AX Level 2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(6σ Tool)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집합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- 6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시그마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BB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이상 인증 보유자는 수강 불필요</a:t>
            </a:r>
            <a:b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-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비엔지니어도 수강 불필요</a:t>
            </a:r>
          </a:p>
          <a:p>
            <a:endParaRPr lang="ko-KR" altLang="en-US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2) AX Level 2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업무자동화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이수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집합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4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- ‘AI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역량교육 등급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중급 이상자는 수강 불필요 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AX Level 2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신청희망자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'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입문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' 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사전이수 필수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 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100" u="sng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진도율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 + 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학습평가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7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이상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만점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3)  AX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수행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건 심사 통과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구술평가 포함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- 6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시그마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BB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이상 인증 보유자는 과제 수행 없이 인증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과제수행 대상자는 </a:t>
            </a:r>
            <a:r>
              <a:rPr lang="ko-KR" altLang="en-US" sz="11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조직별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일정 안내하여 과제등록 심의 및 결과 평가 진행함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단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AX Level 2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신청자는 교육 시작 전 과제등록 심의 후 참가필요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A0A046E-2572-7FF9-174B-ED54F06AA59B}"/>
              </a:ext>
            </a:extLst>
          </p:cNvPr>
          <p:cNvGrpSpPr/>
          <p:nvPr/>
        </p:nvGrpSpPr>
        <p:grpSpPr>
          <a:xfrm>
            <a:off x="1192002" y="2461391"/>
            <a:ext cx="955892" cy="276999"/>
            <a:chOff x="471647" y="3681386"/>
            <a:chExt cx="955892" cy="27699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B36F7128-27CF-9AC7-1A05-2E88B3050AAD}"/>
                </a:ext>
              </a:extLst>
            </p:cNvPr>
            <p:cNvGrpSpPr/>
            <p:nvPr/>
          </p:nvGrpSpPr>
          <p:grpSpPr>
            <a:xfrm>
              <a:off x="471647" y="3695700"/>
              <a:ext cx="955892" cy="228135"/>
              <a:chOff x="522323" y="1624404"/>
              <a:chExt cx="1206465" cy="228135"/>
            </a:xfrm>
          </p:grpSpPr>
          <p:sp>
            <p:nvSpPr>
              <p:cNvPr id="19" name="양쪽 모서리가 둥근 사각형 80">
                <a:extLst>
                  <a:ext uri="{FF2B5EF4-FFF2-40B4-BE49-F238E27FC236}">
                    <a16:creationId xmlns:a16="http://schemas.microsoft.com/office/drawing/2014/main" id="{76E66940-B27C-02BE-A769-A4E94B884D4E}"/>
                  </a:ext>
                </a:extLst>
              </p:cNvPr>
              <p:cNvSpPr/>
              <p:nvPr/>
            </p:nvSpPr>
            <p:spPr>
              <a:xfrm>
                <a:off x="522323" y="1624404"/>
                <a:ext cx="1032976" cy="22813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C300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 Narrow" panose="020B0606020202030204" pitchFamily="34" charset="0"/>
                  <a:ea typeface="LG스마트체2.0 Regular" panose="020B0600000101010101" pitchFamily="50" charset="-127"/>
                </a:endParaRPr>
              </a:p>
            </p:txBody>
          </p: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91EF1BE-74DF-5AF6-79E4-117F959CF757}"/>
                  </a:ext>
                </a:extLst>
              </p:cNvPr>
              <p:cNvCxnSpPr/>
              <p:nvPr/>
            </p:nvCxnSpPr>
            <p:spPr>
              <a:xfrm>
                <a:off x="1409759" y="1843013"/>
                <a:ext cx="319029" cy="0"/>
              </a:xfrm>
              <a:prstGeom prst="line">
                <a:avLst/>
              </a:prstGeom>
              <a:ln w="12700">
                <a:solidFill>
                  <a:srgbClr val="C300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9443BF-7E46-6B4A-30A2-9EA943D52FB7}"/>
                </a:ext>
              </a:extLst>
            </p:cNvPr>
            <p:cNvSpPr txBox="1"/>
            <p:nvPr/>
          </p:nvSpPr>
          <p:spPr>
            <a:xfrm>
              <a:off x="504970" y="3681386"/>
              <a:ext cx="7681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안내사항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67579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5"/>
          <p:cNvSpPr txBox="1">
            <a:spLocks/>
          </p:cNvSpPr>
          <p:nvPr/>
        </p:nvSpPr>
        <p:spPr bwMode="auto">
          <a:xfrm>
            <a:off x="52734" y="116880"/>
            <a:ext cx="7348538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6. AX Level 2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차수일정</a:t>
            </a:r>
          </a:p>
        </p:txBody>
      </p:sp>
      <p:sp>
        <p:nvSpPr>
          <p:cNvPr id="8" name="AutoShape 112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9309484" y="6246603"/>
            <a:ext cx="276225" cy="119062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A89EA-9D9E-89DA-55FF-52978416F8F2}"/>
              </a:ext>
            </a:extLst>
          </p:cNvPr>
          <p:cNvSpPr txBox="1"/>
          <p:nvPr/>
        </p:nvSpPr>
        <p:spPr>
          <a:xfrm>
            <a:off x="4419752" y="164002"/>
            <a:ext cx="2082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수강신청 인원 부족 시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 폐강될 수도 있음</a:t>
            </a:r>
            <a:endParaRPr lang="en-US" altLang="ko-KR" sz="1000" spc="-15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8F4F2C-0A23-95E2-3611-0C9F6C99D8A6}"/>
              </a:ext>
            </a:extLst>
          </p:cNvPr>
          <p:cNvSpPr/>
          <p:nvPr/>
        </p:nvSpPr>
        <p:spPr>
          <a:xfrm>
            <a:off x="1975083" y="667159"/>
            <a:ext cx="4527290" cy="2616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엔지니어 대상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] ‘26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월 이후 매월 차수 운영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총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17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188A253-A0DC-8F82-CD50-C7D2C69D74E5}"/>
              </a:ext>
            </a:extLst>
          </p:cNvPr>
          <p:cNvGrpSpPr/>
          <p:nvPr/>
        </p:nvGrpSpPr>
        <p:grpSpPr>
          <a:xfrm>
            <a:off x="986727" y="691509"/>
            <a:ext cx="955892" cy="276999"/>
            <a:chOff x="471647" y="2554930"/>
            <a:chExt cx="955892" cy="27699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14A05BA-E197-48FC-5962-10FB9535DED9}"/>
                </a:ext>
              </a:extLst>
            </p:cNvPr>
            <p:cNvGrpSpPr/>
            <p:nvPr/>
          </p:nvGrpSpPr>
          <p:grpSpPr>
            <a:xfrm>
              <a:off x="471647" y="2581062"/>
              <a:ext cx="955892" cy="228135"/>
              <a:chOff x="522323" y="1624404"/>
              <a:chExt cx="1206465" cy="228135"/>
            </a:xfrm>
          </p:grpSpPr>
          <p:sp>
            <p:nvSpPr>
              <p:cNvPr id="24" name="양쪽 모서리가 둥근 사각형 83">
                <a:extLst>
                  <a:ext uri="{FF2B5EF4-FFF2-40B4-BE49-F238E27FC236}">
                    <a16:creationId xmlns:a16="http://schemas.microsoft.com/office/drawing/2014/main" id="{FC5E998A-70DE-A177-A366-E267E3D78EF3}"/>
                  </a:ext>
                </a:extLst>
              </p:cNvPr>
              <p:cNvSpPr/>
              <p:nvPr/>
            </p:nvSpPr>
            <p:spPr>
              <a:xfrm>
                <a:off x="522323" y="1624404"/>
                <a:ext cx="1032976" cy="22813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C300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 Narrow" panose="020B0606020202030204" pitchFamily="34" charset="0"/>
                  <a:ea typeface="LG스마트체2.0 Regular" panose="020B0600000101010101" pitchFamily="50" charset="-127"/>
                </a:endParaRPr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23CAD835-B091-4A3A-993F-B0987609DA49}"/>
                  </a:ext>
                </a:extLst>
              </p:cNvPr>
              <p:cNvCxnSpPr/>
              <p:nvPr/>
            </p:nvCxnSpPr>
            <p:spPr>
              <a:xfrm>
                <a:off x="1409759" y="1843013"/>
                <a:ext cx="319029" cy="0"/>
              </a:xfrm>
              <a:prstGeom prst="line">
                <a:avLst/>
              </a:prstGeom>
              <a:ln w="12700">
                <a:solidFill>
                  <a:srgbClr val="C300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7142F3-AF28-3A50-E0E8-8F572BD6EED5}"/>
                </a:ext>
              </a:extLst>
            </p:cNvPr>
            <p:cNvSpPr txBox="1"/>
            <p:nvPr/>
          </p:nvSpPr>
          <p:spPr>
            <a:xfrm>
              <a:off x="533781" y="2554930"/>
              <a:ext cx="7681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교육일정</a:t>
              </a:r>
            </a:p>
          </p:txBody>
        </p: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403EB096-DFF8-11D2-E1E3-9F371E5F0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275174"/>
              </p:ext>
            </p:extLst>
          </p:nvPr>
        </p:nvGraphicFramePr>
        <p:xfrm>
          <a:off x="2100682" y="926345"/>
          <a:ext cx="6838042" cy="827750"/>
        </p:xfrm>
        <a:graphic>
          <a:graphicData uri="http://schemas.openxmlformats.org/drawingml/2006/table">
            <a:tbl>
              <a:tblPr/>
              <a:tblGrid>
                <a:gridCol w="857119">
                  <a:extLst>
                    <a:ext uri="{9D8B030D-6E8A-4147-A177-3AD203B41FA5}">
                      <a16:colId xmlns:a16="http://schemas.microsoft.com/office/drawing/2014/main" val="3999231177"/>
                    </a:ext>
                  </a:extLst>
                </a:gridCol>
                <a:gridCol w="615821">
                  <a:extLst>
                    <a:ext uri="{9D8B030D-6E8A-4147-A177-3AD203B41FA5}">
                      <a16:colId xmlns:a16="http://schemas.microsoft.com/office/drawing/2014/main" val="1893130277"/>
                    </a:ext>
                  </a:extLst>
                </a:gridCol>
                <a:gridCol w="541175">
                  <a:extLst>
                    <a:ext uri="{9D8B030D-6E8A-4147-A177-3AD203B41FA5}">
                      <a16:colId xmlns:a16="http://schemas.microsoft.com/office/drawing/2014/main" val="2906309986"/>
                    </a:ext>
                  </a:extLst>
                </a:gridCol>
                <a:gridCol w="592029">
                  <a:extLst>
                    <a:ext uri="{9D8B030D-6E8A-4147-A177-3AD203B41FA5}">
                      <a16:colId xmlns:a16="http://schemas.microsoft.com/office/drawing/2014/main" val="3774453251"/>
                    </a:ext>
                  </a:extLst>
                </a:gridCol>
                <a:gridCol w="530050">
                  <a:extLst>
                    <a:ext uri="{9D8B030D-6E8A-4147-A177-3AD203B41FA5}">
                      <a16:colId xmlns:a16="http://schemas.microsoft.com/office/drawing/2014/main" val="1006993079"/>
                    </a:ext>
                  </a:extLst>
                </a:gridCol>
                <a:gridCol w="535874">
                  <a:extLst>
                    <a:ext uri="{9D8B030D-6E8A-4147-A177-3AD203B41FA5}">
                      <a16:colId xmlns:a16="http://schemas.microsoft.com/office/drawing/2014/main" val="2608219517"/>
                    </a:ext>
                  </a:extLst>
                </a:gridCol>
                <a:gridCol w="516368">
                  <a:extLst>
                    <a:ext uri="{9D8B030D-6E8A-4147-A177-3AD203B41FA5}">
                      <a16:colId xmlns:a16="http://schemas.microsoft.com/office/drawing/2014/main" val="2561049668"/>
                    </a:ext>
                  </a:extLst>
                </a:gridCol>
                <a:gridCol w="541176">
                  <a:extLst>
                    <a:ext uri="{9D8B030D-6E8A-4147-A177-3AD203B41FA5}">
                      <a16:colId xmlns:a16="http://schemas.microsoft.com/office/drawing/2014/main" val="3854298251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907633965"/>
                    </a:ext>
                  </a:extLst>
                </a:gridCol>
                <a:gridCol w="513184">
                  <a:extLst>
                    <a:ext uri="{9D8B030D-6E8A-4147-A177-3AD203B41FA5}">
                      <a16:colId xmlns:a16="http://schemas.microsoft.com/office/drawing/2014/main" val="1126263205"/>
                    </a:ext>
                  </a:extLst>
                </a:gridCol>
                <a:gridCol w="522226">
                  <a:extLst>
                    <a:ext uri="{9D8B030D-6E8A-4147-A177-3AD203B41FA5}">
                      <a16:colId xmlns:a16="http://schemas.microsoft.com/office/drawing/2014/main" val="3594540785"/>
                    </a:ext>
                  </a:extLst>
                </a:gridCol>
                <a:gridCol w="559837">
                  <a:extLst>
                    <a:ext uri="{9D8B030D-6E8A-4147-A177-3AD203B41FA5}">
                      <a16:colId xmlns:a16="http://schemas.microsoft.com/office/drawing/2014/main" val="271249923"/>
                    </a:ext>
                  </a:extLst>
                </a:gridCol>
              </a:tblGrid>
              <a:tr h="158558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지역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269450"/>
                  </a:ext>
                </a:extLst>
              </a:tr>
              <a:tr h="235324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2/03~06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2/10~13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4/14~17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4/21~24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6/9~12</a:t>
                      </a:r>
                      <a:b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6/16~19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8/11~14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8/25~28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9/8~11</a:t>
                      </a:r>
                      <a:b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9/15~18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11/17~20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11/24~27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13728"/>
                  </a:ext>
                </a:extLst>
              </a:tr>
              <a:tr h="1943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구미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3/10~13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5/12~15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7/21~24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21935"/>
                  </a:ext>
                </a:extLst>
              </a:tr>
              <a:tr h="1943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조직 별 운영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미정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미정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미정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미정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미정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미정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91215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0094DB3-0851-46F6-7C20-EACFA44521DE}"/>
              </a:ext>
            </a:extLst>
          </p:cNvPr>
          <p:cNvSpPr/>
          <p:nvPr/>
        </p:nvSpPr>
        <p:spPr>
          <a:xfrm>
            <a:off x="1993743" y="3282906"/>
            <a:ext cx="5899952" cy="3000821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1. AX </a:t>
            </a:r>
            <a:r>
              <a:rPr lang="ko-KR" altLang="en-US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인증제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관련 사항은 아래 게시판을 참고하시기 바랍니다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: ‘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Let's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포털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 &gt; Board &gt; AX Board &gt; AX 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교육정보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 게시판에서 상시 확인 가능</a:t>
            </a:r>
            <a:b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endParaRPr lang="en-US" altLang="ko-KR" sz="1100" b="1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2. AX Level 2 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 기준</a:t>
            </a:r>
            <a:b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1) AX Level 2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이수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집합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4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- ‘AI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역량교육 등급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중급 이상자는 수강 불필요 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AX Level 2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신청희망자는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'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파이썬 입문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' 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이러닝 사전이수 필수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 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100" u="sng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진도율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 + 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학습평가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7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이상 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(10</a:t>
            </a:r>
            <a:r>
              <a:rPr lang="ko-KR" altLang="en-US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만점</a:t>
            </a:r>
            <a:r>
              <a:rPr lang="en-US" altLang="ko-KR" sz="11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2) AX Level 2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(6σ Tool)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집합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- 6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시그마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BB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이상 인증 보유자는 수강 불필요</a:t>
            </a:r>
            <a:b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-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비엔지니어도 수강 불필요</a:t>
            </a:r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3)  AX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수행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건 심사 통과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구술평가 포함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endParaRPr lang="ko-KR" altLang="en-US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- 6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시그마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BB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이상 인증 보유자는 과제 수행 없이 인증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과제수행 대상자는 </a:t>
            </a:r>
            <a:r>
              <a:rPr lang="ko-KR" altLang="en-US" sz="11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조직별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일정 안내하여 과제등록 심의 및 결과 평가 진행함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단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AX Level 2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신청자는 교육 시작 전 과제등록 심의 후 참가필요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FEF2961-F0A6-EAD0-5831-EBEAC5A5CFB6}"/>
              </a:ext>
            </a:extLst>
          </p:cNvPr>
          <p:cNvGrpSpPr/>
          <p:nvPr/>
        </p:nvGrpSpPr>
        <p:grpSpPr>
          <a:xfrm>
            <a:off x="986727" y="3275108"/>
            <a:ext cx="955892" cy="276999"/>
            <a:chOff x="471647" y="3681386"/>
            <a:chExt cx="955892" cy="276999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140F311-FC06-EC45-4CF8-B11196B5C812}"/>
                </a:ext>
              </a:extLst>
            </p:cNvPr>
            <p:cNvGrpSpPr/>
            <p:nvPr/>
          </p:nvGrpSpPr>
          <p:grpSpPr>
            <a:xfrm>
              <a:off x="471647" y="3695700"/>
              <a:ext cx="955892" cy="228135"/>
              <a:chOff x="522323" y="1624404"/>
              <a:chExt cx="1206465" cy="228135"/>
            </a:xfrm>
          </p:grpSpPr>
          <p:sp>
            <p:nvSpPr>
              <p:cNvPr id="31" name="양쪽 모서리가 둥근 사각형 80">
                <a:extLst>
                  <a:ext uri="{FF2B5EF4-FFF2-40B4-BE49-F238E27FC236}">
                    <a16:creationId xmlns:a16="http://schemas.microsoft.com/office/drawing/2014/main" id="{CC91A684-80AC-58B8-4339-501EF0FA0BF9}"/>
                  </a:ext>
                </a:extLst>
              </p:cNvPr>
              <p:cNvSpPr/>
              <p:nvPr/>
            </p:nvSpPr>
            <p:spPr>
              <a:xfrm>
                <a:off x="522323" y="1624404"/>
                <a:ext cx="1032976" cy="22813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C300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 Narrow" panose="020B0606020202030204" pitchFamily="34" charset="0"/>
                  <a:ea typeface="LG스마트체2.0 Regular" panose="020B0600000101010101" pitchFamily="50" charset="-127"/>
                </a:endParaRP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71C42E4A-085B-6EC5-F099-1C3CFCC377D4}"/>
                  </a:ext>
                </a:extLst>
              </p:cNvPr>
              <p:cNvCxnSpPr/>
              <p:nvPr/>
            </p:nvCxnSpPr>
            <p:spPr>
              <a:xfrm>
                <a:off x="1409759" y="1843013"/>
                <a:ext cx="319029" cy="0"/>
              </a:xfrm>
              <a:prstGeom prst="line">
                <a:avLst/>
              </a:prstGeom>
              <a:ln w="12700">
                <a:solidFill>
                  <a:srgbClr val="C300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15488B-37AE-0E6F-0608-CAAEECBA7E10}"/>
                </a:ext>
              </a:extLst>
            </p:cNvPr>
            <p:cNvSpPr txBox="1"/>
            <p:nvPr/>
          </p:nvSpPr>
          <p:spPr>
            <a:xfrm>
              <a:off x="504970" y="3681386"/>
              <a:ext cx="7681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안내사항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EEB57D6-8C3D-C8CA-03ED-4FA2CCCFBC3F}"/>
              </a:ext>
            </a:extLst>
          </p:cNvPr>
          <p:cNvSpPr txBox="1"/>
          <p:nvPr/>
        </p:nvSpPr>
        <p:spPr>
          <a:xfrm>
            <a:off x="7315203" y="82703"/>
            <a:ext cx="12450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altLang="ko-KR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일정 </a:t>
            </a:r>
            <a:r>
              <a:rPr lang="ko-KR" altLang="en-US" sz="1100" b="0" i="0" u="none" strike="noStrike" dirty="0" err="1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검토중</a:t>
            </a:r>
            <a:endParaRPr lang="en-US" altLang="ko-KR" sz="1100" b="0" i="0" u="none" strike="noStrike" dirty="0">
              <a:solidFill>
                <a:srgbClr val="FF0000"/>
              </a:solidFill>
              <a:effectLst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fontAlgn="ctr"/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미확정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en-US" altLang="ko-KR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A04D530-1779-D42D-EF06-DD62E6B25B28}"/>
              </a:ext>
            </a:extLst>
          </p:cNvPr>
          <p:cNvSpPr/>
          <p:nvPr/>
        </p:nvSpPr>
        <p:spPr>
          <a:xfrm>
            <a:off x="1975083" y="1889465"/>
            <a:ext cx="4527290" cy="2616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[</a:t>
            </a:r>
            <a:r>
              <a:rPr lang="ko-KR" altLang="en-US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비엔지니어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대상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] ‘26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월 이후 매월 차수 운영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총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5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9C0E109-7A18-EB1A-ACF2-D46E74A48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896318"/>
              </p:ext>
            </p:extLst>
          </p:nvPr>
        </p:nvGraphicFramePr>
        <p:xfrm>
          <a:off x="2091064" y="2134141"/>
          <a:ext cx="6847660" cy="703848"/>
        </p:xfrm>
        <a:graphic>
          <a:graphicData uri="http://schemas.openxmlformats.org/drawingml/2006/table">
            <a:tbl>
              <a:tblPr/>
              <a:tblGrid>
                <a:gridCol w="857407">
                  <a:extLst>
                    <a:ext uri="{9D8B030D-6E8A-4147-A177-3AD203B41FA5}">
                      <a16:colId xmlns:a16="http://schemas.microsoft.com/office/drawing/2014/main" val="3999231177"/>
                    </a:ext>
                  </a:extLst>
                </a:gridCol>
                <a:gridCol w="587828">
                  <a:extLst>
                    <a:ext uri="{9D8B030D-6E8A-4147-A177-3AD203B41FA5}">
                      <a16:colId xmlns:a16="http://schemas.microsoft.com/office/drawing/2014/main" val="93123808"/>
                    </a:ext>
                  </a:extLst>
                </a:gridCol>
                <a:gridCol w="569167">
                  <a:extLst>
                    <a:ext uri="{9D8B030D-6E8A-4147-A177-3AD203B41FA5}">
                      <a16:colId xmlns:a16="http://schemas.microsoft.com/office/drawing/2014/main" val="1893130277"/>
                    </a:ext>
                  </a:extLst>
                </a:gridCol>
                <a:gridCol w="569168">
                  <a:extLst>
                    <a:ext uri="{9D8B030D-6E8A-4147-A177-3AD203B41FA5}">
                      <a16:colId xmlns:a16="http://schemas.microsoft.com/office/drawing/2014/main" val="2906309986"/>
                    </a:ext>
                  </a:extLst>
                </a:gridCol>
                <a:gridCol w="569167">
                  <a:extLst>
                    <a:ext uri="{9D8B030D-6E8A-4147-A177-3AD203B41FA5}">
                      <a16:colId xmlns:a16="http://schemas.microsoft.com/office/drawing/2014/main" val="3774453251"/>
                    </a:ext>
                  </a:extLst>
                </a:gridCol>
                <a:gridCol w="503853">
                  <a:extLst>
                    <a:ext uri="{9D8B030D-6E8A-4147-A177-3AD203B41FA5}">
                      <a16:colId xmlns:a16="http://schemas.microsoft.com/office/drawing/2014/main" val="1006993079"/>
                    </a:ext>
                  </a:extLst>
                </a:gridCol>
                <a:gridCol w="550506">
                  <a:extLst>
                    <a:ext uri="{9D8B030D-6E8A-4147-A177-3AD203B41FA5}">
                      <a16:colId xmlns:a16="http://schemas.microsoft.com/office/drawing/2014/main" val="2608219517"/>
                    </a:ext>
                  </a:extLst>
                </a:gridCol>
                <a:gridCol w="531845">
                  <a:extLst>
                    <a:ext uri="{9D8B030D-6E8A-4147-A177-3AD203B41FA5}">
                      <a16:colId xmlns:a16="http://schemas.microsoft.com/office/drawing/2014/main" val="907633965"/>
                    </a:ext>
                  </a:extLst>
                </a:gridCol>
                <a:gridCol w="494523">
                  <a:extLst>
                    <a:ext uri="{9D8B030D-6E8A-4147-A177-3AD203B41FA5}">
                      <a16:colId xmlns:a16="http://schemas.microsoft.com/office/drawing/2014/main" val="1126263205"/>
                    </a:ext>
                  </a:extLst>
                </a:gridCol>
                <a:gridCol w="541175">
                  <a:extLst>
                    <a:ext uri="{9D8B030D-6E8A-4147-A177-3AD203B41FA5}">
                      <a16:colId xmlns:a16="http://schemas.microsoft.com/office/drawing/2014/main" val="1059542079"/>
                    </a:ext>
                  </a:extLst>
                </a:gridCol>
                <a:gridCol w="512964">
                  <a:extLst>
                    <a:ext uri="{9D8B030D-6E8A-4147-A177-3AD203B41FA5}">
                      <a16:colId xmlns:a16="http://schemas.microsoft.com/office/drawing/2014/main" val="18217055"/>
                    </a:ext>
                  </a:extLst>
                </a:gridCol>
                <a:gridCol w="560057">
                  <a:extLst>
                    <a:ext uri="{9D8B030D-6E8A-4147-A177-3AD203B41FA5}">
                      <a16:colId xmlns:a16="http://schemas.microsoft.com/office/drawing/2014/main" val="271249923"/>
                    </a:ext>
                  </a:extLst>
                </a:gridCol>
              </a:tblGrid>
              <a:tr h="234616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지역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269450"/>
                  </a:ext>
                </a:extLst>
              </a:tr>
              <a:tr h="234616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3/3~6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5/19~22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7/28~31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10/20~23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12/15~18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13728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조직 별 운영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미정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미정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미정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  <a:cs typeface="+mn-cs"/>
                        </a:rPr>
                        <a:t>미정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28373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B29FCEE2-79BE-F485-0640-84F757A3D58C}"/>
              </a:ext>
            </a:extLst>
          </p:cNvPr>
          <p:cNvSpPr txBox="1"/>
          <p:nvPr/>
        </p:nvSpPr>
        <p:spPr>
          <a:xfrm>
            <a:off x="2054027" y="2864626"/>
            <a:ext cx="5695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자주색 글자 </a:t>
            </a:r>
            <a:r>
              <a:rPr lang="en-US" altLang="ko-KR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조직 별 인원 선정하여 운영하는 차수임</a:t>
            </a:r>
            <a:r>
              <a:rPr lang="en-US" altLang="ko-KR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_</a:t>
            </a:r>
            <a:r>
              <a:rPr lang="ko-KR" altLang="en-US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현재 협의중으로 조직 미정 </a:t>
            </a:r>
            <a:r>
              <a:rPr lang="en-US" altLang="ko-KR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개인신청 불가</a:t>
            </a:r>
            <a:r>
              <a:rPr lang="en-US" altLang="ko-KR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ko-KR" altLang="en-US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</a:t>
            </a:r>
            <a:r>
              <a:rPr lang="en-US" altLang="ko-KR" sz="1000" spc="-15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 </a:t>
            </a:r>
            <a:r>
              <a:rPr lang="ko-KR" altLang="en-US" sz="10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검정색 글자</a:t>
            </a:r>
            <a:r>
              <a:rPr lang="en-US" altLang="ko-KR" sz="10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000" spc="-150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 개인 신청 가능 차수임</a:t>
            </a:r>
            <a:endParaRPr lang="en-US" altLang="ko-KR" sz="1000" spc="-150" dirty="0">
              <a:solidFill>
                <a:srgbClr val="C00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" name="AutoShape 112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B1212E1-0684-7635-F350-C13357F6113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9321923" y="6482979"/>
            <a:ext cx="276225" cy="119062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69EAE-1BB9-1841-1FB8-F6815C05512F}"/>
              </a:ext>
            </a:extLst>
          </p:cNvPr>
          <p:cNvSpPr txBox="1"/>
          <p:nvPr/>
        </p:nvSpPr>
        <p:spPr>
          <a:xfrm>
            <a:off x="7598390" y="6129208"/>
            <a:ext cx="1665841" cy="528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(AI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“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엔지니어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endParaRPr lang="en-US" altLang="ko-KR" sz="1000" spc="-150" dirty="0">
              <a:solidFill>
                <a:srgbClr val="008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Level 2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(AI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활용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“</a:t>
            </a:r>
            <a:r>
              <a:rPr lang="ko-KR" altLang="en-US" sz="1000" spc="-15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비엔지니어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☞</a:t>
            </a:r>
            <a:endParaRPr lang="en-US" altLang="ko-KR" sz="1000" spc="-15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21633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5"/>
          <p:cNvSpPr txBox="1">
            <a:spLocks/>
          </p:cNvSpPr>
          <p:nvPr/>
        </p:nvSpPr>
        <p:spPr bwMode="auto">
          <a:xfrm>
            <a:off x="52734" y="116880"/>
            <a:ext cx="7348538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6. AX Level 3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(2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개 과정</a:t>
            </a:r>
            <a:r>
              <a:rPr lang="en-US" altLang="ko-KR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2000" b="1" dirty="0"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차수일정</a:t>
            </a:r>
          </a:p>
        </p:txBody>
      </p:sp>
      <p:sp>
        <p:nvSpPr>
          <p:cNvPr id="8" name="AutoShape 112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9309484" y="6470539"/>
            <a:ext cx="276225" cy="119062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A89EA-9D9E-89DA-55FF-52978416F8F2}"/>
              </a:ext>
            </a:extLst>
          </p:cNvPr>
          <p:cNvSpPr txBox="1"/>
          <p:nvPr/>
        </p:nvSpPr>
        <p:spPr>
          <a:xfrm>
            <a:off x="4618244" y="138689"/>
            <a:ext cx="2082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수강신청 인원 부족 시</a:t>
            </a:r>
            <a:r>
              <a:rPr lang="en-US" altLang="ko-KR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000" spc="-15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 폐강될 수도 있음</a:t>
            </a:r>
            <a:endParaRPr lang="en-US" altLang="ko-KR" sz="1000" spc="-150" dirty="0">
              <a:solidFill>
                <a:srgbClr val="0066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EB57D6-8C3D-C8CA-03ED-4FA2CCCFBC3F}"/>
              </a:ext>
            </a:extLst>
          </p:cNvPr>
          <p:cNvSpPr txBox="1"/>
          <p:nvPr/>
        </p:nvSpPr>
        <p:spPr>
          <a:xfrm>
            <a:off x="7315203" y="82703"/>
            <a:ext cx="12450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altLang="ko-KR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“</a:t>
            </a:r>
            <a:r>
              <a:rPr lang="ko-KR" altLang="en-US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일정 </a:t>
            </a:r>
            <a:r>
              <a:rPr lang="ko-KR" altLang="en-US" sz="1100" b="0" i="0" u="none" strike="noStrike" dirty="0" err="1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검토중</a:t>
            </a:r>
            <a:endParaRPr lang="en-US" altLang="ko-KR" sz="1100" b="0" i="0" u="none" strike="noStrike" dirty="0">
              <a:solidFill>
                <a:srgbClr val="FF0000"/>
              </a:solidFill>
              <a:effectLst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pPr algn="ctr" fontAlgn="ctr"/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미확정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  <a:r>
              <a:rPr lang="en-US" altLang="ko-KR" sz="1100" b="0" i="0" u="none" strike="noStrike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LG스마트체2.0 Regular" panose="020B0600000101010101" pitchFamily="50" charset="-127"/>
              </a:rPr>
              <a:t>”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C70C83-24B3-B4E3-AFBD-34A5B54BDC32}"/>
              </a:ext>
            </a:extLst>
          </p:cNvPr>
          <p:cNvGrpSpPr/>
          <p:nvPr/>
        </p:nvGrpSpPr>
        <p:grpSpPr>
          <a:xfrm>
            <a:off x="1061369" y="1008747"/>
            <a:ext cx="955892" cy="276999"/>
            <a:chOff x="471647" y="2554930"/>
            <a:chExt cx="955892" cy="27699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6829855-DC56-D1BC-3FA1-52933FD35A15}"/>
                </a:ext>
              </a:extLst>
            </p:cNvPr>
            <p:cNvGrpSpPr/>
            <p:nvPr/>
          </p:nvGrpSpPr>
          <p:grpSpPr>
            <a:xfrm>
              <a:off x="471647" y="2581062"/>
              <a:ext cx="955892" cy="228135"/>
              <a:chOff x="522323" y="1624404"/>
              <a:chExt cx="1206465" cy="228135"/>
            </a:xfrm>
          </p:grpSpPr>
          <p:sp>
            <p:nvSpPr>
              <p:cNvPr id="9" name="양쪽 모서리가 둥근 사각형 83">
                <a:extLst>
                  <a:ext uri="{FF2B5EF4-FFF2-40B4-BE49-F238E27FC236}">
                    <a16:creationId xmlns:a16="http://schemas.microsoft.com/office/drawing/2014/main" id="{F54F4441-FE5A-87AE-E99B-680C0E7E43BA}"/>
                  </a:ext>
                </a:extLst>
              </p:cNvPr>
              <p:cNvSpPr/>
              <p:nvPr/>
            </p:nvSpPr>
            <p:spPr>
              <a:xfrm>
                <a:off x="522323" y="1624404"/>
                <a:ext cx="1032976" cy="22813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C300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 Narrow" panose="020B0606020202030204" pitchFamily="34" charset="0"/>
                  <a:ea typeface="LG스마트체2.0 Regular" panose="020B0600000101010101" pitchFamily="50" charset="-127"/>
                </a:endParaRPr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A996A72C-DBDD-FC86-7AFD-7340F72B6E09}"/>
                  </a:ext>
                </a:extLst>
              </p:cNvPr>
              <p:cNvCxnSpPr/>
              <p:nvPr/>
            </p:nvCxnSpPr>
            <p:spPr>
              <a:xfrm>
                <a:off x="1409759" y="1843013"/>
                <a:ext cx="319029" cy="0"/>
              </a:xfrm>
              <a:prstGeom prst="line">
                <a:avLst/>
              </a:prstGeom>
              <a:ln w="12700">
                <a:solidFill>
                  <a:srgbClr val="C300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368677-1831-1472-4E62-0F62ABC3AB1D}"/>
                </a:ext>
              </a:extLst>
            </p:cNvPr>
            <p:cNvSpPr txBox="1"/>
            <p:nvPr/>
          </p:nvSpPr>
          <p:spPr>
            <a:xfrm>
              <a:off x="533781" y="2554930"/>
              <a:ext cx="7681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교육일정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8B0177-34C5-F212-4941-940CE33AA456}"/>
              </a:ext>
            </a:extLst>
          </p:cNvPr>
          <p:cNvSpPr/>
          <p:nvPr/>
        </p:nvSpPr>
        <p:spPr>
          <a:xfrm>
            <a:off x="2068384" y="3068299"/>
            <a:ext cx="7010295" cy="3000821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1. AX </a:t>
            </a:r>
            <a:r>
              <a:rPr lang="ko-KR" altLang="en-US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인증제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관련 사항은 아래 게시판을 참고하시기 바랍니다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05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: ‘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Let's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포털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 &gt; Board &gt; AX Board &gt; AX 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교육정보</a:t>
            </a:r>
            <a:r>
              <a:rPr lang="en-US" altLang="ko-KR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</a:t>
            </a:r>
            <a:r>
              <a:rPr lang="ko-KR" altLang="en-US" sz="105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 Narrow" panose="020B0606020202030204" pitchFamily="34" charset="0"/>
                <a:ea typeface="LG스마트체2.0 Regular" panose="020B0600000101010101" pitchFamily="50" charset="-127"/>
              </a:rPr>
              <a:t> 게시판에서 상시 확인 가능</a:t>
            </a:r>
            <a:b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endParaRPr lang="en-US" altLang="ko-KR" sz="1100" b="1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2. AX Level 3 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 기준</a:t>
            </a:r>
            <a:b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1) AX Level 3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심화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 </a:t>
            </a:r>
            <a:r>
              <a:rPr lang="en-US" altLang="ko-KR" sz="110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110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집합 </a:t>
            </a:r>
            <a:r>
              <a:rPr lang="en-US" altLang="ko-KR" sz="110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8</a:t>
            </a:r>
            <a:r>
              <a:rPr lang="ko-KR" altLang="en-US" sz="110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8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- ‘AI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역량교육등급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고급 이상자는 수강 불필요 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이수요건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1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참석율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 +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학습평가 평균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60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이상 </a:t>
            </a:r>
            <a:b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2) AX Level 3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문제해결 심화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 </a:t>
            </a:r>
            <a:r>
              <a:rPr lang="en-US" altLang="ko-KR" sz="110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* </a:t>
            </a:r>
            <a:r>
              <a:rPr lang="ko-KR" altLang="en-US" sz="110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집합 </a:t>
            </a:r>
            <a:r>
              <a:rPr lang="en-US" altLang="ko-KR" sz="110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r>
              <a:rPr lang="ko-KR" altLang="en-US" sz="1100" dirty="0">
                <a:solidFill>
                  <a:srgbClr val="008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8000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 - 6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시그마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MBB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이상 인증 보유자는 수강 불필요</a:t>
            </a:r>
            <a:b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이수요건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: </a:t>
            </a:r>
            <a:r>
              <a:rPr lang="ko-KR" altLang="en-US" sz="11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참석율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100% +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학습평가 평균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60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점 이상</a:t>
            </a:r>
            <a:b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3)  AX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 수행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2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건 심사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통과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- 6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시그마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MBB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이상 인증 보유자는 과제 수행 없이 인증</a:t>
            </a:r>
          </a:p>
          <a:p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- 1),2)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이수 후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과제등록 심의 및 결과 평가 진행함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 (2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건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 </a:t>
            </a:r>
            <a:b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b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</a:b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   ※ 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센터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그룹 단위 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AX Lv.2 </a:t>
            </a:r>
            <a:r>
              <a:rPr lang="ko-KR" altLang="en-US" sz="1100" dirty="0" err="1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인증자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중 대상자 선정 및 사전 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Test 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통과자에 한해 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‘AI 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심화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문제해결 심화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’</a:t>
            </a:r>
            <a:r>
              <a:rPr lang="ko-KR" altLang="en-US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 과정 참가함</a:t>
            </a:r>
            <a:r>
              <a:rPr lang="en-US" altLang="ko-KR" sz="1100" dirty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BEA4763-F551-F1F7-2BD9-EB60AA5A39E6}"/>
              </a:ext>
            </a:extLst>
          </p:cNvPr>
          <p:cNvGrpSpPr/>
          <p:nvPr/>
        </p:nvGrpSpPr>
        <p:grpSpPr>
          <a:xfrm>
            <a:off x="1061369" y="3060501"/>
            <a:ext cx="955892" cy="276999"/>
            <a:chOff x="471647" y="3681386"/>
            <a:chExt cx="955892" cy="27699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E51A229-9E2E-0937-CFEE-745E9B144471}"/>
                </a:ext>
              </a:extLst>
            </p:cNvPr>
            <p:cNvGrpSpPr/>
            <p:nvPr/>
          </p:nvGrpSpPr>
          <p:grpSpPr>
            <a:xfrm>
              <a:off x="471647" y="3695700"/>
              <a:ext cx="955892" cy="228135"/>
              <a:chOff x="522323" y="1624404"/>
              <a:chExt cx="1206465" cy="228135"/>
            </a:xfrm>
          </p:grpSpPr>
          <p:sp>
            <p:nvSpPr>
              <p:cNvPr id="17" name="양쪽 모서리가 둥근 사각형 80">
                <a:extLst>
                  <a:ext uri="{FF2B5EF4-FFF2-40B4-BE49-F238E27FC236}">
                    <a16:creationId xmlns:a16="http://schemas.microsoft.com/office/drawing/2014/main" id="{53C9CD3D-C839-2EDD-0A90-4BAAFDE6682F}"/>
                  </a:ext>
                </a:extLst>
              </p:cNvPr>
              <p:cNvSpPr/>
              <p:nvPr/>
            </p:nvSpPr>
            <p:spPr>
              <a:xfrm>
                <a:off x="522323" y="1624404"/>
                <a:ext cx="1032976" cy="22813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C300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 Narrow" panose="020B0606020202030204" pitchFamily="34" charset="0"/>
                  <a:ea typeface="LG스마트체2.0 Regular" panose="020B0600000101010101" pitchFamily="50" charset="-127"/>
                </a:endParaRPr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D87DC7C1-D992-D6BB-9C57-6C06369426F4}"/>
                  </a:ext>
                </a:extLst>
              </p:cNvPr>
              <p:cNvCxnSpPr/>
              <p:nvPr/>
            </p:nvCxnSpPr>
            <p:spPr>
              <a:xfrm>
                <a:off x="1409759" y="1843013"/>
                <a:ext cx="319029" cy="0"/>
              </a:xfrm>
              <a:prstGeom prst="line">
                <a:avLst/>
              </a:prstGeom>
              <a:ln w="12700">
                <a:solidFill>
                  <a:srgbClr val="C300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5668EB-38CC-CE8D-77D2-A1A2226134A0}"/>
                </a:ext>
              </a:extLst>
            </p:cNvPr>
            <p:cNvSpPr txBox="1"/>
            <p:nvPr/>
          </p:nvSpPr>
          <p:spPr>
            <a:xfrm>
              <a:off x="504970" y="3681386"/>
              <a:ext cx="7681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안내사항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DC3988-54CC-B3BF-439C-D4A5A8EC7EF3}"/>
              </a:ext>
            </a:extLst>
          </p:cNvPr>
          <p:cNvSpPr/>
          <p:nvPr/>
        </p:nvSpPr>
        <p:spPr>
          <a:xfrm>
            <a:off x="2049725" y="900424"/>
            <a:ext cx="4527290" cy="2616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[AI 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심화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] ‘26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월 이후 매월 차수 운영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총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BA107E52-09B5-15EA-6A67-EDC78DCCF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718550"/>
              </p:ext>
            </p:extLst>
          </p:nvPr>
        </p:nvGraphicFramePr>
        <p:xfrm>
          <a:off x="2175324" y="1195002"/>
          <a:ext cx="6838042" cy="457124"/>
        </p:xfrm>
        <a:graphic>
          <a:graphicData uri="http://schemas.openxmlformats.org/drawingml/2006/table">
            <a:tbl>
              <a:tblPr/>
              <a:tblGrid>
                <a:gridCol w="857119">
                  <a:extLst>
                    <a:ext uri="{9D8B030D-6E8A-4147-A177-3AD203B41FA5}">
                      <a16:colId xmlns:a16="http://schemas.microsoft.com/office/drawing/2014/main" val="3999231177"/>
                    </a:ext>
                  </a:extLst>
                </a:gridCol>
                <a:gridCol w="578498">
                  <a:extLst>
                    <a:ext uri="{9D8B030D-6E8A-4147-A177-3AD203B41FA5}">
                      <a16:colId xmlns:a16="http://schemas.microsoft.com/office/drawing/2014/main" val="1893130277"/>
                    </a:ext>
                  </a:extLst>
                </a:gridCol>
                <a:gridCol w="559837">
                  <a:extLst>
                    <a:ext uri="{9D8B030D-6E8A-4147-A177-3AD203B41FA5}">
                      <a16:colId xmlns:a16="http://schemas.microsoft.com/office/drawing/2014/main" val="2906309986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3774453251"/>
                    </a:ext>
                  </a:extLst>
                </a:gridCol>
                <a:gridCol w="618226">
                  <a:extLst>
                    <a:ext uri="{9D8B030D-6E8A-4147-A177-3AD203B41FA5}">
                      <a16:colId xmlns:a16="http://schemas.microsoft.com/office/drawing/2014/main" val="1006993079"/>
                    </a:ext>
                  </a:extLst>
                </a:gridCol>
                <a:gridCol w="535874">
                  <a:extLst>
                    <a:ext uri="{9D8B030D-6E8A-4147-A177-3AD203B41FA5}">
                      <a16:colId xmlns:a16="http://schemas.microsoft.com/office/drawing/2014/main" val="2608219517"/>
                    </a:ext>
                  </a:extLst>
                </a:gridCol>
                <a:gridCol w="516368">
                  <a:extLst>
                    <a:ext uri="{9D8B030D-6E8A-4147-A177-3AD203B41FA5}">
                      <a16:colId xmlns:a16="http://schemas.microsoft.com/office/drawing/2014/main" val="2561049668"/>
                    </a:ext>
                  </a:extLst>
                </a:gridCol>
                <a:gridCol w="541176">
                  <a:extLst>
                    <a:ext uri="{9D8B030D-6E8A-4147-A177-3AD203B41FA5}">
                      <a16:colId xmlns:a16="http://schemas.microsoft.com/office/drawing/2014/main" val="3854298251"/>
                    </a:ext>
                  </a:extLst>
                </a:gridCol>
                <a:gridCol w="475572">
                  <a:extLst>
                    <a:ext uri="{9D8B030D-6E8A-4147-A177-3AD203B41FA5}">
                      <a16:colId xmlns:a16="http://schemas.microsoft.com/office/drawing/2014/main" val="907633965"/>
                    </a:ext>
                  </a:extLst>
                </a:gridCol>
                <a:gridCol w="597160">
                  <a:extLst>
                    <a:ext uri="{9D8B030D-6E8A-4147-A177-3AD203B41FA5}">
                      <a16:colId xmlns:a16="http://schemas.microsoft.com/office/drawing/2014/main" val="1126263205"/>
                    </a:ext>
                  </a:extLst>
                </a:gridCol>
                <a:gridCol w="475861">
                  <a:extLst>
                    <a:ext uri="{9D8B030D-6E8A-4147-A177-3AD203B41FA5}">
                      <a16:colId xmlns:a16="http://schemas.microsoft.com/office/drawing/2014/main" val="3594540785"/>
                    </a:ext>
                  </a:extLst>
                </a:gridCol>
                <a:gridCol w="559837">
                  <a:extLst>
                    <a:ext uri="{9D8B030D-6E8A-4147-A177-3AD203B41FA5}">
                      <a16:colId xmlns:a16="http://schemas.microsoft.com/office/drawing/2014/main" val="271249923"/>
                    </a:ext>
                  </a:extLst>
                </a:gridCol>
              </a:tblGrid>
              <a:tr h="221636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지역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269450"/>
                  </a:ext>
                </a:extLst>
              </a:tr>
              <a:tr h="235488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3/23~4/1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6/29~7/8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10/26~11/4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13728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CCB304-CD7C-0D5D-8C98-3DA1ECF84FB2}"/>
              </a:ext>
            </a:extLst>
          </p:cNvPr>
          <p:cNvSpPr/>
          <p:nvPr/>
        </p:nvSpPr>
        <p:spPr>
          <a:xfrm>
            <a:off x="2049725" y="1880133"/>
            <a:ext cx="4527290" cy="2616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문제해결 심화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] ‘26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년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4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월 이후 매월 차수 운영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총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3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차수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)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62DDFC1D-0A1E-2245-77CF-17F19A7F6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49721"/>
              </p:ext>
            </p:extLst>
          </p:nvPr>
        </p:nvGraphicFramePr>
        <p:xfrm>
          <a:off x="2165706" y="2152798"/>
          <a:ext cx="6847660" cy="469232"/>
        </p:xfrm>
        <a:graphic>
          <a:graphicData uri="http://schemas.openxmlformats.org/drawingml/2006/table">
            <a:tbl>
              <a:tblPr/>
              <a:tblGrid>
                <a:gridCol w="829415">
                  <a:extLst>
                    <a:ext uri="{9D8B030D-6E8A-4147-A177-3AD203B41FA5}">
                      <a16:colId xmlns:a16="http://schemas.microsoft.com/office/drawing/2014/main" val="3999231177"/>
                    </a:ext>
                  </a:extLst>
                </a:gridCol>
                <a:gridCol w="615820">
                  <a:extLst>
                    <a:ext uri="{9D8B030D-6E8A-4147-A177-3AD203B41FA5}">
                      <a16:colId xmlns:a16="http://schemas.microsoft.com/office/drawing/2014/main" val="93123808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1893130277"/>
                    </a:ext>
                  </a:extLst>
                </a:gridCol>
                <a:gridCol w="559837">
                  <a:extLst>
                    <a:ext uri="{9D8B030D-6E8A-4147-A177-3AD203B41FA5}">
                      <a16:colId xmlns:a16="http://schemas.microsoft.com/office/drawing/2014/main" val="2906309986"/>
                    </a:ext>
                  </a:extLst>
                </a:gridCol>
                <a:gridCol w="625151">
                  <a:extLst>
                    <a:ext uri="{9D8B030D-6E8A-4147-A177-3AD203B41FA5}">
                      <a16:colId xmlns:a16="http://schemas.microsoft.com/office/drawing/2014/main" val="3774453251"/>
                    </a:ext>
                  </a:extLst>
                </a:gridCol>
                <a:gridCol w="531845">
                  <a:extLst>
                    <a:ext uri="{9D8B030D-6E8A-4147-A177-3AD203B41FA5}">
                      <a16:colId xmlns:a16="http://schemas.microsoft.com/office/drawing/2014/main" val="1006993079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608219517"/>
                    </a:ext>
                  </a:extLst>
                </a:gridCol>
                <a:gridCol w="531845">
                  <a:extLst>
                    <a:ext uri="{9D8B030D-6E8A-4147-A177-3AD203B41FA5}">
                      <a16:colId xmlns:a16="http://schemas.microsoft.com/office/drawing/2014/main" val="907633965"/>
                    </a:ext>
                  </a:extLst>
                </a:gridCol>
                <a:gridCol w="494523">
                  <a:extLst>
                    <a:ext uri="{9D8B030D-6E8A-4147-A177-3AD203B41FA5}">
                      <a16:colId xmlns:a16="http://schemas.microsoft.com/office/drawing/2014/main" val="1126263205"/>
                    </a:ext>
                  </a:extLst>
                </a:gridCol>
                <a:gridCol w="541175">
                  <a:extLst>
                    <a:ext uri="{9D8B030D-6E8A-4147-A177-3AD203B41FA5}">
                      <a16:colId xmlns:a16="http://schemas.microsoft.com/office/drawing/2014/main" val="1059542079"/>
                    </a:ext>
                  </a:extLst>
                </a:gridCol>
                <a:gridCol w="512964">
                  <a:extLst>
                    <a:ext uri="{9D8B030D-6E8A-4147-A177-3AD203B41FA5}">
                      <a16:colId xmlns:a16="http://schemas.microsoft.com/office/drawing/2014/main" val="18217055"/>
                    </a:ext>
                  </a:extLst>
                </a:gridCol>
                <a:gridCol w="560057">
                  <a:extLst>
                    <a:ext uri="{9D8B030D-6E8A-4147-A177-3AD203B41FA5}">
                      <a16:colId xmlns:a16="http://schemas.microsoft.com/office/drawing/2014/main" val="271249923"/>
                    </a:ext>
                  </a:extLst>
                </a:gridCol>
              </a:tblGrid>
              <a:tr h="234616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지역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9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269450"/>
                  </a:ext>
                </a:extLst>
              </a:tr>
              <a:tr h="234616">
                <a:tc>
                  <a:txBody>
                    <a:bodyPr/>
                    <a:lstStyle>
                      <a:lvl1pPr marL="0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78961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5792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36882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15843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394806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73767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5272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31688" algn="l" defTabSz="957923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파주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4/2~4/3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7/9~10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11/5~6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6144" marR="6144" marT="6144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13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031715"/>
      </p:ext>
    </p:extLst>
  </p:cSld>
  <p:clrMapOvr>
    <a:masterClrMapping/>
  </p:clrMapOvr>
</p:sld>
</file>

<file path=ppt/theme/theme1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42041</TotalTime>
  <Words>17264</Words>
  <Application>Microsoft Office PowerPoint</Application>
  <PresentationFormat>A4 용지(210x297mm)</PresentationFormat>
  <Paragraphs>3194</Paragraphs>
  <Slides>71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80" baseType="lpstr">
      <vt:lpstr>ArialNarrow</vt:lpstr>
      <vt:lpstr>LGSmHaR</vt:lpstr>
      <vt:lpstr>LG스마트체2.0 Regular</vt:lpstr>
      <vt:lpstr>LG스마트체2.0 SemiBold</vt:lpstr>
      <vt:lpstr>맑은 고딕</vt:lpstr>
      <vt:lpstr>Arial</vt:lpstr>
      <vt:lpstr>Arial Narrow</vt:lpstr>
      <vt:lpstr>Wingdings</vt:lpstr>
      <vt:lpstr>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[참고] AX 전문인력 육성 활동 Flow(안)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LGD</dc:creator>
  <cp:lastModifiedBy>안상율/전문역량개발팀/SYAHN02</cp:lastModifiedBy>
  <cp:revision>1202</cp:revision>
  <cp:lastPrinted>2025-12-30T01:24:13Z</cp:lastPrinted>
  <dcterms:created xsi:type="dcterms:W3CDTF">2021-11-16T01:17:58Z</dcterms:created>
  <dcterms:modified xsi:type="dcterms:W3CDTF">2026-04-09T02:56:24Z</dcterms:modified>
</cp:coreProperties>
</file>